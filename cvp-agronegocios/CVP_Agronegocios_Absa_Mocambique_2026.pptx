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Documento comercial interno. Actualiza o CVP anterior com dados de 2025/26 e nomeia as 34 contrapartes concretas do sector agrícola moçambicano.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banco mais exposto ao sector declara 12% da carteira; um caso excepcional chega a 25%. A média de 2–6% é o ponto de partida da conversa.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Xinavane previa moer 1.434.389 t de cana na campanha 2024/25; Mafambisse processou 346.643 t. A Maragra produzia ~80.000 t a partir de mais de 460.000 t de cana antes da paragem.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capacidade instalada de descaroçamento no país é de 250.000 t/ano, muito acima das ~50.000 t produzidas — há folga industrial e, portanto, apetite por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primeiros nove meses de 2025 o país produziu 99,2 mil t de frango e 23,2 milhões de dúzias de ovos. A ração é o custo dominante e é largamente importada — daí o peso do crédito documentário e do câmbio nesta fileira.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falência da Matanuska em 2018, com 1.550 ha perdidos para o Fusarium, é o caso a citar quando o cliente resiste ao custo do seguro e da monitoria fitossanitária.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Wanbao o rendimento subiu de 1–2 t/ha para 5–7 t/ha. As 353 famílias integradas por contrato são o modelo replicável de crédito Tier 3 ancorado numa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fase da Portucel prevê até US$260M, 40.000 ha e uma fábrica de estilha para um milhão de toneladas por 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3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1A1010">
              <a:alpha val="58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1572768" cy="457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210312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CVP AGRONEGÓCIOS · MOÇAMBIQUE 2026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2468880"/>
            <a:ext cx="60350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Financiar a época,</a:t>
            </a:r>
            <a:endParaRPr lang="en-US" sz="44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não o produto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4169664"/>
            <a:ext cx="57607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EDE7E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Financiamento, pagamentos, protecção e acesso ao mercado à medida do calendário agrícola — e das 34 empresas que movem o sector em Moçambique.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66928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C4BCB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Bank Moçambique  ·  Banca de Negócios e Banca Corporativa e de Investimento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786384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PROPOSTA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097280"/>
            <a:ext cx="56692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compromissos que</a:t>
            </a:r>
            <a:endParaRPr lang="en-US" sz="32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nos distinguem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85800" y="2633472"/>
            <a:ext cx="384048" cy="384048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52728" y="261518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Estruturamos à volta da sua época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52728" y="29626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facilidade segue a produção prevista, os recebíveis e os contratos de compra — e não o contrário.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3730752"/>
            <a:ext cx="384048" cy="384048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3730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52728" y="37124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Trazemos preço e risco partilhados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52728" y="40599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FINOVA a até 10% ao ano e a garantia DFC permitem-nos dizer sim onde antes dizíamos talvez.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5800" y="4828032"/>
            <a:ext cx="384048" cy="384048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482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52728" y="480974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Bancarizamos a cadeia, não só a conta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51572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Dos seus fornecedores aos seus compradores: pagamentos, cobranças e crédito ao longo da fileira.</a:t>
            </a:r>
            <a:endParaRPr lang="en-US" sz="1200" dirty="0"/>
          </a:p>
        </p:txBody>
      </p:sp>
      <p:pic>
        <p:nvPicPr>
          <p:cNvPr id="17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TESE COMERCIAL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desalinhamento que define a oportunidade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Não falta procura ao sector. Falta estruturação — e é aí que este CVP actua.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1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31136"/>
            <a:ext cx="2499284" cy="1792224"/>
          </a:xfrm>
          <a:prstGeom prst="roundRect">
            <a:avLst>
              <a:gd name="adj" fmla="val 357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923544" y="2432304"/>
            <a:ext cx="20237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23%</a:t>
            </a:r>
            <a:endParaRPr lang="en-US" sz="3800" dirty="0"/>
          </a:p>
        </p:txBody>
      </p:sp>
      <p:sp>
        <p:nvSpPr>
          <p:cNvPr id="10" name="Text 6"/>
          <p:cNvSpPr txBox="1"/>
          <p:nvPr/>
        </p:nvSpPr>
        <p:spPr>
          <a:xfrm>
            <a:off x="923544" y="3072384"/>
            <a:ext cx="20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PIB nacional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3383280"/>
            <a:ext cx="20237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agricultura ocupa 75,4% da força de trabalho.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3459404" y="2231136"/>
            <a:ext cx="2499284" cy="1792224"/>
          </a:xfrm>
          <a:prstGeom prst="roundRect">
            <a:avLst>
              <a:gd name="adj" fmla="val 357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697148" y="2432304"/>
            <a:ext cx="20237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~70%</a:t>
            </a:r>
            <a:endParaRPr lang="en-US" sz="3800" dirty="0"/>
          </a:p>
        </p:txBody>
      </p:sp>
      <p:sp>
        <p:nvSpPr>
          <p:cNvPr id="14" name="Text 10"/>
          <p:cNvSpPr txBox="1"/>
          <p:nvPr/>
        </p:nvSpPr>
        <p:spPr>
          <a:xfrm>
            <a:off x="3697148" y="3072384"/>
            <a:ext cx="20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da população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697148" y="3383280"/>
            <a:ext cx="20237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Depende do sector para o seu sustento.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233008" y="2231136"/>
            <a:ext cx="2499284" cy="1792224"/>
          </a:xfrm>
          <a:prstGeom prst="roundRect">
            <a:avLst>
              <a:gd name="adj" fmla="val 357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470752" y="2432304"/>
            <a:ext cx="20237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2–6%</a:t>
            </a:r>
            <a:endParaRPr lang="en-US" sz="3800" dirty="0"/>
          </a:p>
        </p:txBody>
      </p:sp>
      <p:sp>
        <p:nvSpPr>
          <p:cNvPr id="18" name="Text 14"/>
          <p:cNvSpPr txBox="1"/>
          <p:nvPr/>
        </p:nvSpPr>
        <p:spPr>
          <a:xfrm>
            <a:off x="6470752" y="3072384"/>
            <a:ext cx="20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crédito bancário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6470752" y="3383280"/>
            <a:ext cx="20237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Quanto a maioria dos bancos aloca à agricultura.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9006611" y="2231136"/>
            <a:ext cx="2499284" cy="1792224"/>
          </a:xfrm>
          <a:prstGeom prst="roundRect">
            <a:avLst>
              <a:gd name="adj" fmla="val 357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9244355" y="2432304"/>
            <a:ext cx="20237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4,5M</a:t>
            </a:r>
            <a:endParaRPr lang="en-US" sz="3800" dirty="0"/>
          </a:p>
        </p:txBody>
      </p:sp>
      <p:sp>
        <p:nvSpPr>
          <p:cNvPr id="22" name="Text 18"/>
          <p:cNvSpPr txBox="1"/>
          <p:nvPr/>
        </p:nvSpPr>
        <p:spPr>
          <a:xfrm>
            <a:off x="9244355" y="3072384"/>
            <a:ext cx="2023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explorações agrícolas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9244355" y="3383280"/>
            <a:ext cx="20237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 familiar ao comercial (IAI 2023).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85800" y="4315968"/>
            <a:ext cx="10820095" cy="1005840"/>
          </a:xfrm>
          <a:prstGeom prst="roundRect">
            <a:avLst>
              <a:gd name="adj" fmla="val 545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14984" y="4315968"/>
            <a:ext cx="1016172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23% da economia. 2–6% do crédito.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Fechar esta distância — com estrutura, não com apetite cego — é o objectivo deste CVP.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UNU-WIDER/IGM 2025 · Observatório do Meio Rural, Crédito Interno ao Sector Agrário · Banco de Moçambique · INE/IAI 2023.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INQUÉRITO AGRÁRIO INTEGRADO 2023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estrutura real do sector agrário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segmentos, três propostas de valor — e um só relacionamento bancário.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4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194560"/>
            <a:ext cx="3350666" cy="2615184"/>
          </a:xfrm>
          <a:prstGeom prst="roundRect">
            <a:avLst>
              <a:gd name="adj" fmla="val 2448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41832" y="2395728"/>
            <a:ext cx="877824" cy="274320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41832" y="2395728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3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941832" y="2779776"/>
            <a:ext cx="28386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4.383.460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364992"/>
            <a:ext cx="28386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explorações pequenas · 98,3%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3675888"/>
            <a:ext cx="28386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Alcançadas pelas cadeias das empresas âncora e pela rede de agro-dealers.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941832" y="4279392"/>
            <a:ext cx="28386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Conta · pagamentos digitais · microcrédito de insumos sob contrato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420514" y="2194560"/>
            <a:ext cx="3350666" cy="2615184"/>
          </a:xfrm>
          <a:prstGeom prst="roundRect">
            <a:avLst>
              <a:gd name="adj" fmla="val 2448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676546" y="2395728"/>
            <a:ext cx="877824" cy="274320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76546" y="2395728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4676546" y="2779776"/>
            <a:ext cx="28386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74.706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4676546" y="3364992"/>
            <a:ext cx="28386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explorações médias · 1,6%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4676546" y="3675888"/>
            <a:ext cx="28386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fronteira de crescimento da Banca de Negócios.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676546" y="4279392"/>
            <a:ext cx="28386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 · financiamento de activos · cobranças · seguro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155229" y="2194560"/>
            <a:ext cx="3350666" cy="2615184"/>
          </a:xfrm>
          <a:prstGeom prst="roundRect">
            <a:avLst>
              <a:gd name="adj" fmla="val 2448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11261" y="2395728"/>
            <a:ext cx="877824" cy="274320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411261" y="2395728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1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8411261" y="2779776"/>
            <a:ext cx="28386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1.131</a:t>
            </a:r>
            <a:endParaRPr lang="en-US" sz="3200" dirty="0"/>
          </a:p>
        </p:txBody>
      </p:sp>
      <p:sp>
        <p:nvSpPr>
          <p:cNvPr id="26" name="Text 22"/>
          <p:cNvSpPr txBox="1"/>
          <p:nvPr/>
        </p:nvSpPr>
        <p:spPr>
          <a:xfrm>
            <a:off x="8411261" y="3364992"/>
            <a:ext cx="28386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8CFC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grandes explorações · 0,03%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8411261" y="3675888"/>
            <a:ext cx="28386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4BCB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 as 34 empresas âncora, concentram a maior parte do fluxo exportador.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8411261" y="4279392"/>
            <a:ext cx="28386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Structured finance · trade · câmbio · cash management de grupo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85800" y="5047488"/>
            <a:ext cx="10820095" cy="621792"/>
          </a:xfrm>
          <a:prstGeom prst="roundRect">
            <a:avLst>
              <a:gd name="adj" fmla="val 8824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014984" y="5047488"/>
            <a:ext cx="101617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74.706 explorações médias são a fronteira de crescimento — e é a âncora Tier 1 que as torna bancáveis.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Fonte: Inquérito Agrário Integrado 2023 — Ministério da Agricultura, Ambiente e Pescas / INE.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limitação do cliente não é ambição — é fricção operacional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Seis constrangimentos a que a proposta responde de forma explícita.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49424"/>
            <a:ext cx="3362858" cy="1207008"/>
          </a:xfrm>
          <a:prstGeom prst="roundRect">
            <a:avLst>
              <a:gd name="adj" fmla="val 530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87168"/>
            <a:ext cx="310896" cy="31089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1325880" y="2487168"/>
            <a:ext cx="24850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Acesso e acessibilidade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2871216"/>
            <a:ext cx="2887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Necessidades sazonais mal ajustadas a estruturas de crédito padrão.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414418" y="2249424"/>
            <a:ext cx="3362858" cy="1207008"/>
          </a:xfrm>
          <a:prstGeom prst="roundRect">
            <a:avLst>
              <a:gd name="adj" fmla="val 530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652162" y="2487168"/>
            <a:ext cx="310896" cy="31089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52162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054498" y="2487168"/>
            <a:ext cx="24850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Risco e resiliência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652162" y="2871216"/>
            <a:ext cx="2887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Clima, pragas e preços interrompem o caixa previsto.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143037" y="2249424"/>
            <a:ext cx="3362858" cy="1207008"/>
          </a:xfrm>
          <a:prstGeom prst="roundRect">
            <a:avLst>
              <a:gd name="adj" fmla="val 530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80781" y="2487168"/>
            <a:ext cx="310896" cy="31089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380781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8783117" y="2487168"/>
            <a:ext cx="24850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Mercados e escoamento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8380781" y="2871216"/>
            <a:ext cx="2887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Cadeias fragmentadas dificultam insumos, compradores e preço justo.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85800" y="3712464"/>
            <a:ext cx="3362858" cy="1207008"/>
          </a:xfrm>
          <a:prstGeom prst="roundRect">
            <a:avLst>
              <a:gd name="adj" fmla="val 530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923544" y="3950208"/>
            <a:ext cx="310896" cy="31089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23544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04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1325880" y="3950208"/>
            <a:ext cx="24850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Gestão de numerário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" y="4334256"/>
            <a:ext cx="2887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Campanhas de comercialização ainda pagas em dinheiro vivo.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414418" y="3712464"/>
            <a:ext cx="3362858" cy="1207008"/>
          </a:xfrm>
          <a:prstGeom prst="roundRect">
            <a:avLst>
              <a:gd name="adj" fmla="val 530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52162" y="3950208"/>
            <a:ext cx="310896" cy="31089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652162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05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054498" y="3950208"/>
            <a:ext cx="24850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Registos e visibilidade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4652162" y="4334256"/>
            <a:ext cx="2887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Bons produtores continuam invisíveis à avaliação formal de crédito.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8143037" y="3712464"/>
            <a:ext cx="3362858" cy="1207008"/>
          </a:xfrm>
          <a:prstGeom prst="roundRect">
            <a:avLst>
              <a:gd name="adj" fmla="val 530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380781" y="3950208"/>
            <a:ext cx="310896" cy="31089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380781" y="39502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06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783117" y="3950208"/>
            <a:ext cx="24850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Infra-estrutura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8380781" y="4334256"/>
            <a:ext cx="2887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Transporte, armazenagem e energia consomem a margem pós-colheita.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685800" y="5358384"/>
            <a:ext cx="10820095" cy="585216"/>
          </a:xfrm>
          <a:prstGeom prst="roundRect">
            <a:avLst>
              <a:gd name="adj" fmla="val 937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014984" y="5358384"/>
            <a:ext cx="101617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resposta: sair da venda produto a produto para um plano de época que liga financiamento, pagamentos, protecção e mercado.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CICLO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que acompanha a época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Cinco fases do calendário do cliente, cinco conversas comerciais distintas.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4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487168"/>
            <a:ext cx="1973824" cy="2121408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1425824" y="2240280"/>
            <a:ext cx="493776" cy="493776"/>
          </a:xfrm>
          <a:prstGeom prst="ellipse">
            <a:avLst/>
          </a:prstGeom>
          <a:solidFill>
            <a:srgbClr val="DC003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25824" y="22402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50392" y="2889504"/>
            <a:ext cx="164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Planear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328416"/>
            <a:ext cx="1608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Orçamento, plano de cultura, contratos de compra e abertura de conta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2897368" y="2487168"/>
            <a:ext cx="1973824" cy="2121408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37392" y="2240280"/>
            <a:ext cx="493776" cy="493776"/>
          </a:xfrm>
          <a:prstGeom prst="ellipse">
            <a:avLst/>
          </a:prstGeom>
          <a:solidFill>
            <a:srgbClr val="DC003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7392" y="22402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3061960" y="2889504"/>
            <a:ext cx="164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Plantar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080248" y="3328416"/>
            <a:ext cx="1608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insumos, pagamentos a fornecedores e capital de exploração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108936" y="2487168"/>
            <a:ext cx="1973824" cy="2121408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848960" y="2240280"/>
            <a:ext cx="493776" cy="493776"/>
          </a:xfrm>
          <a:prstGeom prst="ellipse">
            <a:avLst/>
          </a:prstGeom>
          <a:solidFill>
            <a:srgbClr val="DC003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848960" y="22402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5273528" y="2889504"/>
            <a:ext cx="164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Crescer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5291816" y="3328416"/>
            <a:ext cx="1608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Seguros, monitoria, revisões de fluxo de caixa e consultoria agro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320504" y="2487168"/>
            <a:ext cx="1973824" cy="2121408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060527" y="2240280"/>
            <a:ext cx="493776" cy="493776"/>
          </a:xfrm>
          <a:prstGeom prst="ellipse">
            <a:avLst/>
          </a:prstGeom>
          <a:solidFill>
            <a:srgbClr val="DC003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60527" y="22402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7485096" y="2889504"/>
            <a:ext cx="164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Colher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7503384" y="3328416"/>
            <a:ext cx="1608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Pagamento de mão de obra, logística, armazenagem e cobranças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9532071" y="2487168"/>
            <a:ext cx="1973824" cy="2121408"/>
          </a:xfrm>
          <a:prstGeom prst="roundRect">
            <a:avLst>
              <a:gd name="adj" fmla="val 3243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10272095" y="2240280"/>
            <a:ext cx="493776" cy="493776"/>
          </a:xfrm>
          <a:prstGeom prst="ellipse">
            <a:avLst/>
          </a:prstGeom>
          <a:solidFill>
            <a:srgbClr val="DC0037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0272095" y="22402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5</a:t>
            </a:r>
            <a:endParaRPr lang="en-US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9696663" y="2889504"/>
            <a:ext cx="164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Vender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9714951" y="3328416"/>
            <a:ext cx="160806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C4BCB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Trade finance, câmbio, poupança e reinvestimento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685800" y="4901184"/>
            <a:ext cx="10820095" cy="621792"/>
          </a:xfrm>
          <a:prstGeom prst="roundRect">
            <a:avLst>
              <a:gd name="adj" fmla="val 8824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014984" y="4901184"/>
            <a:ext cx="101617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mesma facilidade estrutura-se sobre produção prevista, recebíveis e contratos — em vez de forçar a agricultura a um reembolso genérico.</a:t>
            </a:r>
            <a:endParaRPr lang="en-US" sz="1350" dirty="0"/>
          </a:p>
        </p:txBody>
      </p:sp>
      <p:sp>
        <p:nvSpPr>
          <p:cNvPr id="35" name="Text 31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facilidades de crédito estão sujeitas a elegibilidade, avaliação de crédito, documentação e requisitos regulamentares.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QUE MUDOU EM 2025/26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alavancas novas que mudam a conversa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Não existiam na versão anterior deste CVP — e alteram o que a equipa pode prometer em reunião.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157984"/>
            <a:ext cx="3350666" cy="2962656"/>
          </a:xfrm>
          <a:prstGeom prst="roundRect">
            <a:avLst>
              <a:gd name="adj" fmla="val 2160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41832" y="2359152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41832" y="235915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FINOVA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941832" y="2743200"/>
            <a:ext cx="28386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€33,5M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310128"/>
            <a:ext cx="28386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Linha concessional de agronegócio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3749040"/>
            <a:ext cx="283860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Operacionalizada pelo Banco de Moçambique com o Absa, Standard Bank, BCI, GAPI e Microbanco Confiança, de um pacote KfW de €45,5M.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941832" y="4572000"/>
            <a:ext cx="28386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Juro até 10%/ano · períodos de graça · prazos alinhados ao ciclo agrícola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420514" y="2157984"/>
            <a:ext cx="3350666" cy="2962656"/>
          </a:xfrm>
          <a:prstGeom prst="roundRect">
            <a:avLst>
              <a:gd name="adj" fmla="val 2160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676546" y="2359152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76546" y="235915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DFC / USAID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4676546" y="2743200"/>
            <a:ext cx="28386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US$8,25M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4676546" y="3310128"/>
            <a:ext cx="28386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Garantia parcial de carteira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4676546" y="3749040"/>
            <a:ext cx="283860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Cobertura para aumentar o crédito a PME, com foco explícito na PME agrícola. Facilidade reportada de US$16,5M.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4676546" y="4572000"/>
            <a:ext cx="28386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Partilha de risco de 50% · permite operações que não passariam só com garantias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8155229" y="2157984"/>
            <a:ext cx="3350666" cy="2962656"/>
          </a:xfrm>
          <a:prstGeom prst="roundRect">
            <a:avLst>
              <a:gd name="adj" fmla="val 2160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411261" y="2359152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411261" y="2359152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ICM, IP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8411261" y="2743200"/>
            <a:ext cx="28386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Originação</a:t>
            </a:r>
            <a:endParaRPr lang="en-US" sz="3000" dirty="0"/>
          </a:p>
        </p:txBody>
      </p:sp>
      <p:sp>
        <p:nvSpPr>
          <p:cNvPr id="26" name="Text 22"/>
          <p:cNvSpPr txBox="1"/>
          <p:nvPr/>
        </p:nvSpPr>
        <p:spPr>
          <a:xfrm>
            <a:off x="8411261" y="3310128"/>
            <a:ext cx="28386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Protocolo com o Instituto de Cereais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411261" y="3749040"/>
            <a:ext cx="283860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Linhas dirigidas à produção e comercialização agrícola, com originação institucional.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411261" y="4572000"/>
            <a:ext cx="28386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Fluxo de operações já qualificado · alternativa à prospecção fria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85800" y="5248656"/>
            <a:ext cx="10820095" cy="658368"/>
          </a:xfrm>
          <a:prstGeom prst="roundRect">
            <a:avLst>
              <a:gd name="adj" fmla="val 8333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014984" y="5248656"/>
            <a:ext cx="1016172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Preço concessional + partilha de risco + originação institucional — é isto que nos permite dizer sim onde antes dizíamos talvez.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Banco de Moçambique (lançamento FINOVA, 2025) · U.S. International Development Finance Corporation · Instituto de Cereais de Moçambique.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A3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4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1A1010">
              <a:alpha val="6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85800" y="204825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SECÇÃO 2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414016"/>
            <a:ext cx="64008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empresas que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movem o sector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096512"/>
            <a:ext cx="5852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EDE7E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34 contrapartes nomeadas em nove fileiras — com accionista, escala, província e a oportunidade concreta para o banco.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0474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~380 mil t/ano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394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BCB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Açúcar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3172968" y="50474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US$258,3M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172968" y="5394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BCB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Tabaco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660136" y="50474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~50 mil t/ano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660136" y="5394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BCB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Algodão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147304" y="50474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~135 mil t/ano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147304" y="5394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BCB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Avicultura</a:t>
            </a:r>
            <a:endParaRPr lang="en-US" sz="1100" dirty="0"/>
          </a:p>
        </p:txBody>
      </p:sp>
      <p:pic>
        <p:nvPicPr>
          <p:cNvPr id="15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27" y="6071616"/>
            <a:ext cx="1572768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AÇÚCAR · QUATRO ENGENHOS · CAPACIDADE COMBINADA ~380 MIL T/ANO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 sector inteiro em transição accionista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mudança de mãos em Xinavane e Mafambisse e a paragem da Maragra abrem a maior janela de refinanciamento do agronegócio moçambicano.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12848"/>
            <a:ext cx="2499284" cy="3236976"/>
          </a:xfrm>
          <a:prstGeom prst="roundRect">
            <a:avLst>
              <a:gd name="adj" fmla="val 256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23544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23544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923544" y="2670048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Açucareira de Xinavane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23544" y="321868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Vision Sugar Holdings 88% · Estado/IGEPE 12%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923544" y="3639312"/>
            <a:ext cx="2023796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23544" y="374904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250.000 t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923544" y="4133088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capacidade instalada — o maior produtor do país</a:t>
            </a:r>
            <a:endParaRPr lang="en-US" sz="1030" dirty="0"/>
          </a:p>
        </p:txBody>
      </p:sp>
      <p:sp>
        <p:nvSpPr>
          <p:cNvPr id="15" name="Text 12"/>
          <p:cNvSpPr txBox="1"/>
          <p:nvPr/>
        </p:nvSpPr>
        <p:spPr>
          <a:xfrm>
            <a:off x="923544" y="4608576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Manhiça, Maputo</a:t>
            </a:r>
            <a:endParaRPr lang="en-US" sz="980" dirty="0"/>
          </a:p>
        </p:txBody>
      </p:sp>
      <p:sp>
        <p:nvSpPr>
          <p:cNvPr id="16" name="Text 13"/>
          <p:cNvSpPr txBox="1"/>
          <p:nvPr/>
        </p:nvSpPr>
        <p:spPr>
          <a:xfrm>
            <a:off x="923544" y="4846320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Refinanciamento pós-aquisição · capex · FX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3459404" y="2212848"/>
            <a:ext cx="2499284" cy="3236976"/>
          </a:xfrm>
          <a:prstGeom prst="roundRect">
            <a:avLst>
              <a:gd name="adj" fmla="val 256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97148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97148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1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3697148" y="2670048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Açucareira de Mafambisse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3697148" y="321868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Vision Sugar Holdings 85% · IGEPE 15%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697148" y="3639312"/>
            <a:ext cx="2023796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697148" y="374904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39.166 t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3697148" y="4133088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produzidas em 2024/25, de 92.000 t de capacidade</a:t>
            </a:r>
            <a:endParaRPr lang="en-US" sz="1030" dirty="0"/>
          </a:p>
        </p:txBody>
      </p:sp>
      <p:sp>
        <p:nvSpPr>
          <p:cNvPr id="25" name="Text 22"/>
          <p:cNvSpPr txBox="1"/>
          <p:nvPr/>
        </p:nvSpPr>
        <p:spPr>
          <a:xfrm>
            <a:off x="3697148" y="4608576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Dondo, Sofala</a:t>
            </a:r>
            <a:endParaRPr lang="en-US" sz="980" dirty="0"/>
          </a:p>
        </p:txBody>
      </p:sp>
      <p:sp>
        <p:nvSpPr>
          <p:cNvPr id="26" name="Text 23"/>
          <p:cNvSpPr txBox="1"/>
          <p:nvPr/>
        </p:nvSpPr>
        <p:spPr>
          <a:xfrm>
            <a:off x="3697148" y="4846320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Recuperação de capacidade · cogeração a bagaço</a:t>
            </a:r>
            <a:endParaRPr lang="en-US" sz="1030" dirty="0"/>
          </a:p>
        </p:txBody>
      </p:sp>
      <p:sp>
        <p:nvSpPr>
          <p:cNvPr id="27" name="Shape 24"/>
          <p:cNvSpPr/>
          <p:nvPr/>
        </p:nvSpPr>
        <p:spPr>
          <a:xfrm>
            <a:off x="6233008" y="2212848"/>
            <a:ext cx="2499284" cy="3236976"/>
          </a:xfrm>
          <a:prstGeom prst="roundRect">
            <a:avLst>
              <a:gd name="adj" fmla="val 256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470752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70752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1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6470752" y="2670048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Companhia de Sena — Marromeu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470752" y="321868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Sena Holdings / Royal Group (75%)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470752" y="3639312"/>
            <a:ext cx="2023796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70752" y="374904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60.000 t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6470752" y="4133088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açúcar por ano; 4.500 t de cana moídas por dia</a:t>
            </a:r>
            <a:endParaRPr lang="en-US" sz="1030" dirty="0"/>
          </a:p>
        </p:txBody>
      </p:sp>
      <p:sp>
        <p:nvSpPr>
          <p:cNvPr id="35" name="Text 32"/>
          <p:cNvSpPr txBox="1"/>
          <p:nvPr/>
        </p:nvSpPr>
        <p:spPr>
          <a:xfrm>
            <a:off x="6470752" y="4608576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Marromeu, Sofala</a:t>
            </a:r>
            <a:endParaRPr lang="en-US" sz="980" dirty="0"/>
          </a:p>
        </p:txBody>
      </p:sp>
      <p:sp>
        <p:nvSpPr>
          <p:cNvPr id="36" name="Text 33"/>
          <p:cNvSpPr txBox="1"/>
          <p:nvPr/>
        </p:nvSpPr>
        <p:spPr>
          <a:xfrm>
            <a:off x="6470752" y="4846320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Campanha · logística até à Beira · cadeia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9006611" y="2212848"/>
            <a:ext cx="2499284" cy="3236976"/>
          </a:xfrm>
          <a:prstGeom prst="roundRect">
            <a:avLst>
              <a:gd name="adj" fmla="val 256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9244355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244355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1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9244355" y="2670048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Maragra Açúcar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9244355" y="321868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Illovo Sugar / Associated British Foods (99%)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9244355" y="3639312"/>
            <a:ext cx="2023796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244355" y="374904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Retoma 2026</a:t>
            </a:r>
            <a:endParaRPr lang="en-US" sz="2100" dirty="0"/>
          </a:p>
        </p:txBody>
      </p:sp>
      <p:sp>
        <p:nvSpPr>
          <p:cNvPr id="44" name="Text 41"/>
          <p:cNvSpPr txBox="1"/>
          <p:nvPr/>
        </p:nvSpPr>
        <p:spPr>
          <a:xfrm>
            <a:off x="9244355" y="4133088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produção suspensa; 80.000 t de capacidade parada</a:t>
            </a:r>
            <a:endParaRPr lang="en-US" sz="1030" dirty="0"/>
          </a:p>
        </p:txBody>
      </p:sp>
      <p:sp>
        <p:nvSpPr>
          <p:cNvPr id="45" name="Text 42"/>
          <p:cNvSpPr txBox="1"/>
          <p:nvPr/>
        </p:nvSpPr>
        <p:spPr>
          <a:xfrm>
            <a:off x="9244355" y="4608576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Manhiça, Maputo</a:t>
            </a:r>
            <a:endParaRPr lang="en-US" sz="980" dirty="0"/>
          </a:p>
        </p:txBody>
      </p:sp>
      <p:sp>
        <p:nvSpPr>
          <p:cNvPr id="46" name="Text 43"/>
          <p:cNvSpPr txBox="1"/>
          <p:nvPr/>
        </p:nvSpPr>
        <p:spPr>
          <a:xfrm>
            <a:off x="9244355" y="4846320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retoma · capital paciente</a:t>
            </a:r>
            <a:endParaRPr lang="en-US" sz="1030" dirty="0"/>
          </a:p>
        </p:txBody>
      </p:sp>
      <p:sp>
        <p:nvSpPr>
          <p:cNvPr id="47" name="Shape 44"/>
          <p:cNvSpPr/>
          <p:nvPr/>
        </p:nvSpPr>
        <p:spPr>
          <a:xfrm>
            <a:off x="685800" y="5596128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FBEE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60120" y="5596128"/>
            <a:ext cx="102714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B0002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Nota de risco —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Em 2025 a Autoridade Reguladora da Concorrência multou os quatro produtores e a Distribuidora Nacional de Açúcar em 69,5 milhões de meticais por cartel: exige due diligence de conduta, e a liberalização das vendas altera os fluxos de recebíveis.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Sugaronline e AIM (aquisição Vision Sugar, Jun/2025) · Tongaat Hulett · Illovo Sugar Africa · MIGA · Lusa/AMAN.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TABACO · MAIOR RUBRICA DE EXPORTAÇÃO AGRÍCOLA: US$258,3M EM 2025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maior mandato de pagamentos agrícolas do país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Uma só contraparte liquida a mais de 120 mil produtores por campanha — quase tudo ainda em numerário.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194560"/>
            <a:ext cx="6675120" cy="2889504"/>
          </a:xfrm>
          <a:prstGeom prst="roundRect">
            <a:avLst>
              <a:gd name="adj" fmla="val 221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996696" y="2414016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96696" y="2414016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996696" y="272491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Mozambique Leaf Tobacco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996696" y="3364992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4BCB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Universal Corporation (EUA) · a maior empresa agrícola de Moçambique e o seu maior exportador agrícola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96696" y="3840480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120.000</a:t>
            </a:r>
            <a:endParaRPr lang="en-US" sz="42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" y="4535424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D8CFC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contratados em Tete, Niassa, Zambézia e Manica</a:t>
            </a:r>
            <a:endParaRPr lang="en-US" sz="1100" dirty="0"/>
          </a:p>
        </p:txBody>
      </p:sp>
      <p:pic>
        <p:nvPicPr>
          <p:cNvPr id="14" name="Image 1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10328" y="2414016"/>
            <a:ext cx="2139696" cy="245059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726680" y="2157984"/>
            <a:ext cx="3779215" cy="713232"/>
          </a:xfrm>
          <a:prstGeom prst="roundRect">
            <a:avLst>
              <a:gd name="adj" fmla="val 7692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946136" y="2212848"/>
            <a:ext cx="33403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Digitalizar a campanha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7946136" y="2450592"/>
            <a:ext cx="33403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Levar 120 mil produtores para canal digital retira numerário do terreno.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7726680" y="2926080"/>
            <a:ext cx="3779215" cy="713232"/>
          </a:xfrm>
          <a:prstGeom prst="roundRect">
            <a:avLst>
              <a:gd name="adj" fmla="val 7692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946136" y="2980944"/>
            <a:ext cx="33403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de insumos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946136" y="3218688"/>
            <a:ext cx="33403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Garantido pelo contrato de compra — o fomento já existe, falta o instrumento.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7726680" y="3694176"/>
            <a:ext cx="3779215" cy="713232"/>
          </a:xfrm>
          <a:prstGeom prst="roundRect">
            <a:avLst>
              <a:gd name="adj" fmla="val 7692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946136" y="3749040"/>
            <a:ext cx="33403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Trade finance e câmbio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946136" y="3986784"/>
            <a:ext cx="33403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50.000 t/ano de capacidade de processamento em Tete, tudo destinado a exportação.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7726680" y="4462272"/>
            <a:ext cx="3779215" cy="713232"/>
          </a:xfrm>
          <a:prstGeom prst="roundRect">
            <a:avLst>
              <a:gd name="adj" fmla="val 7692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946136" y="4517136"/>
            <a:ext cx="33403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Folha sazonal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946136" y="4754880"/>
            <a:ext cx="33403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Milhares de temporários por campanha, hoje fora do sistema bancário.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685800" y="5248656"/>
            <a:ext cx="10820095" cy="603504"/>
          </a:xfrm>
          <a:prstGeom prst="roundRect">
            <a:avLst>
              <a:gd name="adj" fmla="val 909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14984" y="5248656"/>
            <a:ext cx="101617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Campanha 2024/25: mais de 54.000 t em Tete, ~15.500 t no Niassa e ~10.000 t na Zambézia. Os comerciantes de folha (Premium, Alliance One/Pyxus) completam a fileira.</a:t>
            </a:r>
            <a:endParaRPr 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Banco de Moçambique (exportações de tabaco 2025) · Universal Corporation · Moçambique Leaf Tobacco.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ALGODÃO · ~50 MIL T/ANO · 150 MIL PRODUTORES · 30 MIL EMPREGOS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Cinco concessionárias, uma mesma mecânica de fomento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insumo é adiantado ao produtor e recuperado na compra — uma estrutura de crédito que já existe no terreno e que o banco pode formalizar.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1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9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SANAM — Namialo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Concessão nacional; opera com a Olam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68680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80.000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pequenos produtores em ~56.000 ha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Fomento · descaroçamento · recebíveis de exportação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2897368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080248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080248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3080248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SAN — Niassa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3080248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João Ferreira dos Santos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3080248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080248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60.000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3080248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produtores; dos maiores exportadores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3080248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Niassa · Nampula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080248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Fomento · asset finance · cash management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5108936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5291816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91816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5291816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SAM — Mutuali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291816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Concessão nacional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5291816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291816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Armazéns</a:t>
            </a:r>
            <a:endParaRPr lang="en-US" sz="1900" dirty="0"/>
          </a:p>
        </p:txBody>
      </p:sp>
      <p:sp>
        <p:nvSpPr>
          <p:cNvPr id="35" name="Text 31"/>
          <p:cNvSpPr txBox="1"/>
          <p:nvPr/>
        </p:nvSpPr>
        <p:spPr>
          <a:xfrm>
            <a:off x="5291816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novas unidades em construção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5291816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Malema, Nampula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5291816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Warehouse receipt · capex fabril · working capital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7320504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7503384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03384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1</a:t>
            </a:r>
            <a:endParaRPr lang="en-US" sz="800" dirty="0"/>
          </a:p>
        </p:txBody>
      </p:sp>
      <p:sp>
        <p:nvSpPr>
          <p:cNvPr id="41" name="Text 37"/>
          <p:cNvSpPr txBox="1"/>
          <p:nvPr/>
        </p:nvSpPr>
        <p:spPr>
          <a:xfrm>
            <a:off x="7503384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Olam Agri Moçambique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7503384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Olam (multinacional)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7503384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7503384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 fileiras</a:t>
            </a:r>
            <a:endParaRPr lang="en-US" sz="1900" dirty="0"/>
          </a:p>
        </p:txBody>
      </p:sp>
      <p:sp>
        <p:nvSpPr>
          <p:cNvPr id="45" name="Text 41"/>
          <p:cNvSpPr txBox="1"/>
          <p:nvPr/>
        </p:nvSpPr>
        <p:spPr>
          <a:xfrm>
            <a:off x="7503384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algodão, sésamo e caju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503384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 · C. Delgado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7503384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Pre-export finance · FX · pagamentos a agregadores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9532071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5"/>
          <p:cNvSpPr/>
          <p:nvPr/>
        </p:nvSpPr>
        <p:spPr>
          <a:xfrm>
            <a:off x="9714951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714951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51" name="Text 47"/>
          <p:cNvSpPr txBox="1"/>
          <p:nvPr/>
        </p:nvSpPr>
        <p:spPr>
          <a:xfrm>
            <a:off x="9714951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Plexus Mozambique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9714951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internacional</a:t>
            </a:r>
            <a:endParaRPr lang="en-US" sz="900" dirty="0"/>
          </a:p>
        </p:txBody>
      </p:sp>
      <p:sp>
        <p:nvSpPr>
          <p:cNvPr id="53" name="Shape 49"/>
          <p:cNvSpPr/>
          <p:nvPr/>
        </p:nvSpPr>
        <p:spPr>
          <a:xfrm>
            <a:off x="9714951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9714951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Fibra</a:t>
            </a:r>
            <a:endParaRPr lang="en-US" sz="1900" dirty="0"/>
          </a:p>
        </p:txBody>
      </p:sp>
      <p:sp>
        <p:nvSpPr>
          <p:cNvPr id="55" name="Text 51"/>
          <p:cNvSpPr txBox="1"/>
          <p:nvPr/>
        </p:nvSpPr>
        <p:spPr>
          <a:xfrm>
            <a:off x="9714951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descaroçamento e exportação</a:t>
            </a:r>
            <a:endParaRPr lang="en-US" sz="950" dirty="0"/>
          </a:p>
        </p:txBody>
      </p:sp>
      <p:sp>
        <p:nvSpPr>
          <p:cNvPr id="56" name="Text 52"/>
          <p:cNvSpPr txBox="1"/>
          <p:nvPr/>
        </p:nvSpPr>
        <p:spPr>
          <a:xfrm>
            <a:off x="9714951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714951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Working capital de campanha · trade finance</a:t>
            </a:r>
            <a:endParaRPr lang="en-US" sz="950" dirty="0"/>
          </a:p>
        </p:txBody>
      </p:sp>
      <p:sp>
        <p:nvSpPr>
          <p:cNvPr id="58" name="Text 54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Instituto do Algodão e Oleaginosas · Associação Algodoeira de Moçambique · Better Cotton · MAAP.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PROTEÍNA ANIMAL E GRUPOS DIVERSIFICADOS · ~135 MIL T DE FRANGO/ANO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líderes regionais integrados e dois grupos de fileira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Todos compram milho e soja em divisas, todos investem em frio e matadouro, e todos pagam a criadores integrados.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1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Higest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moç./português, +25 anos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68680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Sul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líder integrado da Zona Sul: ração, pintos e frango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 e sul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LC e FX para milho e soja · capex de matadouro · crédito a distribuidores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2897368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080248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080248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3080248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Abílio Antunes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3080248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3080248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080248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Centro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3080248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integração vertical, com esmagamento de soja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3080248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Chimoio, Manica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080248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Capex de esmagamento e frio · outgrowers de soja · solar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5108936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5291816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91816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5291816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Novos Horizontes / Frango King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291816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internacional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5291816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291816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Norte</a:t>
            </a:r>
            <a:endParaRPr lang="en-US" sz="1900" dirty="0"/>
          </a:p>
        </p:txBody>
      </p:sp>
      <p:sp>
        <p:nvSpPr>
          <p:cNvPr id="35" name="Text 31"/>
          <p:cNvSpPr txBox="1"/>
          <p:nvPr/>
        </p:nvSpPr>
        <p:spPr>
          <a:xfrm>
            <a:off x="5291816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líder integrado, já consolidado sob um accionista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5291816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5291816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Consolidação · matadouro e HACCP · pagamentos a criadores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7320504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7503384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03384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41" name="Text 37"/>
          <p:cNvSpPr txBox="1"/>
          <p:nvPr/>
        </p:nvSpPr>
        <p:spPr>
          <a:xfrm>
            <a:off x="7503384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JFS Holding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7503384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português/moç., +100 anos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7503384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7503384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US$40M</a:t>
            </a:r>
            <a:endParaRPr lang="en-US" sz="1900" dirty="0"/>
          </a:p>
        </p:txBody>
      </p:sp>
      <p:sp>
        <p:nvSpPr>
          <p:cNvPr id="45" name="Text 41"/>
          <p:cNvSpPr txBox="1"/>
          <p:nvPr/>
        </p:nvSpPr>
        <p:spPr>
          <a:xfrm>
            <a:off x="7503384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facturação anual em seis unidades de negócio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503384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 · Niassa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7503384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Banca de grupo · tesouraria única · frota e equipamento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9532071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5"/>
          <p:cNvSpPr/>
          <p:nvPr/>
        </p:nvSpPr>
        <p:spPr>
          <a:xfrm>
            <a:off x="9714951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714951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51" name="Text 47"/>
          <p:cNvSpPr txBox="1"/>
          <p:nvPr/>
        </p:nvSpPr>
        <p:spPr>
          <a:xfrm>
            <a:off x="9714951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Mozaco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9714951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JV Rioforte + JFS</a:t>
            </a:r>
            <a:endParaRPr lang="en-US" sz="900" dirty="0"/>
          </a:p>
        </p:txBody>
      </p:sp>
      <p:sp>
        <p:nvSpPr>
          <p:cNvPr id="53" name="Shape 49"/>
          <p:cNvSpPr/>
          <p:nvPr/>
        </p:nvSpPr>
        <p:spPr>
          <a:xfrm>
            <a:off x="9714951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9714951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20.000 ha</a:t>
            </a:r>
            <a:endParaRPr lang="en-US" sz="1900" dirty="0"/>
          </a:p>
        </p:txBody>
      </p:sp>
      <p:sp>
        <p:nvSpPr>
          <p:cNvPr id="55" name="Text 51"/>
          <p:cNvSpPr txBox="1"/>
          <p:nvPr/>
        </p:nvSpPr>
        <p:spPr>
          <a:xfrm>
            <a:off x="9714951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meta de expansão; soja e algodão</a:t>
            </a:r>
            <a:endParaRPr lang="en-US" sz="950" dirty="0"/>
          </a:p>
        </p:txBody>
      </p:sp>
      <p:sp>
        <p:nvSpPr>
          <p:cNvPr id="56" name="Text 52"/>
          <p:cNvSpPr txBox="1"/>
          <p:nvPr/>
        </p:nvSpPr>
        <p:spPr>
          <a:xfrm>
            <a:off x="9714951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Malema, Nampula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714951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Expansão de área · mecanização · contract farming para ração</a:t>
            </a:r>
            <a:endParaRPr lang="en-US" sz="950" dirty="0"/>
          </a:p>
        </p:txBody>
      </p:sp>
      <p:sp>
        <p:nvSpPr>
          <p:cNvPr id="58" name="Text 54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AIM (produção avícola, Out/2025) · IGC/MEF, Cadeia de Valor do Frango em Moçambique · JFS Holding · Agence Ecofin.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BANANA, FRUTA E HORTÍCOLAS DE EXPORTAÇÃO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Divisas recorrentes, cadeia de frio e risco fitossanitário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É aqui que o banco encontra recebíveis em moeda forte, folhas salariais de mil pessoas — e o risco que obriga a estruturar seguro.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12848"/>
            <a:ext cx="2499284" cy="3621024"/>
          </a:xfrm>
          <a:prstGeom prst="roundRect">
            <a:avLst>
              <a:gd name="adj" fmla="val 256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670048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Bananalândia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1868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923544" y="3639312"/>
            <a:ext cx="2023796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23544" y="374904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3,5M caixas</a:t>
            </a:r>
            <a:endParaRPr lang="en-US" sz="21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4133088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exportadas por ano de 900 ha; ~1.000 trabalhadores</a:t>
            </a:r>
            <a:endParaRPr lang="en-US" sz="1030" dirty="0"/>
          </a:p>
        </p:txBody>
      </p:sp>
      <p:sp>
        <p:nvSpPr>
          <p:cNvPr id="16" name="Text 12"/>
          <p:cNvSpPr txBox="1"/>
          <p:nvPr/>
        </p:nvSpPr>
        <p:spPr>
          <a:xfrm>
            <a:off x="923544" y="4608576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Moamba, Maputo</a:t>
            </a:r>
            <a:endParaRPr lang="en-US" sz="980" dirty="0"/>
          </a:p>
        </p:txBody>
      </p:sp>
      <p:sp>
        <p:nvSpPr>
          <p:cNvPr id="17" name="Text 13"/>
          <p:cNvSpPr txBox="1"/>
          <p:nvPr/>
        </p:nvSpPr>
        <p:spPr>
          <a:xfrm>
            <a:off x="923544" y="4846320"/>
            <a:ext cx="20237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Capex de processamento (US$20M) · cadeia de frio · conta-salário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3459404" y="2212848"/>
            <a:ext cx="2499284" cy="3621024"/>
          </a:xfrm>
          <a:prstGeom prst="roundRect">
            <a:avLst>
              <a:gd name="adj" fmla="val 256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697148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697148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3697148" y="2670048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Jacaranda Agricultura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3697148" y="321868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Investidor privado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697148" y="3639312"/>
            <a:ext cx="2023796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697148" y="374904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Metocheria</a:t>
            </a:r>
            <a:endParaRPr lang="en-US" sz="2100" dirty="0"/>
          </a:p>
        </p:txBody>
      </p:sp>
      <p:sp>
        <p:nvSpPr>
          <p:cNvPr id="25" name="Text 21"/>
          <p:cNvSpPr txBox="1"/>
          <p:nvPr/>
        </p:nvSpPr>
        <p:spPr>
          <a:xfrm>
            <a:off x="3697148" y="4133088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recuperou os activos da Matanuska após a doença do Panamá</a:t>
            </a:r>
            <a:endParaRPr lang="en-US" sz="1030" dirty="0"/>
          </a:p>
        </p:txBody>
      </p:sp>
      <p:sp>
        <p:nvSpPr>
          <p:cNvPr id="26" name="Text 22"/>
          <p:cNvSpPr txBox="1"/>
          <p:nvPr/>
        </p:nvSpPr>
        <p:spPr>
          <a:xfrm>
            <a:off x="3697148" y="4608576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Monapo, Nampula</a:t>
            </a:r>
            <a:endParaRPr lang="en-US" sz="980" dirty="0"/>
          </a:p>
        </p:txBody>
      </p:sp>
      <p:sp>
        <p:nvSpPr>
          <p:cNvPr id="27" name="Text 23"/>
          <p:cNvSpPr txBox="1"/>
          <p:nvPr/>
        </p:nvSpPr>
        <p:spPr>
          <a:xfrm>
            <a:off x="3697148" y="4846320"/>
            <a:ext cx="20237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Replantação · biossegurança · logística até Nacala · seguro obrigatório</a:t>
            </a:r>
            <a:endParaRPr lang="en-US" sz="1030" dirty="0"/>
          </a:p>
        </p:txBody>
      </p:sp>
      <p:sp>
        <p:nvSpPr>
          <p:cNvPr id="28" name="Shape 24"/>
          <p:cNvSpPr/>
          <p:nvPr/>
        </p:nvSpPr>
        <p:spPr>
          <a:xfrm>
            <a:off x="6233008" y="2212848"/>
            <a:ext cx="2499284" cy="3621024"/>
          </a:xfrm>
          <a:prstGeom prst="roundRect">
            <a:avLst>
              <a:gd name="adj" fmla="val 256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70752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70752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6470752" y="2670048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Companhia do Vanduzi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6470752" y="321868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britânico, desde 2004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6470752" y="3639312"/>
            <a:ext cx="2023796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470752" y="374904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Todo o ano</a:t>
            </a:r>
            <a:endParaRPr lang="en-US" sz="2100" dirty="0"/>
          </a:p>
        </p:txBody>
      </p:sp>
      <p:sp>
        <p:nvSpPr>
          <p:cNvPr id="35" name="Text 31"/>
          <p:cNvSpPr txBox="1"/>
          <p:nvPr/>
        </p:nvSpPr>
        <p:spPr>
          <a:xfrm>
            <a:off x="6470752" y="4133088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baby corn e piri-piri para o Reino Unido e a Europa</a:t>
            </a:r>
            <a:endParaRPr lang="en-US" sz="1030" dirty="0"/>
          </a:p>
        </p:txBody>
      </p:sp>
      <p:sp>
        <p:nvSpPr>
          <p:cNvPr id="36" name="Text 32"/>
          <p:cNvSpPr txBox="1"/>
          <p:nvPr/>
        </p:nvSpPr>
        <p:spPr>
          <a:xfrm>
            <a:off x="6470752" y="4608576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Vanduzi, Manica</a:t>
            </a:r>
            <a:endParaRPr lang="en-US" sz="980" dirty="0"/>
          </a:p>
        </p:txBody>
      </p:sp>
      <p:sp>
        <p:nvSpPr>
          <p:cNvPr id="37" name="Text 33"/>
          <p:cNvSpPr txBox="1"/>
          <p:nvPr/>
        </p:nvSpPr>
        <p:spPr>
          <a:xfrm>
            <a:off x="6470752" y="4846320"/>
            <a:ext cx="20237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Fluxo cambial contínuo · recebíveis · rega e packhouse</a:t>
            </a:r>
            <a:endParaRPr lang="en-US" sz="1030" dirty="0"/>
          </a:p>
        </p:txBody>
      </p:sp>
      <p:sp>
        <p:nvSpPr>
          <p:cNvPr id="38" name="Shape 34"/>
          <p:cNvSpPr/>
          <p:nvPr/>
        </p:nvSpPr>
        <p:spPr>
          <a:xfrm>
            <a:off x="9006611" y="2212848"/>
            <a:ext cx="2499284" cy="3621024"/>
          </a:xfrm>
          <a:prstGeom prst="roundRect">
            <a:avLst>
              <a:gd name="adj" fmla="val 256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9244355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9244355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3</a:t>
            </a:r>
            <a:endParaRPr lang="en-US" sz="800" dirty="0"/>
          </a:p>
        </p:txBody>
      </p:sp>
      <p:sp>
        <p:nvSpPr>
          <p:cNvPr id="41" name="Text 37"/>
          <p:cNvSpPr txBox="1"/>
          <p:nvPr/>
        </p:nvSpPr>
        <p:spPr>
          <a:xfrm>
            <a:off x="9244355" y="2670048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Produtores de macadâmia</a:t>
            </a:r>
            <a:endParaRPr lang="en-US" sz="1300" dirty="0"/>
          </a:p>
        </p:txBody>
      </p:sp>
      <p:sp>
        <p:nvSpPr>
          <p:cNvPr id="42" name="Text 38"/>
          <p:cNvSpPr txBox="1"/>
          <p:nvPr/>
        </p:nvSpPr>
        <p:spPr>
          <a:xfrm>
            <a:off x="9244355" y="321868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Investidores sul-africanos e zimbabweanos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9244355" y="3639312"/>
            <a:ext cx="2023796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244355" y="374904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7–10 anos</a:t>
            </a:r>
            <a:endParaRPr lang="en-US" sz="2100" dirty="0"/>
          </a:p>
        </p:txBody>
      </p:sp>
      <p:sp>
        <p:nvSpPr>
          <p:cNvPr id="45" name="Text 41"/>
          <p:cNvSpPr txBox="1"/>
          <p:nvPr/>
        </p:nvSpPr>
        <p:spPr>
          <a:xfrm>
            <a:off x="9244355" y="4133088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ciclo de implantação do pomar antes da plena produção</a:t>
            </a:r>
            <a:endParaRPr lang="en-US" sz="1030" dirty="0"/>
          </a:p>
        </p:txBody>
      </p:sp>
      <p:sp>
        <p:nvSpPr>
          <p:cNvPr id="46" name="Text 42"/>
          <p:cNvSpPr txBox="1"/>
          <p:nvPr/>
        </p:nvSpPr>
        <p:spPr>
          <a:xfrm>
            <a:off x="9244355" y="4608576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Manica · Nampula</a:t>
            </a:r>
            <a:endParaRPr lang="en-US" sz="980" dirty="0"/>
          </a:p>
        </p:txBody>
      </p:sp>
      <p:sp>
        <p:nvSpPr>
          <p:cNvPr id="47" name="Text 43"/>
          <p:cNvSpPr txBox="1"/>
          <p:nvPr/>
        </p:nvSpPr>
        <p:spPr>
          <a:xfrm>
            <a:off x="9244355" y="4846320"/>
            <a:ext cx="20237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Term loan de implantação · descasque e secagem · FX para a Ásia</a:t>
            </a:r>
            <a:endParaRPr lang="en-US" sz="1030" dirty="0"/>
          </a:p>
        </p:txBody>
      </p:sp>
      <p:sp>
        <p:nvSpPr>
          <p:cNvPr id="48" name="Text 44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Food Business Africa e Club of Mozambique · Companhia do Vanduzi · The Macadamia South Africa.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CAJU · 157 A 160 MIL T DE CASTANHA EM BRUTO POR ANO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Maior processador de África, terceiro do mundo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compra concentra-se em três a quatro meses e a venda estende-se pelo ano inteiro. É o caso de uso clássico do financiamento de stock.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1" descr="/tmp/claude-0/-home-user-momo/176296df-944e-550c-879f-516f4be80ca0/scratchpad/unpacked/ppt/media/image1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85800" y="2231136"/>
            <a:ext cx="4846320" cy="288950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916168" y="2231136"/>
            <a:ext cx="5589727" cy="1353312"/>
          </a:xfrm>
          <a:prstGeom prst="roundRect">
            <a:avLst>
              <a:gd name="adj" fmla="val 4730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172200" y="2395728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172200" y="2395728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6922008" y="2322576"/>
            <a:ext cx="4327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Condor Nuts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72200" y="2688336"/>
            <a:ext cx="50776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 · Nampula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6172200" y="2926080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&gt;70.000 t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7891272" y="2907792"/>
            <a:ext cx="335859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processadas no país por ano — uma das maiores unidades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3255264"/>
            <a:ext cx="507766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Warehouse finance · recebíveis de exportação · linhas de descasque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16168" y="3730752"/>
            <a:ext cx="5589727" cy="1353312"/>
          </a:xfrm>
          <a:prstGeom prst="roundRect">
            <a:avLst>
              <a:gd name="adj" fmla="val 4730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172200" y="3895344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172200" y="389534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3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6922008" y="3822192"/>
            <a:ext cx="4327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Processadoras de Nampula e Cabo Delgado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172200" y="4187952"/>
            <a:ext cx="50776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Diversas · nova fábrica em Palma (2024)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6172200" y="4425696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37 → 6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7891272" y="4407408"/>
            <a:ext cx="335859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unidades activas em Nampula, num parque de 15 milhões de plantas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6172200" y="4754880"/>
            <a:ext cx="507766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de reestruturação · capex · agregadores registados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685800" y="5266944"/>
            <a:ext cx="10820095" cy="585216"/>
          </a:xfrm>
          <a:prstGeom prst="roundRect">
            <a:avLst>
              <a:gd name="adj" fmla="val 9375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14984" y="5266944"/>
            <a:ext cx="101617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Nampula passou de 37 para 6 unidades activas: quem sobreviveu vai consolidar — e consolidação precisa de crédito.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Ministério da Agricultura, Ambiente e Pescas · Diário Económico · AIM (fábrica de Palma, 2024).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CEREAIS, ARROZ E MOAGEM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Trigo importado, milho nacional e uma rede de distribuidores por bancarizar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moagem combina duas necessidades permanentes: crédito documentário em divisas e cobrança a centenas de distribuidores.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1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12848"/>
            <a:ext cx="2499284" cy="3621024"/>
          </a:xfrm>
          <a:prstGeom prst="roundRect">
            <a:avLst>
              <a:gd name="adj" fmla="val 256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1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670048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Merec Industries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1868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moçambicano, desde 1998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923544" y="3639312"/>
            <a:ext cx="2023796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23544" y="374904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12 unidades</a:t>
            </a:r>
            <a:endParaRPr lang="en-US" sz="21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4133088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farinha de milho e trigo, massas, bolachas e rações</a:t>
            </a:r>
            <a:endParaRPr lang="en-US" sz="1030" dirty="0"/>
          </a:p>
        </p:txBody>
      </p:sp>
      <p:sp>
        <p:nvSpPr>
          <p:cNvPr id="16" name="Text 12"/>
          <p:cNvSpPr txBox="1"/>
          <p:nvPr/>
        </p:nvSpPr>
        <p:spPr>
          <a:xfrm>
            <a:off x="923544" y="4608576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Matola · Beira · Nacala</a:t>
            </a:r>
            <a:endParaRPr lang="en-US" sz="980" dirty="0"/>
          </a:p>
        </p:txBody>
      </p:sp>
      <p:sp>
        <p:nvSpPr>
          <p:cNvPr id="17" name="Text 13"/>
          <p:cNvSpPr txBox="1"/>
          <p:nvPr/>
        </p:nvSpPr>
        <p:spPr>
          <a:xfrm>
            <a:off x="923544" y="4846320"/>
            <a:ext cx="20237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LC e FX para trigo · digitalizar a cobrança da rede nacional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3459404" y="2212848"/>
            <a:ext cx="2499284" cy="3621024"/>
          </a:xfrm>
          <a:prstGeom prst="roundRect">
            <a:avLst>
              <a:gd name="adj" fmla="val 256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697148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697148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1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3697148" y="2670048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CIM — Companhia Industrial da Matola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3697148" y="321868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DECA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697148" y="3639312"/>
            <a:ext cx="2023796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697148" y="374904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Farinha</a:t>
            </a:r>
            <a:endParaRPr lang="en-US" sz="2100" dirty="0"/>
          </a:p>
        </p:txBody>
      </p:sp>
      <p:sp>
        <p:nvSpPr>
          <p:cNvPr id="25" name="Text 21"/>
          <p:cNvSpPr txBox="1"/>
          <p:nvPr/>
        </p:nvSpPr>
        <p:spPr>
          <a:xfrm>
            <a:off x="3697148" y="4133088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 dos principais fornecedores de Maputo</a:t>
            </a:r>
            <a:endParaRPr lang="en-US" sz="1030" dirty="0"/>
          </a:p>
        </p:txBody>
      </p:sp>
      <p:sp>
        <p:nvSpPr>
          <p:cNvPr id="26" name="Text 22"/>
          <p:cNvSpPr txBox="1"/>
          <p:nvPr/>
        </p:nvSpPr>
        <p:spPr>
          <a:xfrm>
            <a:off x="3697148" y="4608576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Matola, Maputo</a:t>
            </a:r>
            <a:endParaRPr lang="en-US" sz="980" dirty="0"/>
          </a:p>
        </p:txBody>
      </p:sp>
      <p:sp>
        <p:nvSpPr>
          <p:cNvPr id="27" name="Text 23"/>
          <p:cNvSpPr txBox="1"/>
          <p:nvPr/>
        </p:nvSpPr>
        <p:spPr>
          <a:xfrm>
            <a:off x="3697148" y="4846320"/>
            <a:ext cx="20237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Trade finance de trigo · cobertura cambial · cash management</a:t>
            </a:r>
            <a:endParaRPr lang="en-US" sz="1030" dirty="0"/>
          </a:p>
        </p:txBody>
      </p:sp>
      <p:sp>
        <p:nvSpPr>
          <p:cNvPr id="28" name="Shape 24"/>
          <p:cNvSpPr/>
          <p:nvPr/>
        </p:nvSpPr>
        <p:spPr>
          <a:xfrm>
            <a:off x="6233008" y="2212848"/>
            <a:ext cx="2499284" cy="3621024"/>
          </a:xfrm>
          <a:prstGeom prst="roundRect">
            <a:avLst>
              <a:gd name="adj" fmla="val 256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70752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70752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6470752" y="2670048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Pembe Moçambique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6470752" y="321868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6470752" y="3639312"/>
            <a:ext cx="2023796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470752" y="374904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Milho</a:t>
            </a:r>
            <a:endParaRPr lang="en-US" sz="2100" dirty="0"/>
          </a:p>
        </p:txBody>
      </p:sp>
      <p:sp>
        <p:nvSpPr>
          <p:cNvPr id="35" name="Text 31"/>
          <p:cNvSpPr txBox="1"/>
          <p:nvPr/>
        </p:nvSpPr>
        <p:spPr>
          <a:xfrm>
            <a:off x="6470752" y="4133088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moagem de referência no abastecimento de Maputo</a:t>
            </a:r>
            <a:endParaRPr lang="en-US" sz="1030" dirty="0"/>
          </a:p>
        </p:txBody>
      </p:sp>
      <p:sp>
        <p:nvSpPr>
          <p:cNvPr id="36" name="Text 32"/>
          <p:cNvSpPr txBox="1"/>
          <p:nvPr/>
        </p:nvSpPr>
        <p:spPr>
          <a:xfrm>
            <a:off x="6470752" y="4608576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</a:t>
            </a:r>
            <a:endParaRPr lang="en-US" sz="980" dirty="0"/>
          </a:p>
        </p:txBody>
      </p:sp>
      <p:sp>
        <p:nvSpPr>
          <p:cNvPr id="37" name="Text 33"/>
          <p:cNvSpPr txBox="1"/>
          <p:nvPr/>
        </p:nvSpPr>
        <p:spPr>
          <a:xfrm>
            <a:off x="6470752" y="4846320"/>
            <a:ext cx="20237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Working capital · compra de milho no pico da colheita</a:t>
            </a:r>
            <a:endParaRPr lang="en-US" sz="1030" dirty="0"/>
          </a:p>
        </p:txBody>
      </p:sp>
      <p:sp>
        <p:nvSpPr>
          <p:cNvPr id="38" name="Shape 34"/>
          <p:cNvSpPr/>
          <p:nvPr/>
        </p:nvSpPr>
        <p:spPr>
          <a:xfrm>
            <a:off x="9006611" y="2212848"/>
            <a:ext cx="2499284" cy="3621024"/>
          </a:xfrm>
          <a:prstGeom prst="roundRect">
            <a:avLst>
              <a:gd name="adj" fmla="val 2561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9244355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9244355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41" name="Text 37"/>
          <p:cNvSpPr txBox="1"/>
          <p:nvPr/>
        </p:nvSpPr>
        <p:spPr>
          <a:xfrm>
            <a:off x="9244355" y="2670048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Wanbao Africa Agriculture</a:t>
            </a:r>
            <a:endParaRPr lang="en-US" sz="1300" dirty="0"/>
          </a:p>
        </p:txBody>
      </p:sp>
      <p:sp>
        <p:nvSpPr>
          <p:cNvPr id="42" name="Text 38"/>
          <p:cNvSpPr txBox="1"/>
          <p:nvPr/>
        </p:nvSpPr>
        <p:spPr>
          <a:xfrm>
            <a:off x="9244355" y="3218688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China-Africa Development Fund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9244355" y="3639312"/>
            <a:ext cx="2023796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244355" y="3749040"/>
            <a:ext cx="20237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16.000 t</a:t>
            </a:r>
            <a:endParaRPr lang="en-US" sz="2100" dirty="0"/>
          </a:p>
        </p:txBody>
      </p:sp>
      <p:sp>
        <p:nvSpPr>
          <p:cNvPr id="45" name="Text 41"/>
          <p:cNvSpPr txBox="1"/>
          <p:nvPr/>
        </p:nvSpPr>
        <p:spPr>
          <a:xfrm>
            <a:off x="9244355" y="4133088"/>
            <a:ext cx="2023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arroz por ano; 353 famílias produtoras integradas</a:t>
            </a:r>
            <a:endParaRPr lang="en-US" sz="1030" dirty="0"/>
          </a:p>
        </p:txBody>
      </p:sp>
      <p:sp>
        <p:nvSpPr>
          <p:cNvPr id="46" name="Text 42"/>
          <p:cNvSpPr txBox="1"/>
          <p:nvPr/>
        </p:nvSpPr>
        <p:spPr>
          <a:xfrm>
            <a:off x="9244355" y="4608576"/>
            <a:ext cx="20237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Xai-Xai, Gaza</a:t>
            </a:r>
            <a:endParaRPr lang="en-US" sz="980" dirty="0"/>
          </a:p>
        </p:txBody>
      </p:sp>
      <p:sp>
        <p:nvSpPr>
          <p:cNvPr id="47" name="Text 43"/>
          <p:cNvSpPr txBox="1"/>
          <p:nvPr/>
        </p:nvSpPr>
        <p:spPr>
          <a:xfrm>
            <a:off x="9244355" y="4846320"/>
            <a:ext cx="20237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Mecanização e rega · crédito por contrato · seguro de cheias</a:t>
            </a:r>
            <a:endParaRPr lang="en-US" sz="1030" dirty="0"/>
          </a:p>
        </p:txBody>
      </p:sp>
      <p:sp>
        <p:nvSpPr>
          <p:cNvPr id="48" name="Text 44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Merec Industries · Observatório do Meio Rural (OR-148) · SAIS-CARI e Xinhua (Wanbao).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FLORESTA, COCO E CHÁ · CAPITAL PACIENTE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Ciclos longos — mas a cadeia à volta é bancável já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Enquanto o activo principal amadurece em 7 a 20 anos, os contratantes, transportadores e serviços locais precisam de crédito agora.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5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68680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1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Portucel Moçambique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The Navigator Company · IFC detém ~20%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68680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356.000 ha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concessão; 14.000 ha plantados e US$120M investidos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Manica · Zambézia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Project finance · financiar contratantes e transportadores locais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2897368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080248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080248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3080248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Green Resources Moçambique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3080248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norueguês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3080248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080248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17.000 ha</a:t>
            </a:r>
            <a:endParaRPr lang="en-US" sz="1900" dirty="0"/>
          </a:p>
        </p:txBody>
      </p:sp>
      <p:sp>
        <p:nvSpPr>
          <p:cNvPr id="25" name="Text 21"/>
          <p:cNvSpPr txBox="1"/>
          <p:nvPr/>
        </p:nvSpPr>
        <p:spPr>
          <a:xfrm>
            <a:off x="3080248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plantados em sete distritos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3080248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Niassa</a:t>
            </a:r>
            <a:endParaRPr lang="en-US" sz="900" dirty="0"/>
          </a:p>
        </p:txBody>
      </p:sp>
      <p:sp>
        <p:nvSpPr>
          <p:cNvPr id="27" name="Text 23"/>
          <p:cNvSpPr txBox="1"/>
          <p:nvPr/>
        </p:nvSpPr>
        <p:spPr>
          <a:xfrm>
            <a:off x="3080248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Colheita e serração · asset finance florestal</a:t>
            </a:r>
            <a:endParaRPr lang="en-US" sz="950" dirty="0"/>
          </a:p>
        </p:txBody>
      </p:sp>
      <p:sp>
        <p:nvSpPr>
          <p:cNvPr id="28" name="Shape 24"/>
          <p:cNvSpPr/>
          <p:nvPr/>
        </p:nvSpPr>
        <p:spPr>
          <a:xfrm>
            <a:off x="5108936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5291816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91816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5291816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IFLOMA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291816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SAFCOL (África do Sul), desde 1977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5291816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291816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31.000 ha</a:t>
            </a:r>
            <a:endParaRPr lang="en-US" sz="1900" dirty="0"/>
          </a:p>
        </p:txBody>
      </p:sp>
      <p:sp>
        <p:nvSpPr>
          <p:cNvPr id="35" name="Text 31"/>
          <p:cNvSpPr txBox="1"/>
          <p:nvPr/>
        </p:nvSpPr>
        <p:spPr>
          <a:xfrm>
            <a:off x="5291816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DUAT, 16.275 ha plantáveis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5291816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Manica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5291816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Capex de serração · working capital · contratos locais</a:t>
            </a:r>
            <a:endParaRPr lang="en-US" sz="950" dirty="0"/>
          </a:p>
        </p:txBody>
      </p:sp>
      <p:sp>
        <p:nvSpPr>
          <p:cNvPr id="38" name="Shape 34"/>
          <p:cNvSpPr/>
          <p:nvPr/>
        </p:nvSpPr>
        <p:spPr>
          <a:xfrm>
            <a:off x="7320504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7503384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503384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41" name="Text 37"/>
          <p:cNvSpPr txBox="1"/>
          <p:nvPr/>
        </p:nvSpPr>
        <p:spPr>
          <a:xfrm>
            <a:off x="7503384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Grupo Madal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7503384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Família Bento, desde 1903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7503384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7503384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Maior</a:t>
            </a:r>
            <a:endParaRPr lang="en-US" sz="1900" dirty="0"/>
          </a:p>
        </p:txBody>
      </p:sp>
      <p:sp>
        <p:nvSpPr>
          <p:cNvPr id="45" name="Text 41"/>
          <p:cNvSpPr txBox="1"/>
          <p:nvPr/>
        </p:nvSpPr>
        <p:spPr>
          <a:xfrm>
            <a:off x="7503384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produtor de coco do país; também pecuária e hotelaria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503384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Zambézia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7503384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Banca de grupo · replantação de coqueiral · imobiliário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9532071" y="2212848"/>
            <a:ext cx="1973824" cy="3621024"/>
          </a:xfrm>
          <a:prstGeom prst="roundRect">
            <a:avLst>
              <a:gd name="adj" fmla="val 324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49" name="Shape 45"/>
          <p:cNvSpPr/>
          <p:nvPr/>
        </p:nvSpPr>
        <p:spPr>
          <a:xfrm>
            <a:off x="9714951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714951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3</a:t>
            </a:r>
            <a:endParaRPr lang="en-US" sz="800" dirty="0"/>
          </a:p>
        </p:txBody>
      </p:sp>
      <p:sp>
        <p:nvSpPr>
          <p:cNvPr id="51" name="Text 47"/>
          <p:cNvSpPr txBox="1"/>
          <p:nvPr/>
        </p:nvSpPr>
        <p:spPr>
          <a:xfrm>
            <a:off x="9714951" y="2670048"/>
            <a:ext cx="16080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Chá do Gurué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9714951" y="3218688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SDZ · Chá Magoma · Chazeiras de Moçambique</a:t>
            </a:r>
            <a:endParaRPr lang="en-US" sz="900" dirty="0"/>
          </a:p>
        </p:txBody>
      </p:sp>
      <p:sp>
        <p:nvSpPr>
          <p:cNvPr id="53" name="Shape 49"/>
          <p:cNvSpPr/>
          <p:nvPr/>
        </p:nvSpPr>
        <p:spPr>
          <a:xfrm>
            <a:off x="9714951" y="3639312"/>
            <a:ext cx="1608064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9714951" y="3749040"/>
            <a:ext cx="160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4.400 t</a:t>
            </a:r>
            <a:endParaRPr lang="en-US" sz="1900" dirty="0"/>
          </a:p>
        </p:txBody>
      </p:sp>
      <p:sp>
        <p:nvSpPr>
          <p:cNvPr id="55" name="Text 51"/>
          <p:cNvSpPr txBox="1"/>
          <p:nvPr/>
        </p:nvSpPr>
        <p:spPr>
          <a:xfrm>
            <a:off x="9714951" y="4133088"/>
            <a:ext cx="160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 folha verde previstas em 4.908 ha</a:t>
            </a:r>
            <a:endParaRPr lang="en-US" sz="950" dirty="0"/>
          </a:p>
        </p:txBody>
      </p:sp>
      <p:sp>
        <p:nvSpPr>
          <p:cNvPr id="56" name="Text 52"/>
          <p:cNvSpPr txBox="1"/>
          <p:nvPr/>
        </p:nvSpPr>
        <p:spPr>
          <a:xfrm>
            <a:off x="9714951" y="4608576"/>
            <a:ext cx="160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Gurué, Zambézia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714951" y="4846320"/>
            <a:ext cx="16080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Reabilitação de fábricas · campanha · folha sazonal</a:t>
            </a:r>
            <a:endParaRPr lang="en-US" sz="950" dirty="0"/>
          </a:p>
        </p:txBody>
      </p:sp>
      <p:sp>
        <p:nvSpPr>
          <p:cNvPr id="58" name="Text 54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The Navigator Company / Portucel Moçambique · Banco Mundial, The Plantation Forestry Sector in Mozambique · Rádio Moçambique.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INSUMOS, DISTRIBUIÇÃO E TRADING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canal de originação que já existe no terreno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Estas empresas não são só clientes: são a infra-estrutura através da qual o banco alcança milhares de contrapartes Tier 3.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9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12848"/>
            <a:ext cx="3362858" cy="3236976"/>
          </a:xfrm>
          <a:prstGeom prst="roundRect">
            <a:avLst>
              <a:gd name="adj" fmla="val 1977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80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670048"/>
            <a:ext cx="28873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AQI — ex-Casa do Agricultor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218688"/>
            <a:ext cx="288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 · 14 lojas e mais de 100 colaboradores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923544" y="3639312"/>
            <a:ext cx="2887370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23544" y="3749040"/>
            <a:ext cx="288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250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923544" y="4133088"/>
            <a:ext cx="2887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agro-dealers em rede nacional, com expansão para Cabo Delgado</a:t>
            </a:r>
            <a:endParaRPr lang="en-US" sz="1030" dirty="0"/>
          </a:p>
        </p:txBody>
      </p:sp>
      <p:sp>
        <p:nvSpPr>
          <p:cNvPr id="16" name="Text 12"/>
          <p:cNvSpPr txBox="1"/>
          <p:nvPr/>
        </p:nvSpPr>
        <p:spPr>
          <a:xfrm>
            <a:off x="923544" y="4608576"/>
            <a:ext cx="28873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Cobertura nacional</a:t>
            </a:r>
            <a:endParaRPr lang="en-US" sz="980" dirty="0"/>
          </a:p>
        </p:txBody>
      </p:sp>
      <p:sp>
        <p:nvSpPr>
          <p:cNvPr id="17" name="Text 13"/>
          <p:cNvSpPr txBox="1"/>
          <p:nvPr/>
        </p:nvSpPr>
        <p:spPr>
          <a:xfrm>
            <a:off x="923544" y="4846320"/>
            <a:ext cx="2887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Floor plan ao agro-dealer · POS · canal de originação</a:t>
            </a:r>
            <a:endParaRPr lang="en-US" sz="1030" dirty="0"/>
          </a:p>
        </p:txBody>
      </p:sp>
      <p:sp>
        <p:nvSpPr>
          <p:cNvPr id="18" name="Shape 14"/>
          <p:cNvSpPr/>
          <p:nvPr/>
        </p:nvSpPr>
        <p:spPr>
          <a:xfrm>
            <a:off x="4414418" y="2212848"/>
            <a:ext cx="3362858" cy="3236976"/>
          </a:xfrm>
          <a:prstGeom prst="roundRect">
            <a:avLst>
              <a:gd name="adj" fmla="val 1977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652162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652162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1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652162" y="2670048"/>
            <a:ext cx="28873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ETG — Export Trading Group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652162" y="3218688"/>
            <a:ext cx="288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Multinacional; domina com a Olam o sésamo, feijão-boer e caju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4652162" y="3639312"/>
            <a:ext cx="2887370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652162" y="3749040"/>
            <a:ext cx="288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Beira e Nacala</a:t>
            </a:r>
            <a:endParaRPr lang="en-US" sz="2400" dirty="0"/>
          </a:p>
        </p:txBody>
      </p:sp>
      <p:sp>
        <p:nvSpPr>
          <p:cNvPr id="25" name="Text 21"/>
          <p:cNvSpPr txBox="1"/>
          <p:nvPr/>
        </p:nvSpPr>
        <p:spPr>
          <a:xfrm>
            <a:off x="4652162" y="4133088"/>
            <a:ext cx="2887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portos de saída para a Índia, China, Indonésia e Vietname</a:t>
            </a:r>
            <a:endParaRPr lang="en-US" sz="1030" dirty="0"/>
          </a:p>
        </p:txBody>
      </p:sp>
      <p:sp>
        <p:nvSpPr>
          <p:cNvPr id="26" name="Text 22"/>
          <p:cNvSpPr txBox="1"/>
          <p:nvPr/>
        </p:nvSpPr>
        <p:spPr>
          <a:xfrm>
            <a:off x="4652162" y="4608576"/>
            <a:ext cx="28873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Norte e centro</a:t>
            </a:r>
            <a:endParaRPr lang="en-US" sz="980" dirty="0"/>
          </a:p>
        </p:txBody>
      </p:sp>
      <p:sp>
        <p:nvSpPr>
          <p:cNvPr id="27" name="Text 23"/>
          <p:cNvSpPr txBox="1"/>
          <p:nvPr/>
        </p:nvSpPr>
        <p:spPr>
          <a:xfrm>
            <a:off x="4652162" y="4846320"/>
            <a:ext cx="2887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Structured commodity finance · agregação em campo · FX</a:t>
            </a:r>
            <a:endParaRPr lang="en-US" sz="1030" dirty="0"/>
          </a:p>
        </p:txBody>
      </p:sp>
      <p:sp>
        <p:nvSpPr>
          <p:cNvPr id="28" name="Shape 24"/>
          <p:cNvSpPr/>
          <p:nvPr/>
        </p:nvSpPr>
        <p:spPr>
          <a:xfrm>
            <a:off x="8143037" y="2212848"/>
            <a:ext cx="3362858" cy="3236976"/>
          </a:xfrm>
          <a:prstGeom prst="roundRect">
            <a:avLst>
              <a:gd name="adj" fmla="val 1977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380781" y="2377440"/>
            <a:ext cx="658368" cy="219456"/>
          </a:xfrm>
          <a:prstGeom prst="roundRect">
            <a:avLst>
              <a:gd name="adj" fmla="val 54167"/>
            </a:avLst>
          </a:prstGeom>
          <a:solidFill>
            <a:srgbClr val="BDB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380781" y="23774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3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8380781" y="2670048"/>
            <a:ext cx="28873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Agrifocus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8380781" y="3218688"/>
            <a:ext cx="288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privado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8380781" y="3639312"/>
            <a:ext cx="2887370" cy="10973"/>
          </a:xfrm>
          <a:prstGeom prst="rect">
            <a:avLst/>
          </a:prstGeom>
          <a:solidFill>
            <a:srgbClr val="E6E6E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380781" y="3749040"/>
            <a:ext cx="2887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Insumos</a:t>
            </a:r>
            <a:endParaRPr lang="en-US" sz="2400" dirty="0"/>
          </a:p>
        </p:txBody>
      </p:sp>
      <p:sp>
        <p:nvSpPr>
          <p:cNvPr id="35" name="Text 31"/>
          <p:cNvSpPr txBox="1"/>
          <p:nvPr/>
        </p:nvSpPr>
        <p:spPr>
          <a:xfrm>
            <a:off x="8380781" y="4133088"/>
            <a:ext cx="2887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distribuição de insumos e equipamento agrícola</a:t>
            </a:r>
            <a:endParaRPr lang="en-US" sz="1030" dirty="0"/>
          </a:p>
        </p:txBody>
      </p:sp>
      <p:sp>
        <p:nvSpPr>
          <p:cNvPr id="36" name="Text 32"/>
          <p:cNvSpPr txBox="1"/>
          <p:nvPr/>
        </p:nvSpPr>
        <p:spPr>
          <a:xfrm>
            <a:off x="8380781" y="4608576"/>
            <a:ext cx="28873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i="1" dirty="0">
                <a:solidFill>
                  <a:srgbClr val="8E878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Maputo e nacional</a:t>
            </a:r>
            <a:endParaRPr lang="en-US" sz="980" dirty="0"/>
          </a:p>
        </p:txBody>
      </p:sp>
      <p:sp>
        <p:nvSpPr>
          <p:cNvPr id="37" name="Text 33"/>
          <p:cNvSpPr txBox="1"/>
          <p:nvPr/>
        </p:nvSpPr>
        <p:spPr>
          <a:xfrm>
            <a:off x="8380781" y="4846320"/>
            <a:ext cx="28873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3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stock · leasing de equipamento ao cliente final</a:t>
            </a:r>
            <a:endParaRPr lang="en-US" sz="1030" dirty="0"/>
          </a:p>
        </p:txBody>
      </p:sp>
      <p:sp>
        <p:nvSpPr>
          <p:cNvPr id="38" name="Shape 34"/>
          <p:cNvSpPr/>
          <p:nvPr/>
        </p:nvSpPr>
        <p:spPr>
          <a:xfrm>
            <a:off x="685800" y="5596128"/>
            <a:ext cx="10820095" cy="530352"/>
          </a:xfrm>
          <a:prstGeom prst="roundRect">
            <a:avLst>
              <a:gd name="adj" fmla="val 10345"/>
            </a:avLst>
          </a:prstGeom>
          <a:solidFill>
            <a:srgbClr val="FBEE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60120" y="5596128"/>
            <a:ext cx="102714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B0002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Nota de risco —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ETG: litígio de US$60 milhões com o Royal Group sobre feijão-boer, com apreensão de mercadoria. Qualquer estrutura sobre commodities desta contraparte exige collateral management independente e verificação de título.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Fontes: Club of Mozambique (rebranding AQI) · ETG · Feed the Future Inova · 360 Mozambique.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COMO ORGANIZAMOS A CARTEIRA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Segmentação de cobertura e tese de originação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Três tiers, três equipas, um mesmo mapa de contrapartes.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16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157984"/>
            <a:ext cx="3350666" cy="2926080"/>
          </a:xfrm>
          <a:prstGeom prst="roundRect">
            <a:avLst>
              <a:gd name="adj" fmla="val 2188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41832" y="2359152"/>
            <a:ext cx="877824" cy="274320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41832" y="2359152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1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941832" y="2743200"/>
            <a:ext cx="28386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Âncoras — Banca Corporativa e de Investimento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941832" y="3438144"/>
            <a:ext cx="283860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C4BCB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Xinavane · Mafambisse · Sena · Maragra · Mozambique Leaf Tobacco · Portucel · Merec · CIM · Olam Agri · ETG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41832" y="4608576"/>
            <a:ext cx="28386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Structured finance · câmbio · trade · cash management de grupo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420514" y="2157984"/>
            <a:ext cx="3350666" cy="2926080"/>
          </a:xfrm>
          <a:prstGeom prst="roundRect">
            <a:avLst>
              <a:gd name="adj" fmla="val 2188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76546" y="2359152"/>
            <a:ext cx="877824" cy="274320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76546" y="2359152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2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4676546" y="2743200"/>
            <a:ext cx="28386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Corporate e Empresas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4676546" y="3438144"/>
            <a:ext cx="283860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JFS · Mozaco · Higest · Abílio Antunes · Novos Horizontes · Bananalândia · Jacaranda · Vanduzi · SANAM · SAM · SAN · Plexus · Condor · Pembe · Wanbao · Green Resources · IFLOMA · Madal · AQI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676546" y="4608576"/>
            <a:ext cx="28386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 · asset finance · cobranças · seguro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8155229" y="2157984"/>
            <a:ext cx="3350666" cy="2926080"/>
          </a:xfrm>
          <a:prstGeom prst="roundRect">
            <a:avLst>
              <a:gd name="adj" fmla="val 2188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411261" y="2359152"/>
            <a:ext cx="877824" cy="274320"/>
          </a:xfrm>
          <a:prstGeom prst="roundRect">
            <a:avLst>
              <a:gd name="adj" fmla="val 50000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411261" y="2359152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TIER 3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8411261" y="2743200"/>
            <a:ext cx="283860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PME agrícola e cadeia — Banca de Negócios, com FINOVA e a garantia DFC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8411261" y="3438144"/>
            <a:ext cx="283860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Outgrowers das âncoras · os 250 agro-dealers da AQI · transportadores · prestadores de mecanização · processadoras de caju em reestruturação · as 74.706 explorações médias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8411261" y="4608576"/>
            <a:ext cx="28386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Conta · pagamentos digitais · microcrédito de insumos sob contrato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85800" y="5266944"/>
            <a:ext cx="10820095" cy="585216"/>
          </a:xfrm>
          <a:prstGeom prst="roundRect">
            <a:avLst>
              <a:gd name="adj" fmla="val 9375"/>
            </a:avLst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14984" y="5266944"/>
            <a:ext cx="101617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Cada empresa Tier 1 é uma porta de entrada para centenas de contrapartes Tier 3. Bancarizar a âncora dá-nos o fluxo; bancarizar a cadeia dá-nos a carteira.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OFERTA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Suite de soluções: do insumo ao pagamento final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 mesma matriz de sempre — agora com o FINOVA e a garantia DFC por trás do preço e do risco.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1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17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31136"/>
            <a:ext cx="10820095" cy="365760"/>
          </a:xfrm>
          <a:prstGeom prst="rect">
            <a:avLst/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68680" y="2231136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NECESSIDADE DO CLIENTE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2311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SOLUÇÃO ABSA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2231136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VALOR PARA O SEU NEGÓCIO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85800" y="2596896"/>
            <a:ext cx="10820095" cy="603504"/>
          </a:xfrm>
          <a:prstGeom prst="rect">
            <a:avLst/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633472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Insumos sazonais e capital de exploração</a:t>
            </a:r>
            <a:endParaRPr lang="en-US" sz="1080" dirty="0"/>
          </a:p>
        </p:txBody>
      </p:sp>
      <p:sp>
        <p:nvSpPr>
          <p:cNvPr id="14" name="Text 10"/>
          <p:cNvSpPr txBox="1"/>
          <p:nvPr/>
        </p:nvSpPr>
        <p:spPr>
          <a:xfrm>
            <a:off x="4114800" y="2633472"/>
            <a:ext cx="4151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Crédito agrícola alinhado ao caixa, descoberto e financiamento por ordem de compra, com FINOVA onde for elegível</a:t>
            </a:r>
            <a:endParaRPr lang="en-US" sz="108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2633472"/>
            <a:ext cx="2761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certo quando os custos chegam antes das vendas</a:t>
            </a:r>
            <a:endParaRPr lang="en-US" sz="1080" dirty="0"/>
          </a:p>
        </p:txBody>
      </p:sp>
      <p:sp>
        <p:nvSpPr>
          <p:cNvPr id="16" name="Text 12"/>
          <p:cNvSpPr txBox="1"/>
          <p:nvPr/>
        </p:nvSpPr>
        <p:spPr>
          <a:xfrm>
            <a:off x="868680" y="3236976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Equipamentos e activos climáticos inteligentes</a:t>
            </a:r>
            <a:endParaRPr lang="en-US" sz="1080" dirty="0"/>
          </a:p>
        </p:txBody>
      </p:sp>
      <p:sp>
        <p:nvSpPr>
          <p:cNvPr id="17" name="Text 13"/>
          <p:cNvSpPr txBox="1"/>
          <p:nvPr/>
        </p:nvSpPr>
        <p:spPr>
          <a:xfrm>
            <a:off x="4114800" y="3236976"/>
            <a:ext cx="4151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Financiamento de activos, financiamento verde e apoio à irrigação solar</a:t>
            </a:r>
            <a:endParaRPr lang="en-US" sz="1080" dirty="0"/>
          </a:p>
        </p:txBody>
      </p:sp>
      <p:sp>
        <p:nvSpPr>
          <p:cNvPr id="18" name="Text 14"/>
          <p:cNvSpPr txBox="1"/>
          <p:nvPr/>
        </p:nvSpPr>
        <p:spPr>
          <a:xfrm>
            <a:off x="8595360" y="3236976"/>
            <a:ext cx="2761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Mais produtividade e resiliência ao choque climático</a:t>
            </a:r>
            <a:endParaRPr lang="en-US" sz="1080" dirty="0"/>
          </a:p>
        </p:txBody>
      </p:sp>
      <p:sp>
        <p:nvSpPr>
          <p:cNvPr id="19" name="Shape 15"/>
          <p:cNvSpPr/>
          <p:nvPr/>
        </p:nvSpPr>
        <p:spPr>
          <a:xfrm>
            <a:off x="685800" y="3803904"/>
            <a:ext cx="10820095" cy="603504"/>
          </a:xfrm>
          <a:prstGeom prst="rect">
            <a:avLst/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8680" y="3840480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Comércio, importações e exportações</a:t>
            </a:r>
            <a:endParaRPr lang="en-US" sz="1080" dirty="0"/>
          </a:p>
        </p:txBody>
      </p:sp>
      <p:sp>
        <p:nvSpPr>
          <p:cNvPr id="21" name="Text 17"/>
          <p:cNvSpPr txBox="1"/>
          <p:nvPr/>
        </p:nvSpPr>
        <p:spPr>
          <a:xfrm>
            <a:off x="4114800" y="3840480"/>
            <a:ext cx="4151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Trade finance, câmbio, contas multimoeda e transferências internacionais</a:t>
            </a:r>
            <a:endParaRPr lang="en-US" sz="1080" dirty="0"/>
          </a:p>
        </p:txBody>
      </p:sp>
      <p:sp>
        <p:nvSpPr>
          <p:cNvPr id="22" name="Text 18"/>
          <p:cNvSpPr txBox="1"/>
          <p:nvPr/>
        </p:nvSpPr>
        <p:spPr>
          <a:xfrm>
            <a:off x="8595360" y="3840480"/>
            <a:ext cx="2761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Liquidar fluxos transfronteiriços com previsibilidade</a:t>
            </a:r>
            <a:endParaRPr lang="en-US" sz="108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4443984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Cobranças e pagamentos</a:t>
            </a:r>
            <a:endParaRPr lang="en-US" sz="1080" dirty="0"/>
          </a:p>
        </p:txBody>
      </p:sp>
      <p:sp>
        <p:nvSpPr>
          <p:cNvPr id="24" name="Text 20"/>
          <p:cNvSpPr txBox="1"/>
          <p:nvPr/>
        </p:nvSpPr>
        <p:spPr>
          <a:xfrm>
            <a:off x="4114800" y="4443984"/>
            <a:ext cx="4151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Access, banca electrónica, aceitação móvel e agência bancária</a:t>
            </a:r>
            <a:endParaRPr lang="en-US" sz="1080" dirty="0"/>
          </a:p>
        </p:txBody>
      </p:sp>
      <p:sp>
        <p:nvSpPr>
          <p:cNvPr id="25" name="Text 21"/>
          <p:cNvSpPr txBox="1"/>
          <p:nvPr/>
        </p:nvSpPr>
        <p:spPr>
          <a:xfrm>
            <a:off x="8595360" y="4443984"/>
            <a:ext cx="2761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Menos numerário no terreno e reconciliação mais rápida</a:t>
            </a:r>
            <a:endParaRPr lang="en-US" sz="1080" dirty="0"/>
          </a:p>
        </p:txBody>
      </p:sp>
      <p:sp>
        <p:nvSpPr>
          <p:cNvPr id="26" name="Shape 22"/>
          <p:cNvSpPr/>
          <p:nvPr/>
        </p:nvSpPr>
        <p:spPr>
          <a:xfrm>
            <a:off x="685800" y="5010912"/>
            <a:ext cx="10820095" cy="603504"/>
          </a:xfrm>
          <a:prstGeom prst="rect">
            <a:avLst/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68680" y="5047488"/>
            <a:ext cx="2916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Risco, aconselhamento e crescimento</a:t>
            </a:r>
            <a:endParaRPr lang="en-US" sz="1080" dirty="0"/>
          </a:p>
        </p:txBody>
      </p:sp>
      <p:sp>
        <p:nvSpPr>
          <p:cNvPr id="28" name="Text 24"/>
          <p:cNvSpPr txBox="1"/>
          <p:nvPr/>
        </p:nvSpPr>
        <p:spPr>
          <a:xfrm>
            <a:off x="4114800" y="5047488"/>
            <a:ext cx="41513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Seguros empresariais, especialistas agro, garantias parceiras e Business Club</a:t>
            </a:r>
            <a:endParaRPr lang="en-US" sz="1080" dirty="0"/>
          </a:p>
        </p:txBody>
      </p:sp>
      <p:sp>
        <p:nvSpPr>
          <p:cNvPr id="29" name="Text 25"/>
          <p:cNvSpPr txBox="1"/>
          <p:nvPr/>
        </p:nvSpPr>
        <p:spPr>
          <a:xfrm>
            <a:off x="8595360" y="5047488"/>
            <a:ext cx="27614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Proteger margens e decidir melhor no ciclo seguinte</a:t>
            </a:r>
            <a:endParaRPr lang="en-US" sz="1080" dirty="0"/>
          </a:p>
        </p:txBody>
      </p:sp>
      <p:sp>
        <p:nvSpPr>
          <p:cNvPr id="30" name="Text 26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facilidades de crédito estão sujeitas a elegibilidade, avaliação de crédito, documentação e requisitos regulamentares.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 MODELO DE RISCO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78638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Acesso com disciplina: crescer sem abrir a guarda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Quatro movimentos que deslocam a decisão da garantia real para o fluxo de caixa.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6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96528" y="420624"/>
            <a:ext cx="2706624" cy="1517904"/>
          </a:xfrm>
          <a:prstGeom prst="rect">
            <a:avLst/>
          </a:prstGeom>
        </p:spPr>
      </p:pic>
      <p:pic>
        <p:nvPicPr>
          <p:cNvPr id="6" name="Image 1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685800" y="2231136"/>
            <a:ext cx="2499284" cy="2212848"/>
          </a:xfrm>
          <a:prstGeom prst="roundRect">
            <a:avLst>
              <a:gd name="adj" fmla="val 289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23544" y="2432304"/>
            <a:ext cx="402336" cy="40233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23544" y="24323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23544" y="2962656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Ancorar a procura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923544" y="3529584"/>
            <a:ext cx="20237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Usar os contratos de compra das empresas âncora — MLT, SANAM, Higest, Merec — como prova de acesso ao mercado.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459404" y="2231136"/>
            <a:ext cx="2499284" cy="2212848"/>
          </a:xfrm>
          <a:prstGeom prst="roundRect">
            <a:avLst>
              <a:gd name="adj" fmla="val 289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697148" y="2432304"/>
            <a:ext cx="402336" cy="40233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97148" y="24323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697148" y="2962656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Alinhar o fluxo de caixa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697148" y="3529584"/>
            <a:ext cx="20237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Estruturar o reembolso sobre o ciclo da cultura e o calendário de venda previsto.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233008" y="2231136"/>
            <a:ext cx="2499284" cy="2212848"/>
          </a:xfrm>
          <a:prstGeom prst="roundRect">
            <a:avLst>
              <a:gd name="adj" fmla="val 289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70752" y="2432304"/>
            <a:ext cx="402336" cy="40233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70752" y="24323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6470752" y="2962656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Digitalizar o registo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470752" y="3529584"/>
            <a:ext cx="20237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Transformar históricos de cobranças e pagamentos em visibilidade de crédito.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9006611" y="2231136"/>
            <a:ext cx="2499284" cy="2212848"/>
          </a:xfrm>
          <a:prstGeom prst="roundRect">
            <a:avLst>
              <a:gd name="adj" fmla="val 2893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9244355" y="2432304"/>
            <a:ext cx="402336" cy="40233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244355" y="24323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244355" y="2962656"/>
            <a:ext cx="20237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Proteger contra riscos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9244355" y="3529584"/>
            <a:ext cx="20237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Combinar seguro agrícola, a garantia DFC e a monitoria de parceiros.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685800" y="4718304"/>
            <a:ext cx="10820095" cy="621792"/>
          </a:xfrm>
          <a:prstGeom prst="roundRect">
            <a:avLst>
              <a:gd name="adj" fmla="val 8824"/>
            </a:avLst>
          </a:prstGeom>
          <a:solidFill>
            <a:srgbClr val="3A35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14984" y="4718304"/>
            <a:ext cx="101617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Acesso mais transparente ao financiamento, sustentado por registos mais fortes e protecções reais contra os choques da agricultura.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1856232" y="6309360"/>
            <a:ext cx="8899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As facilidades de crédito estão sujeitas a elegibilidade, avaliação de crédito, documentação e requisitos regulamentares.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A35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omo/176296df-944e-550c-879f-516f4be80ca0/scratchpad/unpacked/ppt/media/image5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10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858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PRÓXIMO PASSO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887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Vamos financiar juntos a próxima época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56816"/>
            <a:ext cx="8778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EDE7E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Uma sessão de trabalho transforma o calendário agrícola do cliente num plano de financiamento, pagamentos e protecção.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85800" y="2743200"/>
            <a:ext cx="2499284" cy="2084832"/>
          </a:xfrm>
          <a:prstGeom prst="roundRect">
            <a:avLst>
              <a:gd name="adj" fmla="val 3070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23544" y="2944368"/>
            <a:ext cx="402336" cy="40233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23544" y="2944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23544" y="3456432"/>
            <a:ext cx="20237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Mapear o plano sazonal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923544" y="4133088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4A444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Cultura, insumos, mão de obra, colheita e calendário de compradores.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459404" y="2743200"/>
            <a:ext cx="2499284" cy="2084832"/>
          </a:xfrm>
          <a:prstGeom prst="roundRect">
            <a:avLst>
              <a:gd name="adj" fmla="val 3070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97148" y="2944368"/>
            <a:ext cx="402336" cy="40233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97148" y="2944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697148" y="3456432"/>
            <a:ext cx="20237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Estruturar financiamento e pagamentos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697148" y="4133088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4A444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Capital de exploração, activos e canais digitais, com FINOVA onde for elegível.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33008" y="2743200"/>
            <a:ext cx="2499284" cy="2084832"/>
          </a:xfrm>
          <a:prstGeom prst="roundRect">
            <a:avLst>
              <a:gd name="adj" fmla="val 3070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70752" y="2944368"/>
            <a:ext cx="402336" cy="40233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70752" y="2944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70752" y="3456432"/>
            <a:ext cx="20237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Ligar as protecções de risco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6470752" y="4133088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4A444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Seguros, garantias, parceiros de monitoria e consultoria agro.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006611" y="2743200"/>
            <a:ext cx="2499284" cy="2084832"/>
          </a:xfrm>
          <a:prstGeom prst="roundRect">
            <a:avLst>
              <a:gd name="adj" fmla="val 3070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244355" y="2944368"/>
            <a:ext cx="402336" cy="402336"/>
          </a:xfrm>
          <a:prstGeom prst="ellipse">
            <a:avLst/>
          </a:prstGeom>
          <a:solidFill>
            <a:srgbClr val="DC00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44355" y="2944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9244355" y="3456432"/>
            <a:ext cx="20237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Rever, reinvestir e crescer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9244355" y="4133088"/>
            <a:ext cx="20237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4A444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Desempenho pós-colheita e planeamento do ciclo seguinte.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513892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Absa Bank Moçambique  ·  Banca de Negócios e Banca Corporativa e de Investimento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544982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4BCB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Sujeito à aprovação de crédito e aos termos padrão.</a:t>
            </a:r>
            <a:endParaRPr lang="en-US" sz="950" dirty="0"/>
          </a:p>
        </p:txBody>
      </p:sp>
      <p:pic>
        <p:nvPicPr>
          <p:cNvPr id="29" name="Image 1" descr="/tmp/claude-0/-home-user-momo/176296df-944e-550c-879f-516f4be80ca0/scratchpad/unpacked/ppt/media/image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27" y="6016752"/>
            <a:ext cx="1572768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C003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METODOLOGIA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94944"/>
            <a:ext cx="10820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Fontes e avisos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66420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Todos os dados de empresas e de mercado provêm de fontes públicas consultadas em 2026.</a:t>
            </a:r>
            <a:endParaRPr lang="en-US" sz="1350" dirty="0"/>
          </a:p>
        </p:txBody>
      </p:sp>
      <p:pic>
        <p:nvPicPr>
          <p:cNvPr id="5" name="Image 0" descr="/tmp/claude-0/-home-user-momo/176296df-944e-550c-879f-516f4be80ca0/scratchpad/unpacked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291072"/>
            <a:ext cx="987552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57255" y="63550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494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194560"/>
            <a:ext cx="3350666" cy="2487168"/>
          </a:xfrm>
          <a:prstGeom prst="roundRect">
            <a:avLst>
              <a:gd name="adj" fmla="val 2574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41832" y="2395728"/>
            <a:ext cx="28386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Oficiais e estatísticas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41832" y="2852928"/>
            <a:ext cx="283860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Banco de Moçambique — crédito por finalidade, Relatório de Inclusão Financeira 2025 e projecto FINOVA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INE e Ministério da Agricultura, Ambiente e Pescas — Inquérito Agrário Integrado 2023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Instituto do Algodão e Oleaginosas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Instituto de Cereais de Moçambique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IGEPE · Autoridade Reguladora da Concorrência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420514" y="2194560"/>
            <a:ext cx="3350666" cy="2487168"/>
          </a:xfrm>
          <a:prstGeom prst="roundRect">
            <a:avLst>
              <a:gd name="adj" fmla="val 2574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76546" y="2395728"/>
            <a:ext cx="28386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Investigação e desenvolvimento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676546" y="2852928"/>
            <a:ext cx="283860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UNU-WIDER / IGM — Desenvolvimento Agrário em Moçambique (2025)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Observatório do Meio Rural — Crédito Interno ao Sector Agrário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IGC / MEF — Cadeia de Valor do Frango em Moçambique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Banco Mundial — The Plantation Forestry Sector in Mozambique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U.S. DFC · Feed the Future Inova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155229" y="2194560"/>
            <a:ext cx="3350666" cy="2487168"/>
          </a:xfrm>
          <a:prstGeom prst="roundRect">
            <a:avLst>
              <a:gd name="adj" fmla="val 2574"/>
            </a:avLst>
          </a:prstGeom>
          <a:solidFill>
            <a:srgbClr val="F8F8F8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411261" y="2395728"/>
            <a:ext cx="283860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3A3535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Imprensa e empresas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8411261" y="2852928"/>
            <a:ext cx="2838602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AIM · Club of Mozambique · Sugaronline · FurtherAfrica · Diário Económico · Rádio Moçambique · Food Business Africa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Sítios institucionais: Universal Corporation, Tongaat Hulett, Illovo Sugar Africa, The Navigator Company, Merec, Higest, Novos Horizontes, JFS, ETG e Vanduzi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85800" y="4864608"/>
            <a:ext cx="10820095" cy="877824"/>
          </a:xfrm>
          <a:prstGeom prst="roundRect">
            <a:avLst>
              <a:gd name="adj" fmla="val 6250"/>
            </a:avLst>
          </a:prstGeom>
          <a:solidFill>
            <a:srgbClr val="FBEE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4864608"/>
            <a:ext cx="102714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B0002C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Aviso — </a:t>
            </a:r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5D5757"/>
                </a:solidFill>
                <a:latin typeface="Brave Sans" pitchFamily="34" charset="0"/>
                <a:ea typeface="Brave Sans" pitchFamily="34" charset="-122"/>
                <a:cs typeface="Brave Sans" pitchFamily="34" charset="-120"/>
              </a:rPr>
              <a:t>Escala e volumes referem-se ao exercício mais recente publicado por cada fonte e podem divergir do desempenho corrente. As facilidades de crédito estão sujeitas a elegibilidade, avaliação de crédito, documentação e requisitos regulamentares. Material de orientação comercial interna: não constitui aconselhamento de investimento nem recomendação sobre qualquer contraparte nomeada.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Absa Bank Moçambique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CVP Agronegócios · Moçambique 2026</dc:title>
  <dc:subject>PptxGenJS Presentation</dc:subject>
  <dc:creator>Absa Bank Moçambique</dc:creator>
  <cp:lastModifiedBy>Absa Bank Moçambique</cp:lastModifiedBy>
  <cp:revision>1</cp:revision>
  <dcterms:created xsi:type="dcterms:W3CDTF">2026-09-07T16:05:05Z</dcterms:created>
  <dcterms:modified xsi:type="dcterms:W3CDTF">2026-09-07T16:05:05Z</dcterms:modified>
</cp:coreProperties>
</file>