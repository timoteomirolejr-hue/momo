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Documento comercial interno. Actualiza o CVP anterior com dados de 2025/26 e nomeia as contrapartes concretas do sector.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9E1B32"/>
          </a:solidFill>
          <a:ln/>
        </p:spPr>
      </p:sp>
      <p:sp>
        <p:nvSpPr>
          <p:cNvPr id="3" name="Shape 1"/>
          <p:cNvSpPr/>
          <p:nvPr/>
        </p:nvSpPr>
        <p:spPr>
          <a:xfrm>
            <a:off x="-1737360" y="3931920"/>
            <a:ext cx="4206240" cy="4206240"/>
          </a:xfrm>
          <a:prstGeom prst="ellipse">
            <a:avLst/>
          </a:prstGeom>
          <a:solidFill>
            <a:srgbClr val="F533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663440" y="16916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ABSA BANK MOÇAMBIQUE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2029968"/>
            <a:ext cx="6949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CVP Agronegócios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283464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9C4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Moçambique · 2026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3584448"/>
            <a:ext cx="6583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B4A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Financiamento, pagamentos, protecção e acesso ao mercado — desenhados à volta da época agrícola, não do produto.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4370832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 o mapa das 30 maiores empresas do agronegócio moçambicano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oportunidade de negócio que cada uma representa para o banco.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539496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 de Negócios  ·  Banca Corporativa e de Investimento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TESE COMERCIAL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desalinhamento que define a oportunidade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falta procura ao sector. Falta estruturação — e é aí que o CVP actua.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2513000" cy="1874520"/>
          </a:xfrm>
          <a:prstGeom prst="roundRect">
            <a:avLst>
              <a:gd name="adj" fmla="val 3902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05256" y="2286000"/>
            <a:ext cx="2074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23%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905256" y="3017520"/>
            <a:ext cx="2074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PIB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3383280"/>
            <a:ext cx="2074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agricultura ocupa 75,4% da força de trabalho do país.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54832" y="2084832"/>
            <a:ext cx="2513000" cy="1874520"/>
          </a:xfrm>
          <a:prstGeom prst="roundRect">
            <a:avLst>
              <a:gd name="adj" fmla="val 3902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74288" y="2286000"/>
            <a:ext cx="2074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~70%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3674288" y="3017520"/>
            <a:ext cx="2074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população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3674288" y="3383280"/>
            <a:ext cx="2074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directamente da agricultura para o seu sustento.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23864" y="2084832"/>
            <a:ext cx="2513000" cy="1874520"/>
          </a:xfrm>
          <a:prstGeom prst="roundRect">
            <a:avLst>
              <a:gd name="adj" fmla="val 3902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43320" y="2286000"/>
            <a:ext cx="2074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2–6%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6443320" y="3017520"/>
            <a:ext cx="2074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carteira de crédito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43320" y="3383280"/>
            <a:ext cx="2074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tudo o que a maioria dos bancos moçambicanos aloca ao sector.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92895" y="2084832"/>
            <a:ext cx="2513000" cy="1874520"/>
          </a:xfrm>
          <a:prstGeom prst="roundRect">
            <a:avLst>
              <a:gd name="adj" fmla="val 3902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212351" y="2286000"/>
            <a:ext cx="2074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4,5M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9212351" y="3017520"/>
            <a:ext cx="2074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explorações agrícolas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212351" y="3383280"/>
            <a:ext cx="20740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Inquérito Agrário Integrado 2023 — de familiares a comerciais.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85800" y="4261104"/>
            <a:ext cx="10820095" cy="1170432"/>
          </a:xfrm>
          <a:prstGeom prst="roundRect">
            <a:avLst>
              <a:gd name="adj" fmla="val 6250"/>
            </a:avLst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996696" y="4443984"/>
            <a:ext cx="1019830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23% da economia. 2–6% do crédito.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96696" y="4864608"/>
            <a:ext cx="101983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8D4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banco mais exposto declara 12%; um caso excepcional chega a 25%. Fechar esta distância — com estrutura, não com apetite cego — é o objectivo comercial deste CVP.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345936"/>
            <a:ext cx="10088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UNU-WIDER / IGM (2025); Observatório do Meio Rural, Crédito Interno ao Sector Agrário; Banco de Moçambique; INE / IAI 2023.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INQUÉRITO AGRÁRIO INTEGRADO 2023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real do sector agrário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segmentos, três propostas de valor distintas — e um só relacionamento bancário.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103120"/>
            <a:ext cx="3350666" cy="2395728"/>
          </a:xfrm>
          <a:prstGeom prst="roundRect">
            <a:avLst>
              <a:gd name="adj" fmla="val 3053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5256" y="2304288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5256" y="230428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2670048"/>
            <a:ext cx="291175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4.383.460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3401568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explorações pequenas · 98,3%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05256" y="3767328"/>
            <a:ext cx="29117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Servidas através das cadeias das empresas âncora e da rede de agro-dealers. Produto: pagamentos digitais, conta, microcrédito de insumos sob contrato.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420514" y="2103120"/>
            <a:ext cx="3350666" cy="2395728"/>
          </a:xfrm>
          <a:prstGeom prst="roundRect">
            <a:avLst>
              <a:gd name="adj" fmla="val 3053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39970" y="2304288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F5333F"/>
          </a:solidFill>
          <a:ln w="12700">
            <a:solidFill>
              <a:srgbClr val="F533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39970" y="230428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639970" y="2670048"/>
            <a:ext cx="291175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74.706</a:t>
            </a:r>
            <a:endParaRPr lang="en-US" sz="3400" dirty="0"/>
          </a:p>
        </p:txBody>
      </p:sp>
      <p:sp>
        <p:nvSpPr>
          <p:cNvPr id="16" name="Text 14"/>
          <p:cNvSpPr txBox="1"/>
          <p:nvPr/>
        </p:nvSpPr>
        <p:spPr>
          <a:xfrm>
            <a:off x="4639970" y="3401568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explorações médias · 1,6%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39970" y="3767328"/>
            <a:ext cx="29117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fronteira de crescimento da Banca de Negócios. Produto: capital de exploração, financiamento de activos, cobranças e seguro agrícola.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55229" y="2103120"/>
            <a:ext cx="3350666" cy="2395728"/>
          </a:xfrm>
          <a:prstGeom prst="roundRect">
            <a:avLst>
              <a:gd name="adj" fmla="val 3053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74685" y="2304288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F5333F"/>
          </a:solidFill>
          <a:ln w="12700">
            <a:solidFill>
              <a:srgbClr val="F533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74685" y="2304288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374685" y="2670048"/>
            <a:ext cx="291175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1.131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8374685" y="3401568"/>
            <a:ext cx="291175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explorações · 0,03%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374685" y="3767328"/>
            <a:ext cx="29117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9C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as ~34 empresas âncora, concentram a maior parte do fluxo exportador. Produto: structured finance, trade, câmbio e cash management de grupo.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809744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 de cobertura: a mesma proposta de valor não serve os três. O que os une é a cadeia — a âncora Tier 1 é quem torna o Tier 3 bancável.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345936"/>
            <a:ext cx="10088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Inquérito Agrário Integrado 2023 — Ministério da Agricultura, Ambiente e Pescas / INE.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o cliente, a limitação não é ambição — é fricção operacional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constrangimentos que o CVP responde de forma explícita.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350666" cy="1170432"/>
          </a:xfrm>
          <a:prstGeom prst="roundRect">
            <a:avLst>
              <a:gd name="adj" fmla="val 6250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05256" y="22677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399032" y="2267712"/>
            <a:ext cx="2417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e acessibilidade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2615184"/>
            <a:ext cx="29117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Necessidades sazonais mal ajustadas a estruturas de crédito padrão.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420514" y="2084832"/>
            <a:ext cx="3350666" cy="1170432"/>
          </a:xfrm>
          <a:prstGeom prst="roundRect">
            <a:avLst>
              <a:gd name="adj" fmla="val 6250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639970" y="22677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33746" y="2267712"/>
            <a:ext cx="2417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e resiliência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4639970" y="2615184"/>
            <a:ext cx="29117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Choques climáticos, pragas e volatilidade de preços interrompem o caixa previsto.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55229" y="2084832"/>
            <a:ext cx="3350666" cy="1170432"/>
          </a:xfrm>
          <a:prstGeom prst="roundRect">
            <a:avLst>
              <a:gd name="adj" fmla="val 6250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74685" y="22677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868461" y="2267712"/>
            <a:ext cx="2417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Mercados e escoamento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374685" y="2615184"/>
            <a:ext cx="29117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Cadeias fragmentadas dificultam insumos, compradores e termos justos.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5800" y="3493008"/>
            <a:ext cx="3350666" cy="1170432"/>
          </a:xfrm>
          <a:prstGeom prst="roundRect">
            <a:avLst>
              <a:gd name="adj" fmla="val 6250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05256" y="36758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399032" y="3675888"/>
            <a:ext cx="2417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numerário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05256" y="4023360"/>
            <a:ext cx="29117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Campanhas de comercialização ainda pagas em dinheiro vivo, com custo e risco.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420514" y="3493008"/>
            <a:ext cx="3350666" cy="1170432"/>
          </a:xfrm>
          <a:prstGeom prst="roundRect">
            <a:avLst>
              <a:gd name="adj" fmla="val 6250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639970" y="36758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33746" y="3675888"/>
            <a:ext cx="2417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Registos e visibilidade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4639970" y="4023360"/>
            <a:ext cx="29117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Bons produtores permanecem invisíveis à avaliação formal de crédito.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55229" y="3493008"/>
            <a:ext cx="3350666" cy="1170432"/>
          </a:xfrm>
          <a:prstGeom prst="roundRect">
            <a:avLst>
              <a:gd name="adj" fmla="val 6250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374685" y="36758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868461" y="3675888"/>
            <a:ext cx="2417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Infra-estrutura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8374685" y="4023360"/>
            <a:ext cx="291175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Transporte, armazenagem e energia erodem a margem depois da colheita.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956048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 do CVP: sair da venda produto a produto para um plano de época que liga financiamento, pagamentos, protecção de risco e acesso ao mercado.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ABSA TEM HOJE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três alavancas novas que mudam a conversa em 2026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Isto não existia na versão anterior deste CVP — e altera o que a equipa pode prometer em reunião.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350666" cy="2615184"/>
          </a:xfrm>
          <a:prstGeom prst="roundRect">
            <a:avLst>
              <a:gd name="adj" fmla="val 2797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5256" y="2286000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F5333F"/>
          </a:solidFill>
          <a:ln w="12700">
            <a:solidFill>
              <a:srgbClr val="F533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5256" y="228600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FINOVA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2651760"/>
            <a:ext cx="291175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€33,5M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3383280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concessional de agronegócio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05256" y="3712464"/>
            <a:ext cx="29117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Operacionalizada pelo Banco de Moçambique com o Absa, Standard Bank, BCI, GAPI e Microbanco Confiança, de um pacote KfW de €45,5M. Juro até 10%/ano, períodos de graça e prazos alinhados ao ciclo agrícola. Destina-se a empresas líderes de cadeia de valor e a pequenos agricultores.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4420514" y="2084832"/>
            <a:ext cx="3350666" cy="2615184"/>
          </a:xfrm>
          <a:prstGeom prst="roundRect">
            <a:avLst>
              <a:gd name="adj" fmla="val 2797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39970" y="2286000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F5333F"/>
          </a:solidFill>
          <a:ln w="12700">
            <a:solidFill>
              <a:srgbClr val="F533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39970" y="228600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DFC / USAID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4639970" y="2651760"/>
            <a:ext cx="291175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US$8,25M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4639970" y="3383280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Garantia parcial de carteira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39970" y="3712464"/>
            <a:ext cx="29117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para aumentar o crédito a PME, com foco explícito em PME agrícola. Facilidade reportada de US$16,5M com partilha de risco de 50% — o que permite dizer sim a operações que sozinhas não passariam o crivo de garantias.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8155229" y="2084832"/>
            <a:ext cx="3350666" cy="2615184"/>
          </a:xfrm>
          <a:prstGeom prst="roundRect">
            <a:avLst>
              <a:gd name="adj" fmla="val 2797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374685" y="2286000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74685" y="228600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ICM, IP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374685" y="2651760"/>
            <a:ext cx="291175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Originação</a:t>
            </a:r>
            <a:endParaRPr lang="en-US" sz="3000" dirty="0"/>
          </a:p>
        </p:txBody>
      </p:sp>
      <p:sp>
        <p:nvSpPr>
          <p:cNvPr id="22" name="Text 20"/>
          <p:cNvSpPr txBox="1"/>
          <p:nvPr/>
        </p:nvSpPr>
        <p:spPr>
          <a:xfrm>
            <a:off x="8374685" y="3383280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com o Instituto de Cereais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374685" y="3712464"/>
            <a:ext cx="29117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de financiamento dirigidas à produção e comercialização agrícola, com originação institucional. Traz ao banco fluxo de operações já qualificado, em vez de prospecção fria.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685800" y="4882896"/>
            <a:ext cx="10820095" cy="713232"/>
          </a:xfrm>
          <a:prstGeom prst="roundRect">
            <a:avLst>
              <a:gd name="adj" fmla="val 10256"/>
            </a:avLst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96696" y="4882896"/>
            <a:ext cx="1019830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Preço concessional + partilha de risco + originação institucional — é isto que nos permite dizer sim onde antes dizíamos talvez.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6345936"/>
            <a:ext cx="10088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Banco de Moçambique (lançamento FINOVA, 2025); U.S. International Development Finance Corporation; Instituto de Cereais de Moçambique.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Financiamento que acompanha a época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fases do calendário do cliente, cinco conversas comerciais distintas.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231136"/>
            <a:ext cx="1988454" cy="2103120"/>
          </a:xfrm>
          <a:prstGeom prst="roundRect">
            <a:avLst>
              <a:gd name="adj" fmla="val 3679"/>
            </a:avLst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442283" y="1993392"/>
            <a:ext cx="475488" cy="475488"/>
          </a:xfrm>
          <a:prstGeom prst="ellipse">
            <a:avLst/>
          </a:prstGeom>
          <a:solidFill>
            <a:srgbClr val="F5333F"/>
          </a:solidFill>
          <a:ln w="38100">
            <a:solidFill>
              <a:srgbClr val="FAFA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42283" y="19933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850392" y="2615184"/>
            <a:ext cx="1659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Planear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50392" y="3127248"/>
            <a:ext cx="16592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Orçamento, plano de cultura, contratos de compra, abertura de conta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893710" y="2231136"/>
            <a:ext cx="1988454" cy="2103120"/>
          </a:xfrm>
          <a:prstGeom prst="roundRect">
            <a:avLst>
              <a:gd name="adj" fmla="val 3679"/>
            </a:avLst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0193" y="1993392"/>
            <a:ext cx="475488" cy="475488"/>
          </a:xfrm>
          <a:prstGeom prst="ellipse">
            <a:avLst/>
          </a:prstGeom>
          <a:solidFill>
            <a:srgbClr val="F5333F"/>
          </a:solidFill>
          <a:ln w="38100">
            <a:solidFill>
              <a:srgbClr val="FAFA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0193" y="19933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058302" y="2615184"/>
            <a:ext cx="1659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Plantar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58302" y="3127248"/>
            <a:ext cx="16592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 de insumos, pagamentos a fornecedores, capital de exploração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101620" y="2231136"/>
            <a:ext cx="1988454" cy="2103120"/>
          </a:xfrm>
          <a:prstGeom prst="roundRect">
            <a:avLst>
              <a:gd name="adj" fmla="val 3679"/>
            </a:avLst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58104" y="1993392"/>
            <a:ext cx="475488" cy="475488"/>
          </a:xfrm>
          <a:prstGeom prst="ellipse">
            <a:avLst/>
          </a:prstGeom>
          <a:solidFill>
            <a:srgbClr val="F5333F"/>
          </a:solidFill>
          <a:ln w="38100">
            <a:solidFill>
              <a:srgbClr val="FAFAF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58104" y="19933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5266212" y="2615184"/>
            <a:ext cx="1659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Crescer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66212" y="3127248"/>
            <a:ext cx="16592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Seguros, monitoria, revisões de fluxo de caixa, consultoria agro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309531" y="2231136"/>
            <a:ext cx="1988454" cy="2103120"/>
          </a:xfrm>
          <a:prstGeom prst="roundRect">
            <a:avLst>
              <a:gd name="adj" fmla="val 3679"/>
            </a:avLst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66014" y="1993392"/>
            <a:ext cx="475488" cy="475488"/>
          </a:xfrm>
          <a:prstGeom prst="ellipse">
            <a:avLst/>
          </a:prstGeom>
          <a:solidFill>
            <a:srgbClr val="F5333F"/>
          </a:solidFill>
          <a:ln w="38100">
            <a:solidFill>
              <a:srgbClr val="FAFA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6014" y="19933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474123" y="2615184"/>
            <a:ext cx="1659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Colher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474123" y="3127248"/>
            <a:ext cx="16592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de mão de obra, logística, armazenagem, cobranças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517441" y="2231136"/>
            <a:ext cx="1988454" cy="2103120"/>
          </a:xfrm>
          <a:prstGeom prst="roundRect">
            <a:avLst>
              <a:gd name="adj" fmla="val 3679"/>
            </a:avLst>
          </a:prstGeom>
          <a:solidFill>
            <a:srgbClr val="1A1A1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10273924" y="1993392"/>
            <a:ext cx="475488" cy="475488"/>
          </a:xfrm>
          <a:prstGeom prst="ellipse">
            <a:avLst/>
          </a:prstGeom>
          <a:solidFill>
            <a:srgbClr val="F5333F"/>
          </a:solidFill>
          <a:ln w="38100">
            <a:solidFill>
              <a:srgbClr val="FAFAF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273924" y="199339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682033" y="2615184"/>
            <a:ext cx="16592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Vender e crescer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682033" y="3127248"/>
            <a:ext cx="165927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C9C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finance, câmbio, poupança e reinvestimento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663440"/>
            <a:ext cx="10820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importa: a mesma facilidade estrutura-se sobre produção prevista, recebíveis e contratos de compra — em vez de forçar a agricultura a um perfil de reembolso genérico.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6345936"/>
            <a:ext cx="10088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facilidades de crédito estão sujeitas a elegibilidade, avaliação de crédito, documentação e requisitos regulamentares.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53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71600" y="20848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SECÇÃO 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371600" y="2432304"/>
            <a:ext cx="9509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mapa das 30 maiores empresas</a:t>
            </a:r>
            <a:endParaRPr lang="en-US" sz="3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agronegócio moçambicano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4041648"/>
            <a:ext cx="9144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B4A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Dez sectores · 34 contrapartes nomeadas · três tiers de cobertura.</a:t>
            </a:r>
            <a:endParaRPr lang="en-US" sz="14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400" dirty="0">
                <a:solidFill>
                  <a:srgbClr val="B4A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empresa mapeada com accionista, escala, província e a oportunidade concreta para o banco.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5138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~380 mil t/ano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54681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Açúcar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767328" y="5138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US$258,3M em 2025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67328" y="54681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Tabaco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163056" y="5138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~150 mil produtores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63056" y="54681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Algodão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558784" y="513892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~135 mil t/ano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8558784" y="546811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Avicultura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AÇÚCAR · QUATRO ENGENHOS, CAPACIDADE COMBINADA ~380 MIL T/ANO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Açúcar — um sector inteiro em transição accionista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mudança de mãos em Xinavane e Mafambisse e a paragem da Maragra abrem a maior janela de refinanciamento do agronegócio moçambicano.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029968"/>
            <a:ext cx="10820095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3816" y="202996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419856" y="20299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ACCIONISTA / ORIGEM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568696" y="202996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E LOCALIZAÇÃO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357616" y="2029968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PARA O BANCO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2340864"/>
            <a:ext cx="10820095" cy="749808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3816" y="2377440"/>
            <a:ext cx="23865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Açucareira de Xinavane</a:t>
            </a:r>
            <a:pPr indent="0" marL="0">
              <a:lnSpc>
                <a:spcPct val="105000"/>
              </a:lnSpc>
              <a:buNone/>
            </a:pPr>
            <a:endParaRPr lang="en-US" sz="10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80" b="1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80" dirty="0"/>
          </a:p>
        </p:txBody>
      </p:sp>
      <p:sp>
        <p:nvSpPr>
          <p:cNvPr id="13" name="Text 11"/>
          <p:cNvSpPr txBox="1"/>
          <p:nvPr/>
        </p:nvSpPr>
        <p:spPr>
          <a:xfrm>
            <a:off x="3419856" y="2377440"/>
            <a:ext cx="1929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Sugar Holdings (ZA) 88% · Estado/IGEPE ~12%; adquirida à Tongaat Hulett em Jun/2025</a:t>
            </a:r>
            <a:endParaRPr lang="en-US" sz="960" dirty="0"/>
          </a:p>
        </p:txBody>
      </p:sp>
      <p:sp>
        <p:nvSpPr>
          <p:cNvPr id="14" name="Text 12"/>
          <p:cNvSpPr txBox="1"/>
          <p:nvPr/>
        </p:nvSpPr>
        <p:spPr>
          <a:xfrm>
            <a:off x="5568696" y="2377440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produtor do país; capacidade ~250.000 t/ano. Campanha 2024/25 previa moer 1.434.389 t de cana. Manhiça, Maputo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377440"/>
            <a:ext cx="30540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de refinanciamento pós-aquisição · capex de reabilitação do engenho · campanha de moagem (Abr–Nov) · câmbio e trade finance na quota EBA · asset finance de rega e frota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13816" y="3127248"/>
            <a:ext cx="23865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Açucareira de Moçambique — Mafambisse</a:t>
            </a:r>
            <a:pPr indent="0" marL="0">
              <a:lnSpc>
                <a:spcPct val="105000"/>
              </a:lnSpc>
              <a:buNone/>
            </a:pPr>
            <a:endParaRPr lang="en-US" sz="10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80" b="1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8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3127248"/>
            <a:ext cx="1929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Sugar Holdings 85% · IGEPE 15%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5568696" y="3127248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~92.000 t/ano, mas 2024/25: 346.643 t de cana → apenas 39.166 t de açúcar. Dondo, Sofala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8357616" y="3127248"/>
            <a:ext cx="30540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 de recuperação de capacidade · working capital de campanha · cash management no corredor da Beira · folha sazonal · cogeração a bagaço via green finance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10820095" cy="749808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3816" y="3877056"/>
            <a:ext cx="23865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Companhia de Sena — Marromeu</a:t>
            </a:r>
            <a:pPr indent="0" marL="0">
              <a:lnSpc>
                <a:spcPct val="105000"/>
              </a:lnSpc>
              <a:buNone/>
            </a:pPr>
            <a:endParaRPr lang="en-US" sz="10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80" b="1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80" dirty="0"/>
          </a:p>
        </p:txBody>
      </p:sp>
      <p:sp>
        <p:nvSpPr>
          <p:cNvPr id="22" name="Text 20"/>
          <p:cNvSpPr txBox="1"/>
          <p:nvPr/>
        </p:nvSpPr>
        <p:spPr>
          <a:xfrm>
            <a:off x="3419856" y="3877056"/>
            <a:ext cx="1929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 Holdings / Royal Group (75%)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5568696" y="3877056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4.500 t de cana moídas por dia; ~60.000 t de açúcar/ano. Marromeu, Sofala</a:t>
            </a:r>
            <a:endParaRPr lang="en-US" sz="960" dirty="0"/>
          </a:p>
        </p:txBody>
      </p:sp>
      <p:sp>
        <p:nvSpPr>
          <p:cNvPr id="24" name="Text 22"/>
          <p:cNvSpPr txBox="1"/>
          <p:nvPr/>
        </p:nvSpPr>
        <p:spPr>
          <a:xfrm>
            <a:off x="8357616" y="3877056"/>
            <a:ext cx="30540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de exploração de campanha · logística fluvial e rodoviária até à Beira · câmbio de exportação · adiantamentos a transportadores e prestadores da cadeia</a:t>
            </a:r>
            <a:endParaRPr lang="en-US" sz="960" dirty="0"/>
          </a:p>
        </p:txBody>
      </p:sp>
      <p:sp>
        <p:nvSpPr>
          <p:cNvPr id="25" name="Text 23"/>
          <p:cNvSpPr txBox="1"/>
          <p:nvPr/>
        </p:nvSpPr>
        <p:spPr>
          <a:xfrm>
            <a:off x="813816" y="4626864"/>
            <a:ext cx="23865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Maragra Açúcar</a:t>
            </a:r>
            <a:pPr indent="0" marL="0">
              <a:lnSpc>
                <a:spcPct val="105000"/>
              </a:lnSpc>
              <a:buNone/>
            </a:pPr>
            <a:endParaRPr lang="en-US" sz="10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80" b="1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80" dirty="0"/>
          </a:p>
        </p:txBody>
      </p:sp>
      <p:sp>
        <p:nvSpPr>
          <p:cNvPr id="26" name="Text 24"/>
          <p:cNvSpPr txBox="1"/>
          <p:nvPr/>
        </p:nvSpPr>
        <p:spPr>
          <a:xfrm>
            <a:off x="3419856" y="4626864"/>
            <a:ext cx="1929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Illovo Sugar / Associated British Foods (99%)</a:t>
            </a:r>
            <a:endParaRPr lang="en-US" sz="960" dirty="0"/>
          </a:p>
        </p:txBody>
      </p:sp>
      <p:sp>
        <p:nvSpPr>
          <p:cNvPr id="27" name="Text 25"/>
          <p:cNvSpPr txBox="1"/>
          <p:nvPr/>
        </p:nvSpPr>
        <p:spPr>
          <a:xfrm>
            <a:off x="5568696" y="4626864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~80.000 t de açúcar de &gt;460.000 t de cana. Produção suspensa; retoma indicada para ~2026. Manhiça, Maputo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8357616" y="4626864"/>
            <a:ext cx="30540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operação de reestruturação do sector: financiamento de retoma (replantação, rega, fábrica), capital paciente com working capital, crédito com cobertura de garantia</a:t>
            </a:r>
            <a:endParaRPr lang="en-US" sz="960" dirty="0"/>
          </a:p>
        </p:txBody>
      </p:sp>
      <p:sp>
        <p:nvSpPr>
          <p:cNvPr id="29" name="Shape 27"/>
          <p:cNvSpPr/>
          <p:nvPr/>
        </p:nvSpPr>
        <p:spPr>
          <a:xfrm>
            <a:off x="685800" y="5486400"/>
            <a:ext cx="10820095" cy="566928"/>
          </a:xfrm>
          <a:prstGeom prst="roundRect">
            <a:avLst>
              <a:gd name="adj" fmla="val 9677"/>
            </a:avLst>
          </a:prstGeom>
          <a:solidFill>
            <a:srgbClr val="F7E4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05256" y="5486400"/>
            <a:ext cx="103811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6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 risco   </a:t>
            </a:r>
            <a:pPr indent="0" marL="0">
              <a:lnSpc>
                <a:spcPct val="106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2025 a Autoridade Reguladora da Concorrência multou os quatro produtores e a Distribuidora Nacional de Açúcar em 69,5 milhões de meticais por práticas de cartel. Exige due diligence de conduta — e a liberalização das vendas altera os fluxos de recebíveis, criando necessidade nova de cobranças directas.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6345936"/>
            <a:ext cx="10088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Sugaronline e AIM (aquisição Vision Sugar, Jun/2025); Tongaat Hulett; Illovo Sugar Africa; MIGA; Lusa/AMAN (decisão ARC 5/2025).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TABACO E ALGODÃO · AS DUAS CADEIAS DE FOMENTO COM MAIS PRODUTORES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Tabaco e algodão — onde o cliente do banco tem 120 mil fornecedores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tabaco é a maior rubrica de exportação agrícola do país: US$258,3 milhões em 2025. O algodão move ~50 mil t/ano e cerca de 150 mil produtores.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029968"/>
            <a:ext cx="10820095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3816" y="202996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419856" y="20299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ACCIONISTA / ORIGEM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568696" y="202996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E LOCALIZAÇÃO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357616" y="2029968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PARA O BANCO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2340864"/>
            <a:ext cx="10820095" cy="621792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3816" y="237744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Mozambique Leaf Tobacco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19856" y="2377440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Corporation (EUA)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5568696" y="2377440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maior empresa agrícola do país. &gt;120.000 produtores contratados; fábrica em Tete com 50.000 t/ano. Campanha 2024/25: Tete &gt;54.000 t, Niassa ~15.500 t, Zambézia ~10.000 t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37744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mandato de pagamentos agrícolas do país: digitalizar o pagamento a 120.000 produtores retira toneladas de numerário do terreno. Mais crédito de insumos sob contrato, trade finance, câmbio e folha sazonal</a:t>
            </a:r>
            <a:endParaRPr lang="en-US" sz="880" dirty="0"/>
          </a:p>
        </p:txBody>
      </p:sp>
      <p:sp>
        <p:nvSpPr>
          <p:cNvPr id="16" name="Text 14"/>
          <p:cNvSpPr txBox="1"/>
          <p:nvPr/>
        </p:nvSpPr>
        <p:spPr>
          <a:xfrm>
            <a:off x="813816" y="2999232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SANAM — Soc. Algodoeira de Namialo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2999232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Concessão nacional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5568696" y="2999232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Olam opera ~56.000 ha e &gt;80.000 pequenos produtores. Distinguida como melhor PME exportadora. Nampula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8357616" y="2999232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Campanha de fomento (insumos a crédito recuperados na compra) · descaroçamento e armazenagem · receivables finance sobre contratos de exportação de fibra · câmbio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685800" y="3584448"/>
            <a:ext cx="10820095" cy="621792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3816" y="3621024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— Soc. Algodoeira do Niassa (JFS)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419856" y="3621024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João Ferreira dos Santos</a:t>
            </a:r>
            <a:endParaRPr lang="en-US" sz="880" dirty="0"/>
          </a:p>
        </p:txBody>
      </p:sp>
      <p:sp>
        <p:nvSpPr>
          <p:cNvPr id="23" name="Text 21"/>
          <p:cNvSpPr txBox="1"/>
          <p:nvPr/>
        </p:nvSpPr>
        <p:spPr>
          <a:xfrm>
            <a:off x="5568696" y="3621024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&gt;60.000 produtores em Niassa e Nampula; um dos maiores exportadores de algodão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8357616" y="3621024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Fomento agrícola · asset finance de descaroçadoras · trade finance · cash management multi-província</a:t>
            </a:r>
            <a:endParaRPr lang="en-US" sz="880" dirty="0"/>
          </a:p>
        </p:txBody>
      </p:sp>
      <p:sp>
        <p:nvSpPr>
          <p:cNvPr id="25" name="Text 23"/>
          <p:cNvSpPr txBox="1"/>
          <p:nvPr/>
        </p:nvSpPr>
        <p:spPr>
          <a:xfrm>
            <a:off x="813816" y="4242816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— Soc. Algodoeira de Mutuali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419856" y="4242816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Concessão nacional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5568696" y="4242816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processamento; em construção de novos armazéns. Malema, Nampula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8357616" y="4242816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directo de warehouse receipt finance · capex fabril · working capital de campanha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685800" y="4828032"/>
            <a:ext cx="10820095" cy="621792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3816" y="4864608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Olam Agri Moçambique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419856" y="4864608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Olam (multinacional)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5568696" y="4864608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Algodão, sésamo e caju; trading e descaroçamento. Nampula e Cabo Delgado</a:t>
            </a:r>
            <a:endParaRPr lang="en-US" sz="880" dirty="0"/>
          </a:p>
        </p:txBody>
      </p:sp>
      <p:sp>
        <p:nvSpPr>
          <p:cNvPr id="33" name="Text 31"/>
          <p:cNvSpPr txBox="1"/>
          <p:nvPr/>
        </p:nvSpPr>
        <p:spPr>
          <a:xfrm>
            <a:off x="8357616" y="4864608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Pre-export finance · câmbio e cobertura de preço · pagamentos a agregadores em campo</a:t>
            </a:r>
            <a:endParaRPr lang="en-US" sz="880" dirty="0"/>
          </a:p>
        </p:txBody>
      </p:sp>
      <p:sp>
        <p:nvSpPr>
          <p:cNvPr id="34" name="Text 32"/>
          <p:cNvSpPr txBox="1"/>
          <p:nvPr/>
        </p:nvSpPr>
        <p:spPr>
          <a:xfrm>
            <a:off x="813816" y="548640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Plexus Mozambique · comerciantes de folha (Premium, Alliance One/Pyxus)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3419856" y="5486400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Internacional</a:t>
            </a:r>
            <a:endParaRPr lang="en-US" sz="880" dirty="0"/>
          </a:p>
        </p:txBody>
      </p:sp>
      <p:sp>
        <p:nvSpPr>
          <p:cNvPr id="36" name="Text 34"/>
          <p:cNvSpPr txBox="1"/>
          <p:nvPr/>
        </p:nvSpPr>
        <p:spPr>
          <a:xfrm>
            <a:off x="5568696" y="5486400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Descaroçamento e exportação de fibra; compra e exportação de folha. Nampula, Tete, Niassa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8357616" y="548640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Pre-export finance · contas multimoeda · câmbio · cobranças de campanha</a:t>
            </a:r>
            <a:endParaRPr lang="en-US" sz="880" dirty="0"/>
          </a:p>
        </p:txBody>
      </p:sp>
      <p:sp>
        <p:nvSpPr>
          <p:cNvPr id="38" name="Text 36"/>
          <p:cNvSpPr txBox="1"/>
          <p:nvPr/>
        </p:nvSpPr>
        <p:spPr>
          <a:xfrm>
            <a:off x="685800" y="6345936"/>
            <a:ext cx="10088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Banco de Moçambique (exportações de tabaco 2025); Universal Corporation; Instituto do Algodão e Oleaginosas; Associação Algodoeira de Moçambique; MAAP.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PROTEÍNA ANIMAL, SOJA E GRUPOS DIVERSIFICADOS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Avicultura — três líderes regionais integrados, um mesmo perfil de necessidade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nacional de ~135 mil t de frango e 29,8 milhões de dúzias de ovos por ano; 99,2 mil t só nos primeiros nove meses de 2025.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029968"/>
            <a:ext cx="10820095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3816" y="202996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419856" y="20299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ACCIONISTA / ORIGEM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568696" y="202996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E LOCALIZAÇÃO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357616" y="2029968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PARA O BANCO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2340864"/>
            <a:ext cx="10820095" cy="621792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3816" y="237744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Higest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19856" y="2377440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moçambicano/português, &gt;25 anos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5568696" y="2377440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integrado da Zona Sul: rações, pintos do dia e frango. Maputo e sul do país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37744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documentário e câmbio para milho e soja importados · capex de incubadoras e matadouro · asset finance de geradores e frio · crédito a distribuidores · seguro de biossegurança</a:t>
            </a:r>
            <a:endParaRPr lang="en-US" sz="880" dirty="0"/>
          </a:p>
        </p:txBody>
      </p:sp>
      <p:sp>
        <p:nvSpPr>
          <p:cNvPr id="16" name="Text 14"/>
          <p:cNvSpPr txBox="1"/>
          <p:nvPr/>
        </p:nvSpPr>
        <p:spPr>
          <a:xfrm>
            <a:off x="813816" y="2999232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Abílio Antunes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2999232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moçambicano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5568696" y="2999232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integrado da Zona Centro, com integração vertical que inclui extracção de óleo bruto de soja. Chimoio, Manica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8357616" y="2999232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de esmagamento de soja e cadeia de frio · working capital de ração · financiamento de outgrowers de soja · green finance para solar nos pavilhões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685800" y="3584448"/>
            <a:ext cx="10820095" cy="621792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3816" y="3621024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Novos Horizontes / Frango King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419856" y="3621024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internacional</a:t>
            </a:r>
            <a:endParaRPr lang="en-US" sz="880" dirty="0"/>
          </a:p>
        </p:txBody>
      </p:sp>
      <p:sp>
        <p:nvSpPr>
          <p:cNvPr id="23" name="Text 21"/>
          <p:cNvSpPr txBox="1"/>
          <p:nvPr/>
        </p:nvSpPr>
        <p:spPr>
          <a:xfrm>
            <a:off x="5568696" y="3621024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Líder integrado da Zona Norte; a Novos Horizontes tornou-se o maior accionista do Frango King. Nampula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8357616" y="3621024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 de consolidação e aquisição · expansão de matadouro e certificação HACCP · capital de exploração · pagamentos a criadores integrados</a:t>
            </a:r>
            <a:endParaRPr lang="en-US" sz="880" dirty="0"/>
          </a:p>
        </p:txBody>
      </p:sp>
      <p:sp>
        <p:nvSpPr>
          <p:cNvPr id="25" name="Text 23"/>
          <p:cNvSpPr txBox="1"/>
          <p:nvPr/>
        </p:nvSpPr>
        <p:spPr>
          <a:xfrm>
            <a:off x="813816" y="4242816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JFS Holding (João Ferreira dos Santos)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419856" y="4242816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português/moçambicano; fundado há &gt;100 anos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5568696" y="4242816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~US$40M de facturação anual; 450 permanentes e 300 sazonais; seis unidades de negócio. 3.º maior exportador agrícola. Nampula, Niassa, Maputo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8357616" y="4242816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Relação de grupo: conta única de tesouraria, crédito revolving, financiamento de frota e equipamento, câmbio e crédito ao colaborador — com cross-sell entre seis unidades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685800" y="4828032"/>
            <a:ext cx="10820095" cy="621792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3816" y="4864608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Mozaco — Mozambique Agriculture Corporation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419856" y="4864608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 Rioforte + JFS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5568696" y="4864608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DUAT de 2.389 ha com plano de expansão até 20.000 ha; soja e algodão. Malema, Nampula</a:t>
            </a:r>
            <a:endParaRPr lang="en-US" sz="880" dirty="0"/>
          </a:p>
        </p:txBody>
      </p:sp>
      <p:sp>
        <p:nvSpPr>
          <p:cNvPr id="33" name="Text 31"/>
          <p:cNvSpPr txBox="1"/>
          <p:nvPr/>
        </p:nvSpPr>
        <p:spPr>
          <a:xfrm>
            <a:off x="8357616" y="4864608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 de expansão de área · mecanização · contract farming a alimentar a cadeia da avicultura (soja para ração)</a:t>
            </a:r>
            <a:endParaRPr lang="en-US" sz="88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6345936"/>
            <a:ext cx="10088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AIM (produção avícola, Out/2025); IGC/MEF, Cadeia de Valor do Frango em Moçambique; JFS Holding; Agence Ecofin.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BANANA, FRUTA E HORTÍCOLAS DE EXPORTAÇÃO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Exportação de fruta — capex de cadeia de frio e fluxo cambial recorrente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aqui que o banco encontra recebíveis em divisa, folhas salariais de mil pessoas e o risco fitossanitário que obriga a estruturar seguro.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029968"/>
            <a:ext cx="10820095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3816" y="202996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419856" y="20299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ACCIONISTA / ORIGEM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568696" y="202996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E LOCALIZAÇÃO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357616" y="2029968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PARA O BANCO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2340864"/>
            <a:ext cx="10820095" cy="749808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3816" y="2377440"/>
            <a:ext cx="23865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Bananalândia</a:t>
            </a:r>
            <a:pPr indent="0" marL="0">
              <a:lnSpc>
                <a:spcPct val="105000"/>
              </a:lnSpc>
              <a:buNone/>
            </a:pPr>
            <a:endParaRPr lang="en-US" sz="10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8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80" dirty="0"/>
          </a:p>
        </p:txBody>
      </p:sp>
      <p:sp>
        <p:nvSpPr>
          <p:cNvPr id="13" name="Text 11"/>
          <p:cNvSpPr txBox="1"/>
          <p:nvPr/>
        </p:nvSpPr>
        <p:spPr>
          <a:xfrm>
            <a:off x="3419856" y="2377440"/>
            <a:ext cx="1929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moçambicano</a:t>
            </a:r>
            <a:endParaRPr lang="en-US" sz="960" dirty="0"/>
          </a:p>
        </p:txBody>
      </p:sp>
      <p:sp>
        <p:nvSpPr>
          <p:cNvPr id="14" name="Text 12"/>
          <p:cNvSpPr txBox="1"/>
          <p:nvPr/>
        </p:nvSpPr>
        <p:spPr>
          <a:xfrm>
            <a:off x="5568696" y="2377440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de 900 ha; 3,5 milhões de caixas/ano para exportação; unidade de processamento de US$20M; ~1.000 trabalhadores. Moamba, Maputo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377440"/>
            <a:ext cx="30540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da unidade de processamento · cadeia de frio e packhouse via asset finance · recebíveis de exportação e câmbio · conta-salário para 1.000 trabalhadores · seguro agrícola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13816" y="3127248"/>
            <a:ext cx="23865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Jacaranda Agricultura</a:t>
            </a:r>
            <a:pPr indent="0" marL="0">
              <a:lnSpc>
                <a:spcPct val="105000"/>
              </a:lnSpc>
              <a:buNone/>
            </a:pPr>
            <a:endParaRPr lang="en-US" sz="10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8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8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3127248"/>
            <a:ext cx="1929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Investidor privado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5568696" y="3127248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Herdou os activos da Matanuska, que faliu em 2018 com a doença do Panamá; produção recuperada em Metocheria. Monapo, Nampula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8357616" y="3127248"/>
            <a:ext cx="30540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paciente de replantação com working capital · biossegurança e controlo de Fusarium · logística até Nacala. Lição de crédito: risco fitossanitário exige seguro e monitoria obrigatórios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10820095" cy="749808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3816" y="3877056"/>
            <a:ext cx="23865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Companhia do Vanduzi</a:t>
            </a:r>
            <a:pPr indent="0" marL="0">
              <a:lnSpc>
                <a:spcPct val="105000"/>
              </a:lnSpc>
              <a:buNone/>
            </a:pPr>
            <a:endParaRPr lang="en-US" sz="10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8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80" dirty="0"/>
          </a:p>
        </p:txBody>
      </p:sp>
      <p:sp>
        <p:nvSpPr>
          <p:cNvPr id="22" name="Text 20"/>
          <p:cNvSpPr txBox="1"/>
          <p:nvPr/>
        </p:nvSpPr>
        <p:spPr>
          <a:xfrm>
            <a:off x="3419856" y="3877056"/>
            <a:ext cx="1929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britânico, fundada em 2004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5568696" y="3877056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~1.353 ha de 2.450 potenciais; ~800 t/ano de baby corn, piri-piri, feijão-verde e brócolos para o Reino Unido, Países Baixos e África do Sul. Opera todo o ano. Manica</a:t>
            </a:r>
            <a:endParaRPr lang="en-US" sz="960" dirty="0"/>
          </a:p>
        </p:txBody>
      </p:sp>
      <p:sp>
        <p:nvSpPr>
          <p:cNvPr id="24" name="Text 22"/>
          <p:cNvSpPr txBox="1"/>
          <p:nvPr/>
        </p:nvSpPr>
        <p:spPr>
          <a:xfrm>
            <a:off x="8357616" y="3877056"/>
            <a:ext cx="30540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ideal de trade finance: fluxo cambial contínuo e não sazonal. Recebíveis sobre retalhistas europeus · contas multimoeda · asset finance de rega gota-a-gota e packhouse</a:t>
            </a:r>
            <a:endParaRPr lang="en-US" sz="960" dirty="0"/>
          </a:p>
        </p:txBody>
      </p:sp>
      <p:sp>
        <p:nvSpPr>
          <p:cNvPr id="25" name="Text 23"/>
          <p:cNvSpPr txBox="1"/>
          <p:nvPr/>
        </p:nvSpPr>
        <p:spPr>
          <a:xfrm>
            <a:off x="813816" y="4626864"/>
            <a:ext cx="23865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Produtores de macadâmia</a:t>
            </a:r>
            <a:pPr indent="0" marL="0">
              <a:lnSpc>
                <a:spcPct val="105000"/>
              </a:lnSpc>
              <a:buNone/>
            </a:pPr>
            <a:endParaRPr lang="en-US" sz="10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80" b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1080" dirty="0"/>
          </a:p>
        </p:txBody>
      </p:sp>
      <p:sp>
        <p:nvSpPr>
          <p:cNvPr id="26" name="Text 24"/>
          <p:cNvSpPr txBox="1"/>
          <p:nvPr/>
        </p:nvSpPr>
        <p:spPr>
          <a:xfrm>
            <a:off x="3419856" y="4626864"/>
            <a:ext cx="1929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Investidores sul-africanos e zimbabweanos</a:t>
            </a:r>
            <a:endParaRPr lang="en-US" sz="960" dirty="0"/>
          </a:p>
        </p:txBody>
      </p:sp>
      <p:sp>
        <p:nvSpPr>
          <p:cNvPr id="27" name="Text 25"/>
          <p:cNvSpPr txBox="1"/>
          <p:nvPr/>
        </p:nvSpPr>
        <p:spPr>
          <a:xfrm>
            <a:off x="5568696" y="4626864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 permanente em expansão. Manica e Nampula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8357616" y="4626864"/>
            <a:ext cx="30540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de implantação de pomar a 7–10 anos combinado com working capital sazonal · asset finance de descasque e secagem · câmbio de exportação para a Ásia</a:t>
            </a:r>
            <a:endParaRPr lang="en-US" sz="96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6345936"/>
            <a:ext cx="10088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Food Business Africa e Club of Mozambique (Bananalândia, Jacaranda); Companhia do Vanduzi; The Macadamia South Africa.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CAJU, CEREAIS, ARROZ E MOAGEM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stock é o activo — e o warehouse finance é o produto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Moçambique produz 157–160 mil t de castanha em bruto e processa mais de 70 mil: é o maior processador de África e o terceiro do mundo.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029968"/>
            <a:ext cx="10820095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3816" y="202996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419856" y="20299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ACCIONISTA / ORIGEM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568696" y="202996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E LOCALIZAÇÃO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357616" y="2029968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PARA O BANCO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2340864"/>
            <a:ext cx="10820095" cy="621792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3816" y="237744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Condor Nuts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19856" y="2377440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privado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5568696" y="2377440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das maiores unidades de processamento e exportação de caju do país. Nampula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37744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 de stock de campanha — compra concentrada em 3–4 meses, venda ao longo do ano: o caso de uso clássico de warehouse finance. Mais recebíveis de exportação, câmbio e asset finance de linhas de descasque</a:t>
            </a:r>
            <a:endParaRPr lang="en-US" sz="880" dirty="0"/>
          </a:p>
        </p:txBody>
      </p:sp>
      <p:sp>
        <p:nvSpPr>
          <p:cNvPr id="16" name="Text 14"/>
          <p:cNvSpPr txBox="1"/>
          <p:nvPr/>
        </p:nvSpPr>
        <p:spPr>
          <a:xfrm>
            <a:off x="813816" y="2999232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Processadoras de Nampula e Cabo Delgado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2999232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Diversas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5568696" y="2999232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 de ~15 milhões de plantas em Nampula, mas as unidades activas caíram de 37 para 6; nova fábrica inaugurada em Palma em 2024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8357616" y="2999232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de reestruturação e capex para as unidades sobreviventes · financiamento de agregadores registados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685800" y="3584448"/>
            <a:ext cx="10820095" cy="621792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3816" y="3621024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Merec Industries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419856" y="3621024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moçambicano, criada em 1998</a:t>
            </a:r>
            <a:endParaRPr lang="en-US" sz="880" dirty="0"/>
          </a:p>
        </p:txBody>
      </p:sp>
      <p:sp>
        <p:nvSpPr>
          <p:cNvPr id="23" name="Text 21"/>
          <p:cNvSpPr txBox="1"/>
          <p:nvPr/>
        </p:nvSpPr>
        <p:spPr>
          <a:xfrm>
            <a:off x="5568696" y="3621024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unidades produtivas em Matola, Beira e Nacala: farinha de milho e trigo, massas, bolachas e rações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8357616" y="3621024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documentário e câmbio para trigo (importação estrutural) · working capital de stock · asset finance de moagem · e o maior caso de digitalização de cobranças do sector, numa rede nacional de distribuidores</a:t>
            </a:r>
            <a:endParaRPr lang="en-US" sz="880" dirty="0"/>
          </a:p>
        </p:txBody>
      </p:sp>
      <p:sp>
        <p:nvSpPr>
          <p:cNvPr id="25" name="Text 23"/>
          <p:cNvSpPr txBox="1"/>
          <p:nvPr/>
        </p:nvSpPr>
        <p:spPr>
          <a:xfrm>
            <a:off x="813816" y="4242816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CIM — Companhia Industrial da Matola (Grupo DECA) · Pembe Moçambique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419856" y="4242816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DECA · capital privado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5568696" y="4242816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dos principais fornecedores de farinha de Maputo; moagem de trigo e de milho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8357616" y="4242816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finance de importação de trigo · cobertura cambial · cash management · financiamento da compra de milho nacional no pico da colheita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685800" y="4828032"/>
            <a:ext cx="10820095" cy="621792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3816" y="4864608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Wanbao Africa Agricultural Development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419856" y="4864608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China-Africa Development Fund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5568696" y="4864608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20.000 ha atribuídos, ~3.333 ha de arrozais; 16.000 t de arroz/ano; 353 famílias integradas; rendimentos subiram de 1–2 para 5–7 t/ha. Xai-Xai, Gaza</a:t>
            </a:r>
            <a:endParaRPr lang="en-US" sz="880" dirty="0"/>
          </a:p>
        </p:txBody>
      </p:sp>
      <p:sp>
        <p:nvSpPr>
          <p:cNvPr id="33" name="Text 31"/>
          <p:cNvSpPr txBox="1"/>
          <p:nvPr/>
        </p:nvSpPr>
        <p:spPr>
          <a:xfrm>
            <a:off x="8357616" y="4864608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Mecanização e rega · crédito às 353 famílias integradas via contrato, um modelo replicável · secagem e armazenagem · seguro contra cheias do Limpopo</a:t>
            </a:r>
            <a:endParaRPr lang="en-US" sz="88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6345936"/>
            <a:ext cx="10088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MAAP e Diário Económico (caju); Merec Industries; OMR OR-148 (moagem); SAIS-CARI e Xinhua (Wanbao).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FLORESTA, COCO E CHÁ · CAPITAL PACIENTE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Culturas permanentes — o alvo bancável imediato é a cadeia, não só a âncora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Ciclos de 7 a 20 anos exigem capital paciente. Mas os contratantes, transportadores e serviços à volta destas operações são bancáveis já.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029968"/>
            <a:ext cx="10820095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3816" y="202996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419856" y="20299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ACCIONISTA / ORIGEM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568696" y="202996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E LOCALIZAÇÃO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357616" y="2029968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PARA O BANCO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2340864"/>
            <a:ext cx="10820095" cy="621792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3816" y="2377440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Portucel Moçambique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19856" y="2377440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Navigator Company (Portugal); IFC detém ~20%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5568696" y="2377440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Concessão de 356.000 ha em Manica e Zambézia, ~14.000 ha plantados; US$120M já investidos. 1.ª fase até US$260M, 40.000 ha e fábrica de estilha para 1 milhão t/ano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377440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 structured finance de longo prazo — mas o alvo imediato é financiar contratantes e transportadores locais da cadeia. Mais câmbio de exportação de estilha, conta-salário rural e sustainability-linked finance</a:t>
            </a:r>
            <a:endParaRPr lang="en-US" sz="880" dirty="0"/>
          </a:p>
        </p:txBody>
      </p:sp>
      <p:sp>
        <p:nvSpPr>
          <p:cNvPr id="16" name="Text 14"/>
          <p:cNvSpPr txBox="1"/>
          <p:nvPr/>
        </p:nvSpPr>
        <p:spPr>
          <a:xfrm>
            <a:off x="813816" y="2999232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Resources Moçambique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2999232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norueguês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5568696" y="2999232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~17.000 ha plantados em sete distritos do Niassa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8357616" y="2999232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 de operações de colheita e serração · asset finance florestal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685800" y="3584448"/>
            <a:ext cx="10820095" cy="621792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3816" y="3621024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IFLOMA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419856" y="3621024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SAFCOL (África do Sul), criada em 1977</a:t>
            </a:r>
            <a:endParaRPr lang="en-US" sz="880" dirty="0"/>
          </a:p>
        </p:txBody>
      </p:sp>
      <p:sp>
        <p:nvSpPr>
          <p:cNvPr id="23" name="Text 21"/>
          <p:cNvSpPr txBox="1"/>
          <p:nvPr/>
        </p:nvSpPr>
        <p:spPr>
          <a:xfrm>
            <a:off x="5568696" y="3621024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DUAT de 31.000 ha em Manica, dos quais 16.275 ha plantáveis de pinho e eucalipto. A mais antiga empresa florestal do país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8357616" y="3621024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de serração · working capital · financiamento de contratos de fornecimento locais</a:t>
            </a:r>
            <a:endParaRPr lang="en-US" sz="880" dirty="0"/>
          </a:p>
        </p:txBody>
      </p:sp>
      <p:sp>
        <p:nvSpPr>
          <p:cNvPr id="25" name="Text 23"/>
          <p:cNvSpPr txBox="1"/>
          <p:nvPr/>
        </p:nvSpPr>
        <p:spPr>
          <a:xfrm>
            <a:off x="813816" y="4242816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Madal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3419856" y="4242816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Família Bento, fundado em 1903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5568696" y="4242816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Maior produtor de coco do país; opera também em pecuária, hotelaria, imobiliário e comércio. Zambézia</a:t>
            </a:r>
            <a:endParaRPr lang="en-US" sz="880" dirty="0"/>
          </a:p>
        </p:txBody>
      </p:sp>
      <p:sp>
        <p:nvSpPr>
          <p:cNvPr id="28" name="Text 26"/>
          <p:cNvSpPr txBox="1"/>
          <p:nvPr/>
        </p:nvSpPr>
        <p:spPr>
          <a:xfrm>
            <a:off x="8357616" y="4242816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Banca de grupo multissectorial · replantação de coqueiral com capital paciente · financiamento imobiliário e hoteleiro cruzado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685800" y="4828032"/>
            <a:ext cx="10820095" cy="621792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13816" y="4864608"/>
            <a:ext cx="238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Chá do Gurué — SDZ, Chá Magoma, Chazeiras de Moçambique</a:t>
            </a:r>
            <a:pPr indent="0" marL="0">
              <a:lnSpc>
                <a:spcPct val="105000"/>
              </a:lnSpc>
              <a:buNone/>
            </a:pPr>
            <a:endParaRPr lang="en-US" sz="1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3419856" y="4864608"/>
            <a:ext cx="1929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Diversas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5568696" y="4864608"/>
            <a:ext cx="2569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~4.908 ha de chá; Gurué deverá produzir &gt;4.400 t de folha verde na campanha. Zambézia</a:t>
            </a:r>
            <a:endParaRPr lang="en-US" sz="880" dirty="0"/>
          </a:p>
        </p:txBody>
      </p:sp>
      <p:sp>
        <p:nvSpPr>
          <p:cNvPr id="33" name="Text 31"/>
          <p:cNvSpPr txBox="1"/>
          <p:nvPr/>
        </p:nvSpPr>
        <p:spPr>
          <a:xfrm>
            <a:off x="8357616" y="4864608"/>
            <a:ext cx="3054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Reabilitação de fábricas de chá · working capital de campanha · folha sazonal · exportação e câmbio</a:t>
            </a:r>
            <a:endParaRPr lang="en-US" sz="88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6345936"/>
            <a:ext cx="10088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The Navigator Company / Portucel Moçambique; Banco Mundial, The Plantation Forestry Sector in Mozambique; Grupo Madal; Rádio Moçambique (chá do Gurué).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INSUMOS, DISTRIBUIÇÃO E TRADING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canal de originação — onde 250 agro-dealers valem mais do que uma campanha de prospecção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Estas empresas não são só clientes. São a infra-estrutura através da qual o banco chega ao Tier 3.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029968"/>
            <a:ext cx="10820095" cy="310896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13816" y="2029968"/>
            <a:ext cx="2423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419856" y="202996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ACCIONISTA / ORIGEM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568696" y="2029968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E LOCALIZAÇÃO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357616" y="2029968"/>
            <a:ext cx="3090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 PARA O BANCO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2340864"/>
            <a:ext cx="10820095" cy="749808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3816" y="2377440"/>
            <a:ext cx="23865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AQI (ex-Casa do Agricultor) / TECAP</a:t>
            </a:r>
            <a:pPr indent="0" marL="0">
              <a:lnSpc>
                <a:spcPct val="105000"/>
              </a:lnSpc>
              <a:buNone/>
            </a:pPr>
            <a:endParaRPr lang="en-US" sz="10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80" b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1080" dirty="0"/>
          </a:p>
        </p:txBody>
      </p:sp>
      <p:sp>
        <p:nvSpPr>
          <p:cNvPr id="13" name="Text 11"/>
          <p:cNvSpPr txBox="1"/>
          <p:nvPr/>
        </p:nvSpPr>
        <p:spPr>
          <a:xfrm>
            <a:off x="3419856" y="2377440"/>
            <a:ext cx="1929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privado</a:t>
            </a:r>
            <a:endParaRPr lang="en-US" sz="960" dirty="0"/>
          </a:p>
        </p:txBody>
      </p:sp>
      <p:sp>
        <p:nvSpPr>
          <p:cNvPr id="14" name="Text 12"/>
          <p:cNvSpPr txBox="1"/>
          <p:nvPr/>
        </p:nvSpPr>
        <p:spPr>
          <a:xfrm>
            <a:off x="5568696" y="2377440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&gt;100 colaboradores em 14 lojas e uma rede de &gt;250 agro-dealers em todo o país; forte em horticultura e avicultura, com expansão para Cabo Delgado</a:t>
            </a:r>
            <a:endParaRPr lang="en-US" sz="960" dirty="0"/>
          </a:p>
        </p:txBody>
      </p:sp>
      <p:sp>
        <p:nvSpPr>
          <p:cNvPr id="15" name="Text 13"/>
          <p:cNvSpPr txBox="1"/>
          <p:nvPr/>
        </p:nvSpPr>
        <p:spPr>
          <a:xfrm>
            <a:off x="8357616" y="2377440"/>
            <a:ext cx="30540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finance de dupla face: crédito de stock ao distribuidor e floor plan ao agro-dealer. Mais POS e aceitação nas 14 lojas. E o mais valioso — a rede de 250 agro-dealers é, ela própria, um canal de originação de clientes agrícolas para o banco</a:t>
            </a:r>
            <a:endParaRPr lang="en-US" sz="960" dirty="0"/>
          </a:p>
        </p:txBody>
      </p:sp>
      <p:sp>
        <p:nvSpPr>
          <p:cNvPr id="16" name="Text 14"/>
          <p:cNvSpPr txBox="1"/>
          <p:nvPr/>
        </p:nvSpPr>
        <p:spPr>
          <a:xfrm>
            <a:off x="813816" y="3127248"/>
            <a:ext cx="23865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ETG — Export Trading Group Moçambique</a:t>
            </a:r>
            <a:pPr indent="0" marL="0">
              <a:lnSpc>
                <a:spcPct val="105000"/>
              </a:lnSpc>
              <a:buNone/>
            </a:pPr>
            <a:endParaRPr lang="en-US" sz="10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80" b="1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1080" dirty="0"/>
          </a:p>
        </p:txBody>
      </p:sp>
      <p:sp>
        <p:nvSpPr>
          <p:cNvPr id="17" name="Text 15"/>
          <p:cNvSpPr txBox="1"/>
          <p:nvPr/>
        </p:nvSpPr>
        <p:spPr>
          <a:xfrm>
            <a:off x="3419856" y="3127248"/>
            <a:ext cx="1929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Multinacional</a:t>
            </a:r>
            <a:endParaRPr lang="en-US" sz="960" dirty="0"/>
          </a:p>
        </p:txBody>
      </p:sp>
      <p:sp>
        <p:nvSpPr>
          <p:cNvPr id="18" name="Text 16"/>
          <p:cNvSpPr txBox="1"/>
          <p:nvPr/>
        </p:nvSpPr>
        <p:spPr>
          <a:xfrm>
            <a:off x="5568696" y="3127248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Domina, com a Olam, os canais de sésamo, feijão-boer e caju; unidades de processamento; exporta pelos portos da Beira e Nacala para a Índia, China, Indonésia e Vietname</a:t>
            </a:r>
            <a:endParaRPr lang="en-US" sz="960" dirty="0"/>
          </a:p>
        </p:txBody>
      </p:sp>
      <p:sp>
        <p:nvSpPr>
          <p:cNvPr id="19" name="Text 17"/>
          <p:cNvSpPr txBox="1"/>
          <p:nvPr/>
        </p:nvSpPr>
        <p:spPr>
          <a:xfrm>
            <a:off x="8357616" y="3127248"/>
            <a:ext cx="30540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Pre-export e structured commodity finance · financiamento de agregação em campo · câmbio · cobranças de campanha em zonas rurais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685800" y="3840480"/>
            <a:ext cx="10820095" cy="749808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13816" y="3877056"/>
            <a:ext cx="23865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Agrifocus</a:t>
            </a:r>
            <a:pPr indent="0" marL="0">
              <a:lnSpc>
                <a:spcPct val="105000"/>
              </a:lnSpc>
              <a:buNone/>
            </a:pPr>
            <a:endParaRPr lang="en-US" sz="108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80" b="1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1080" dirty="0"/>
          </a:p>
        </p:txBody>
      </p:sp>
      <p:sp>
        <p:nvSpPr>
          <p:cNvPr id="22" name="Text 20"/>
          <p:cNvSpPr txBox="1"/>
          <p:nvPr/>
        </p:nvSpPr>
        <p:spPr>
          <a:xfrm>
            <a:off x="3419856" y="3877056"/>
            <a:ext cx="19293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privado</a:t>
            </a:r>
            <a:endParaRPr lang="en-US" sz="960" dirty="0"/>
          </a:p>
        </p:txBody>
      </p:sp>
      <p:sp>
        <p:nvSpPr>
          <p:cNvPr id="23" name="Text 21"/>
          <p:cNvSpPr txBox="1"/>
          <p:nvPr/>
        </p:nvSpPr>
        <p:spPr>
          <a:xfrm>
            <a:off x="5568696" y="3877056"/>
            <a:ext cx="256946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insumos e equipamento agrícola. Maputo e cobertura nacional</a:t>
            </a:r>
            <a:endParaRPr lang="en-US" sz="960" dirty="0"/>
          </a:p>
        </p:txBody>
      </p:sp>
      <p:sp>
        <p:nvSpPr>
          <p:cNvPr id="24" name="Text 22"/>
          <p:cNvSpPr txBox="1"/>
          <p:nvPr/>
        </p:nvSpPr>
        <p:spPr>
          <a:xfrm>
            <a:off x="8357616" y="3877056"/>
            <a:ext cx="30540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 de stock · leasing de equipamento ao cliente final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685800" y="4736592"/>
            <a:ext cx="10820095" cy="566928"/>
          </a:xfrm>
          <a:prstGeom prst="roundRect">
            <a:avLst>
              <a:gd name="adj" fmla="val 9677"/>
            </a:avLst>
          </a:prstGeom>
          <a:solidFill>
            <a:srgbClr val="F7E4E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05256" y="4736592"/>
            <a:ext cx="103811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6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 risco   </a:t>
            </a:r>
            <a:pPr indent="0" marL="0">
              <a:lnSpc>
                <a:spcPct val="106000"/>
              </a:lnSpc>
              <a:buNone/>
            </a:pPr>
            <a:r>
              <a:rPr lang="en-US" sz="9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ETG: litígio de US$60 milhões com o Royal Group sobre feijão-boer, com apreensão de mercadoria. Qualquer estrutura sobre commodities desta contraparte exige collateral management independente e verificação de título.</a:t>
            </a:r>
            <a:endParaRPr lang="en-US" sz="96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6345936"/>
            <a:ext cx="10088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Club of Mozambique (rebranding AQI); ETG; Feed the Future Inova, Value Chain Analysis; 360 Mozambique.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ORGANIZAMOS A CARTEIRA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Segmentação de cobertura e tese de originação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tiers, três equipas, um mesmo mapa de contrapartes.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350666" cy="2706624"/>
          </a:xfrm>
          <a:prstGeom prst="roundRect">
            <a:avLst>
              <a:gd name="adj" fmla="val 2703"/>
            </a:avLst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5256" y="2286000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F5333F"/>
          </a:solidFill>
          <a:ln w="12700">
            <a:solidFill>
              <a:srgbClr val="F533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5256" y="228600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2651760"/>
            <a:ext cx="29117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Âncoras — Banca Corporativa e de Investimento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05256" y="3127248"/>
            <a:ext cx="291175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C9C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Xinavane · Mafambisse · Sena · Maragra · Mozambique Leaf Tobacco · Portucel · Merec · CIM · Olam Agri · ETG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C9C4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Necessidade: structured finance, câmbio, trade e cash management de grupo.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4420514" y="2084832"/>
            <a:ext cx="3350666" cy="2706624"/>
          </a:xfrm>
          <a:prstGeom prst="roundRect">
            <a:avLst>
              <a:gd name="adj" fmla="val 2703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39970" y="2286000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F5333F"/>
          </a:solidFill>
          <a:ln w="12700">
            <a:solidFill>
              <a:srgbClr val="F5333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39970" y="228600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639970" y="2651760"/>
            <a:ext cx="29117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e Empresas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639970" y="3127248"/>
            <a:ext cx="291175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JFS · Mozaco · Higest · Abílio Antunes · Novos Horizontes · Bananalândia · Jacaranda · Vanduzi · SANAM · SAM · SAN · Plexus · Condor · Pembe · Wanbao · Green Resources · IFLOMA · Madal · AQI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Necessidade: capital de exploração, asset finance, cobranças, seguro.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8155229" y="2084832"/>
            <a:ext cx="3350666" cy="2706624"/>
          </a:xfrm>
          <a:prstGeom prst="roundRect">
            <a:avLst>
              <a:gd name="adj" fmla="val 2703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4685" y="2286000"/>
            <a:ext cx="786384" cy="256032"/>
          </a:xfrm>
          <a:prstGeom prst="roundRect">
            <a:avLst>
              <a:gd name="adj" fmla="val 50000"/>
            </a:avLst>
          </a:prstGeom>
          <a:solidFill>
            <a:srgbClr val="F5333F"/>
          </a:solidFill>
          <a:ln w="12700">
            <a:solidFill>
              <a:srgbClr val="F533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74685" y="2286000"/>
            <a:ext cx="786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374685" y="2651760"/>
            <a:ext cx="291175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PME agrícola e cadeia — Banca de Negócios, com FINOVA e a garantia DFC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374685" y="3127248"/>
            <a:ext cx="2911754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Outgrowers das âncoras · os 250 agro-dealers da AQI · transportadores · prestadores de mecanização · processadoras de caju em reestruturação · as 74.706 explorações médias do IAI 2023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Necessidade: conta, pagamentos digitais, microcrédito de insumos sob contrato.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85800" y="4974336"/>
            <a:ext cx="10820095" cy="749808"/>
          </a:xfrm>
          <a:prstGeom prst="roundRect">
            <a:avLst>
              <a:gd name="adj" fmla="val 9756"/>
            </a:avLst>
          </a:prstGeom>
          <a:solidFill>
            <a:srgbClr val="F533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96696" y="4974336"/>
            <a:ext cx="10198303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empresa Tier 1 é uma porta de entrada para centenas de contrapartes Tier 3.</a:t>
            </a:r>
            <a:endParaRPr lang="en-US" sz="14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Bancarizar a âncora dá-nos o fluxo; bancarizar a cadeia da âncora dá-nos a carteira.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OFERTA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Suite de soluções: do insumo ao pagamento final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matriz de sempre — mas agora com FINOVA e a garantia DFC por trás do preço e do risco.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048256"/>
            <a:ext cx="10820095" cy="329184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32104" y="2048256"/>
            <a:ext cx="2889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NECESSIDADE DO CLIENTE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941064" y="2048256"/>
            <a:ext cx="4261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ABSA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421624" y="2048256"/>
            <a:ext cx="3008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PARA O SEU NEGÓCIO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85800" y="2377440"/>
            <a:ext cx="10820095" cy="566928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" y="2414016"/>
            <a:ext cx="28895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Insumos sazonais e capital de exploração</a:t>
            </a:r>
            <a:endParaRPr lang="en-US" sz="1060" dirty="0"/>
          </a:p>
        </p:txBody>
      </p:sp>
      <p:sp>
        <p:nvSpPr>
          <p:cNvPr id="12" name="Text 10"/>
          <p:cNvSpPr txBox="1"/>
          <p:nvPr/>
        </p:nvSpPr>
        <p:spPr>
          <a:xfrm>
            <a:off x="3941064" y="2414016"/>
            <a:ext cx="42611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 agrícola alinhado ao caixa, descoberto e financiamento por ordem de compra — com FINOVA onde for elegível</a:t>
            </a:r>
            <a:endParaRPr lang="en-US" sz="1060" dirty="0"/>
          </a:p>
        </p:txBody>
      </p:sp>
      <p:sp>
        <p:nvSpPr>
          <p:cNvPr id="13" name="Text 11"/>
          <p:cNvSpPr txBox="1"/>
          <p:nvPr/>
        </p:nvSpPr>
        <p:spPr>
          <a:xfrm>
            <a:off x="8421624" y="2414016"/>
            <a:ext cx="30083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 certo quando os custos chegam antes das vendas</a:t>
            </a:r>
            <a:endParaRPr lang="en-US" sz="1060" dirty="0"/>
          </a:p>
        </p:txBody>
      </p:sp>
      <p:sp>
        <p:nvSpPr>
          <p:cNvPr id="14" name="Text 12"/>
          <p:cNvSpPr txBox="1"/>
          <p:nvPr/>
        </p:nvSpPr>
        <p:spPr>
          <a:xfrm>
            <a:off x="832104" y="2980944"/>
            <a:ext cx="28895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Equipamentos e activos climáticos inteligentes</a:t>
            </a:r>
            <a:endParaRPr lang="en-US" sz="1060" dirty="0"/>
          </a:p>
        </p:txBody>
      </p:sp>
      <p:sp>
        <p:nvSpPr>
          <p:cNvPr id="15" name="Text 13"/>
          <p:cNvSpPr txBox="1"/>
          <p:nvPr/>
        </p:nvSpPr>
        <p:spPr>
          <a:xfrm>
            <a:off x="3941064" y="2980944"/>
            <a:ext cx="42611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Financiamento de activos, financiamento verde e apoio à irrigação solar</a:t>
            </a:r>
            <a:endParaRPr lang="en-US" sz="1060" dirty="0"/>
          </a:p>
        </p:txBody>
      </p:sp>
      <p:sp>
        <p:nvSpPr>
          <p:cNvPr id="16" name="Text 14"/>
          <p:cNvSpPr txBox="1"/>
          <p:nvPr/>
        </p:nvSpPr>
        <p:spPr>
          <a:xfrm>
            <a:off x="8421624" y="2980944"/>
            <a:ext cx="30083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produtividade e resiliência ao choque climático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685800" y="3511296"/>
            <a:ext cx="10820095" cy="566928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2104" y="3547872"/>
            <a:ext cx="28895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Comércio, importações e exportações</a:t>
            </a:r>
            <a:endParaRPr lang="en-US" sz="1060" dirty="0"/>
          </a:p>
        </p:txBody>
      </p:sp>
      <p:sp>
        <p:nvSpPr>
          <p:cNvPr id="19" name="Text 17"/>
          <p:cNvSpPr txBox="1"/>
          <p:nvPr/>
        </p:nvSpPr>
        <p:spPr>
          <a:xfrm>
            <a:off x="3941064" y="3547872"/>
            <a:ext cx="42611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finance, câmbio, contas multimoeda e transferências internacionais</a:t>
            </a:r>
            <a:endParaRPr lang="en-US" sz="1060" dirty="0"/>
          </a:p>
        </p:txBody>
      </p:sp>
      <p:sp>
        <p:nvSpPr>
          <p:cNvPr id="20" name="Text 18"/>
          <p:cNvSpPr txBox="1"/>
          <p:nvPr/>
        </p:nvSpPr>
        <p:spPr>
          <a:xfrm>
            <a:off x="8421624" y="3547872"/>
            <a:ext cx="30083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Liquidar fluxos transfronteiriços com confiança e previsibilidade</a:t>
            </a:r>
            <a:endParaRPr lang="en-US" sz="1060" dirty="0"/>
          </a:p>
        </p:txBody>
      </p:sp>
      <p:sp>
        <p:nvSpPr>
          <p:cNvPr id="21" name="Text 19"/>
          <p:cNvSpPr txBox="1"/>
          <p:nvPr/>
        </p:nvSpPr>
        <p:spPr>
          <a:xfrm>
            <a:off x="832104" y="4114800"/>
            <a:ext cx="28895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Cobranças e pagamentos</a:t>
            </a:r>
            <a:endParaRPr lang="en-US" sz="1060" dirty="0"/>
          </a:p>
        </p:txBody>
      </p:sp>
      <p:sp>
        <p:nvSpPr>
          <p:cNvPr id="22" name="Text 20"/>
          <p:cNvSpPr txBox="1"/>
          <p:nvPr/>
        </p:nvSpPr>
        <p:spPr>
          <a:xfrm>
            <a:off x="3941064" y="4114800"/>
            <a:ext cx="42611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Absa Access, banca electrónica, aceitação móvel e agência bancária</a:t>
            </a:r>
            <a:endParaRPr lang="en-US" sz="1060" dirty="0"/>
          </a:p>
        </p:txBody>
      </p:sp>
      <p:sp>
        <p:nvSpPr>
          <p:cNvPr id="23" name="Text 21"/>
          <p:cNvSpPr txBox="1"/>
          <p:nvPr/>
        </p:nvSpPr>
        <p:spPr>
          <a:xfrm>
            <a:off x="8421624" y="4114800"/>
            <a:ext cx="30083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numerário no terreno e reconciliação mais rápida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685800" y="4645152"/>
            <a:ext cx="10820095" cy="566928"/>
          </a:xfrm>
          <a:prstGeom prst="rect">
            <a:avLst/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32104" y="4681728"/>
            <a:ext cx="28895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Risco, aconselhamento e crescimento</a:t>
            </a:r>
            <a:endParaRPr lang="en-US" sz="1060" dirty="0"/>
          </a:p>
        </p:txBody>
      </p:sp>
      <p:sp>
        <p:nvSpPr>
          <p:cNvPr id="26" name="Text 24"/>
          <p:cNvSpPr txBox="1"/>
          <p:nvPr/>
        </p:nvSpPr>
        <p:spPr>
          <a:xfrm>
            <a:off x="3941064" y="4681728"/>
            <a:ext cx="42611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 empresariais, especialistas agro, garantias parceiras e programas de parceiros</a:t>
            </a:r>
            <a:endParaRPr lang="en-US" sz="1060" dirty="0"/>
          </a:p>
        </p:txBody>
      </p:sp>
      <p:sp>
        <p:nvSpPr>
          <p:cNvPr id="27" name="Text 25"/>
          <p:cNvSpPr txBox="1"/>
          <p:nvPr/>
        </p:nvSpPr>
        <p:spPr>
          <a:xfrm>
            <a:off x="8421624" y="4681728"/>
            <a:ext cx="30083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6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margens e decidir melhor no ciclo seguinte</a:t>
            </a:r>
            <a:endParaRPr lang="en-US" sz="1060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6345936"/>
            <a:ext cx="10088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facilidades de crédito estão sujeitas a elegibilidade, avaliação de crédito, documentação e requisitos regulamentares.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Acesso com disciplina: expandir crédito gerindo o risco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movimentos que deslocam a conversa da garantia real para o fluxo de caixa.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103120"/>
            <a:ext cx="2513000" cy="2139696"/>
          </a:xfrm>
          <a:prstGeom prst="roundRect">
            <a:avLst>
              <a:gd name="adj" fmla="val 3419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05256" y="2304288"/>
            <a:ext cx="2074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905256" y="3035808"/>
            <a:ext cx="207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Ancorar a procura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05256" y="3383280"/>
            <a:ext cx="20740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 contratos de compra e ordens de compra das empresas âncora — MLT, SANAM, Higest, Merec — para evidenciar acesso real ao mercado.</a:t>
            </a:r>
            <a:endParaRPr lang="en-US" sz="1040" dirty="0"/>
          </a:p>
        </p:txBody>
      </p:sp>
      <p:sp>
        <p:nvSpPr>
          <p:cNvPr id="10" name="Shape 8"/>
          <p:cNvSpPr/>
          <p:nvPr/>
        </p:nvSpPr>
        <p:spPr>
          <a:xfrm>
            <a:off x="3454832" y="2103120"/>
            <a:ext cx="2513000" cy="2139696"/>
          </a:xfrm>
          <a:prstGeom prst="roundRect">
            <a:avLst>
              <a:gd name="adj" fmla="val 3419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674288" y="2304288"/>
            <a:ext cx="2074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674288" y="3035808"/>
            <a:ext cx="207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Alinhar o fluxo de caixa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674288" y="3383280"/>
            <a:ext cx="20740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Estruturar reembolsos sobre o ciclo da cultura, o plano de produção e o calendário de venda previsto, não sobre um perfil genérico.</a:t>
            </a:r>
            <a:endParaRPr lang="en-US" sz="1040" dirty="0"/>
          </a:p>
        </p:txBody>
      </p:sp>
      <p:sp>
        <p:nvSpPr>
          <p:cNvPr id="14" name="Shape 12"/>
          <p:cNvSpPr/>
          <p:nvPr/>
        </p:nvSpPr>
        <p:spPr>
          <a:xfrm>
            <a:off x="6223864" y="2103120"/>
            <a:ext cx="2513000" cy="2139696"/>
          </a:xfrm>
          <a:prstGeom prst="roundRect">
            <a:avLst>
              <a:gd name="adj" fmla="val 3419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43320" y="2304288"/>
            <a:ext cx="2074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443320" y="3035808"/>
            <a:ext cx="207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Digitalizar o registo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43320" y="3383280"/>
            <a:ext cx="20740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Transformar históricos de cobranças e pagamentos em visibilidade de crédito — sobretudo nas cadeias de fomento com dezenas de milhares de produtores.</a:t>
            </a:r>
            <a:endParaRPr lang="en-US" sz="1040" dirty="0"/>
          </a:p>
        </p:txBody>
      </p:sp>
      <p:sp>
        <p:nvSpPr>
          <p:cNvPr id="18" name="Shape 16"/>
          <p:cNvSpPr/>
          <p:nvPr/>
        </p:nvSpPr>
        <p:spPr>
          <a:xfrm>
            <a:off x="8992895" y="2103120"/>
            <a:ext cx="2513000" cy="2139696"/>
          </a:xfrm>
          <a:prstGeom prst="roundRect">
            <a:avLst>
              <a:gd name="adj" fmla="val 3419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212351" y="2304288"/>
            <a:ext cx="20740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9212351" y="3035808"/>
            <a:ext cx="207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Proteger contra riscos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212351" y="3383280"/>
            <a:ext cx="20740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Combinar seguro agrícola, a garantia parcial DFC e a monitoria de parceiros onde a exposição o justifique.</a:t>
            </a:r>
            <a:endParaRPr lang="en-US" sz="104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517136"/>
            <a:ext cx="1082009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 para o cliente: acesso mais transparente a financiamento, sustentado por registos empresariais mais fortes e protecções reais contra os choques da agricultura.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345936"/>
            <a:ext cx="100885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facilidades de crédito estão sujeitas a elegibilidade, avaliação de crédito, documentação e requisitos regulamentares.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F5333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7498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6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097280"/>
            <a:ext cx="10058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Vamos financiar juntos a próxima época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186537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4AF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sessão de trabalho transforma o calendário agrícola do cliente num plano de financiamento, pagamentos e protecção.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05840" y="2615184"/>
            <a:ext cx="2432990" cy="2011680"/>
          </a:xfrm>
          <a:prstGeom prst="roundRect">
            <a:avLst>
              <a:gd name="adj" fmla="val 3636"/>
            </a:avLst>
          </a:prstGeom>
          <a:solidFill>
            <a:srgbClr val="26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07008" y="276148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218688"/>
            <a:ext cx="20306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Mapear o plano sazonal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803904"/>
            <a:ext cx="203065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20" dirty="0">
                <a:solidFill>
                  <a:srgbClr val="9E99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Cultura, insumos, mão de obra, colheita e calendário de compradores.</a:t>
            </a:r>
            <a:endParaRPr lang="en-US" sz="1020" dirty="0"/>
          </a:p>
        </p:txBody>
      </p:sp>
      <p:sp>
        <p:nvSpPr>
          <p:cNvPr id="10" name="Shape 8"/>
          <p:cNvSpPr/>
          <p:nvPr/>
        </p:nvSpPr>
        <p:spPr>
          <a:xfrm>
            <a:off x="3694862" y="2615184"/>
            <a:ext cx="2432990" cy="2011680"/>
          </a:xfrm>
          <a:prstGeom prst="roundRect">
            <a:avLst>
              <a:gd name="adj" fmla="val 3636"/>
            </a:avLst>
          </a:prstGeom>
          <a:solidFill>
            <a:srgbClr val="26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96030" y="276148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896030" y="3218688"/>
            <a:ext cx="20306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Estruturar financiamento e pagamentos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896030" y="3803904"/>
            <a:ext cx="203065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20" dirty="0">
                <a:solidFill>
                  <a:srgbClr val="9E99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de exploração, financiamento de activos e canais digitais — com FINOVA onde for elegível.</a:t>
            </a:r>
            <a:endParaRPr lang="en-US" sz="1020" dirty="0"/>
          </a:p>
        </p:txBody>
      </p:sp>
      <p:sp>
        <p:nvSpPr>
          <p:cNvPr id="14" name="Shape 12"/>
          <p:cNvSpPr/>
          <p:nvPr/>
        </p:nvSpPr>
        <p:spPr>
          <a:xfrm>
            <a:off x="6383884" y="2615184"/>
            <a:ext cx="2432990" cy="2011680"/>
          </a:xfrm>
          <a:prstGeom prst="roundRect">
            <a:avLst>
              <a:gd name="adj" fmla="val 3636"/>
            </a:avLst>
          </a:prstGeom>
          <a:solidFill>
            <a:srgbClr val="26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5052" y="276148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6585052" y="3218688"/>
            <a:ext cx="20306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as protecções de risco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5052" y="3803904"/>
            <a:ext cx="203065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20" dirty="0">
                <a:solidFill>
                  <a:srgbClr val="9E99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Seguros, garantias, parceiros de monitoria e consultoria agro.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9072905" y="2615184"/>
            <a:ext cx="2432990" cy="2011680"/>
          </a:xfrm>
          <a:prstGeom prst="roundRect">
            <a:avLst>
              <a:gd name="adj" fmla="val 3636"/>
            </a:avLst>
          </a:prstGeom>
          <a:solidFill>
            <a:srgbClr val="26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274073" y="2761488"/>
            <a:ext cx="548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9274073" y="3218688"/>
            <a:ext cx="20306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Rever, reinvestir e crescer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274073" y="3803904"/>
            <a:ext cx="203065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20" dirty="0">
                <a:solidFill>
                  <a:srgbClr val="9E99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pós-colheita e planeamento do ciclo seguinte.</a:t>
            </a:r>
            <a:endParaRPr lang="en-US" sz="102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4974336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Absa Bank Moçambique  ·  Banca de Negócios e Banca Corporativa e de Investimento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5285232"/>
            <a:ext cx="7680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53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sua história importa.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482535" y="605332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Sujeito à aprovação de crédito e aos termos padrão.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53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658368"/>
            <a:ext cx="10820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Fontes e avisos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0957255" y="6382512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6E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8132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dados de empresas e de mercado provêm de fontes públicas consultadas em 2026.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85800" y="2084832"/>
            <a:ext cx="3350666" cy="2487168"/>
          </a:xfrm>
          <a:prstGeom prst="roundRect">
            <a:avLst>
              <a:gd name="adj" fmla="val 2941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05256" y="2286000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Oficiais e estatísticas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905256" y="2615184"/>
            <a:ext cx="291175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 Moçambique — estatísticas de crédito por finalidade, Relatório de Inclusão Financeira 2025, lançamento do projecto FINOVA</a:t>
            </a:r>
            <a:endParaRPr lang="en-US" sz="9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 e Ministério da Agricultura, Ambiente e Pescas — Inquérito Agrário Integrado 2023</a:t>
            </a:r>
            <a:endParaRPr lang="en-US" sz="9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Instituto do Algodão e Oleaginosas (IAOM)</a:t>
            </a:r>
            <a:endParaRPr lang="en-US" sz="9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Instituto de Cereais de Moçambique (ICM, IP)</a:t>
            </a:r>
            <a:endParaRPr lang="en-US" sz="9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IGEPE · Autoridade Reguladora da Concorrência</a:t>
            </a:r>
            <a:endParaRPr lang="en-US" sz="940" dirty="0"/>
          </a:p>
        </p:txBody>
      </p:sp>
      <p:sp>
        <p:nvSpPr>
          <p:cNvPr id="9" name="Shape 7"/>
          <p:cNvSpPr/>
          <p:nvPr/>
        </p:nvSpPr>
        <p:spPr>
          <a:xfrm>
            <a:off x="4420514" y="2084832"/>
            <a:ext cx="3350666" cy="2487168"/>
          </a:xfrm>
          <a:prstGeom prst="roundRect">
            <a:avLst>
              <a:gd name="adj" fmla="val 2941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39970" y="2286000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Investigação e desenvolvimento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639970" y="2615184"/>
            <a:ext cx="291175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UNU-WIDER / IGM — Desenvolvimento Agrário em Moçambique (2025)</a:t>
            </a:r>
            <a:endParaRPr lang="en-US" sz="9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Observatório do Meio Rural — Crédito Interno ao Sector Agrário</a:t>
            </a:r>
            <a:endParaRPr lang="en-US" sz="9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IGC / MEF — Cadeia de Valor do Frango em Moçambique</a:t>
            </a:r>
            <a:endParaRPr lang="en-US" sz="9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Mundial — The Plantation Forestry Sector in Mozambique</a:t>
            </a:r>
            <a:endParaRPr lang="en-US" sz="9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International Development Finance Corporation · Feed the Future Inova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8155229" y="2084832"/>
            <a:ext cx="3350666" cy="2487168"/>
          </a:xfrm>
          <a:prstGeom prst="roundRect">
            <a:avLst>
              <a:gd name="adj" fmla="val 2941"/>
            </a:avLst>
          </a:prstGeom>
          <a:solidFill>
            <a:srgbClr val="F1EFEC"/>
          </a:solidFill>
          <a:ln w="12700">
            <a:solidFill>
              <a:srgbClr val="F1EFEC"/>
            </a:solidFill>
            <a:prstDash val="solid"/>
          </a:ln>
          <a:effectLst>
            <a:outerShdw sx="100000" sy="100000" kx="0" ky="0" algn="bl" rotWithShape="0" blurRad="1270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374685" y="2286000"/>
            <a:ext cx="29117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Imprensa e empresas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374685" y="2615184"/>
            <a:ext cx="291175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· Club of Mozambique · Sugaronline · FurtherAfrica · Diário Económico · Rádio Moçambique · Food Business Africa</a:t>
            </a:r>
            <a:endParaRPr lang="en-US" sz="9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4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Sítios institucionais: Universal Corporation, Tongaat Hulett, Illovo Sugar Africa, The Navigator Company, Merec Industries, Higest, Novos Horizontes, JFS Holding, ETG, Companhia do Vanduzi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685800" y="4754880"/>
            <a:ext cx="10820095" cy="932688"/>
          </a:xfrm>
          <a:prstGeom prst="roundRect">
            <a:avLst>
              <a:gd name="adj" fmla="val 7843"/>
            </a:avLst>
          </a:prstGeom>
          <a:solidFill>
            <a:srgbClr val="F1EF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4754880"/>
            <a:ext cx="1027145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9E1B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  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B3B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e volumes referem-se ao exercício mais recente publicado por cada fonte e podem divergir do desempenho corrente. As facilidades de crédito estão sujeitas a elegibilidade, avaliação de crédito, documentação e requisitos regulamentares. Este material destina-se a orientação comercial interna e não constitui aconselhamento de investimento nem recomendação sobre qualquer contraparte nomeada.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CVP Agronegócios · Moçambique 2026</dc:title>
  <dc:subject>PptxGenJS Presentation</dc:subject>
  <dc:creator>Absa Bank Moçambique</dc:creator>
  <cp:lastModifiedBy>Absa Bank Moçambique</cp:lastModifiedBy>
  <cp:revision>1</cp:revision>
  <dcterms:created xsi:type="dcterms:W3CDTF">2026-09-07T15:40:20Z</dcterms:created>
  <dcterms:modified xsi:type="dcterms:W3CDTF">2026-09-07T15:40:20Z</dcterms:modified>
</cp:coreProperties>
</file>