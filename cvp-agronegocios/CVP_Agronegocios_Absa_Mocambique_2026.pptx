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Documento institucional. Destina-se a apresentação a clientes empresariais, parceiros de desenvolvimento e interlocutores internacionais. Todos os dados citados provêm de fontes públicas identificadas no slide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instituição mais exposta ao sector declara 12% da carteira; um caso excepcional atinge 25%. A média situa-se, contudo, entre 2% e 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Xinavane previa moer 1.434.389 toneladas de cana na campanha de 2024/25; Mafambisse processou 346.643 toneladas. A Maragra produzia cerca de 80.000 toneladas a partir de mais de 460.000 toneladas de cana antes da suspensão.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capacidade instalada de descaroçamento no país ascende a 250.000 toneladas por ano, muito acima das cerca de 50.000 toneladas efectivamente produzidas. Existe, portanto, folga industrial e apetite por volume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primeiros nove meses de 2025 o país produziu 99,2 mil toneladas de frango e 23,2 milhões de dúzias de ovos. A ração constitui o custo dominante e é largamente importada, o que explica o peso do crédito documentário e do câmbio nesta fileira.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insolvência da Matanuska em 2018, com 1.550 hectares perdidos para o fungo Fusarium, é o precedente a invocar quando o cliente resiste ao custo do seguro e do acompanhamento fitossanitário.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Wanbao o rendimento por hectare subiu de 1 a 2 toneladas para 5 a 7 toneladas. As 353 famílias integradas por contrato constituem o modelo replicável de crédito ao terceiro segmento ancorado numa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fase do projecto da Portucel prevê um investimento até 260 milhões de dólares, 40.000 hectares plantados e uma unidade de estilha com capacidade para um milhão de toneladas por 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0"/>
            <a:ext cx="652241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0936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03504"/>
            <a:ext cx="1700784" cy="49377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19751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PROPOSTA DE VALOR PARA O CLIENTE  ·  2026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359152"/>
            <a:ext cx="52120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Agronegócio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Moçambique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4078224"/>
            <a:ext cx="5029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proposta integrada de financiamento, pagamentos, protecção de risco e acesso ao mercado, concebida em função do calendário agrícola e das trinta e quatro empresas que estruturam o sector.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521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Bank Moçambique, S.A.</a:t>
            </a:r>
            <a:endParaRPr lang="en-US" sz="10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Banca de Negócios  ·  Banca Corporativa e de Investimento</a:t>
            </a:r>
            <a:endParaRPr lang="en-US" sz="10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3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420" fill="hold"/>
                                        <p:tgtEl>
                                          <p:spTgt spid="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PRELIMINAR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Como ler este documento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Dirige-se igualmente a quem conhece o sector agrícola moçambicano e a quem hoje o encontra pela primeira vez.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87242" cy="1975104"/>
          </a:xfrm>
          <a:prstGeom prst="roundRect">
            <a:avLst>
              <a:gd name="adj" fmla="val 277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41832" y="2432304"/>
            <a:ext cx="2875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que é uma Proposta de Valor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871216"/>
            <a:ext cx="287517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banca, uma Proposta de Valor para o Cliente, ou CVP, do inglês Customer Value Proposition, é o documento que estabelece o que a instituição oferece a um segmento, por que razão essa oferta é pertinente e em que se distingue da concorrência.</a:t>
            </a:r>
            <a:endParaRPr lang="en-US" sz="980" dirty="0"/>
          </a:p>
        </p:txBody>
      </p:sp>
      <p:sp>
        <p:nvSpPr>
          <p:cNvPr id="10" name="Shape 7"/>
          <p:cNvSpPr/>
          <p:nvPr/>
        </p:nvSpPr>
        <p:spPr>
          <a:xfrm>
            <a:off x="4402226" y="2249424"/>
            <a:ext cx="3387242" cy="1975104"/>
          </a:xfrm>
          <a:prstGeom prst="roundRect">
            <a:avLst>
              <a:gd name="adj" fmla="val 277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58258" y="2432304"/>
            <a:ext cx="2875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quem se dirige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658258" y="2871216"/>
            <a:ext cx="287517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três destinatários: às equipas comerciais do Banco, que dele se servem em reunião; aos clientes empresariais do sector agrícola; e a parceiros institucionais e internacionais que avaliem a actuação do Banco neste domínio.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8118653" y="2249424"/>
            <a:ext cx="3387242" cy="1975104"/>
          </a:xfrm>
          <a:prstGeom prst="roundRect">
            <a:avLst>
              <a:gd name="adj" fmla="val 277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74685" y="2432304"/>
            <a:ext cx="2875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Como está organizado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8374685" y="2871216"/>
            <a:ext cx="287517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primeira parte estabelece o contexto do país e do sector. A segunda apresenta, empresa a empresa, as trinta e quatro contrapartes que estruturam o agronegócio nacional. A terceira descreve a oferta do Banco e o modo de a accionar.</a:t>
            </a:r>
            <a:endParaRPr lang="en-US" sz="980" dirty="0"/>
          </a:p>
        </p:txBody>
      </p:sp>
      <p:sp>
        <p:nvSpPr>
          <p:cNvPr id="16" name="Shape 13"/>
          <p:cNvSpPr/>
          <p:nvPr/>
        </p:nvSpPr>
        <p:spPr>
          <a:xfrm>
            <a:off x="685800" y="4370832"/>
            <a:ext cx="10820095" cy="1536192"/>
          </a:xfrm>
          <a:prstGeom prst="roundRect">
            <a:avLst>
              <a:gd name="adj" fmla="val 357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78408" y="4498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Glossário essencial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4828032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78408" y="5029200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do custo da campanha (semente, adubo, mão de obra) até à venda da colheita.</a:t>
            </a:r>
            <a:endParaRPr lang="en-US" sz="880" dirty="0"/>
          </a:p>
        </p:txBody>
      </p:sp>
      <p:sp>
        <p:nvSpPr>
          <p:cNvPr id="20" name="Text 17"/>
          <p:cNvSpPr txBox="1"/>
          <p:nvPr/>
        </p:nvSpPr>
        <p:spPr>
          <a:xfrm>
            <a:off x="4481474" y="4828032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 integrado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481474" y="5029200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Agricultor que produz ao abrigo de contrato celebrado com uma empresa compradora.</a:t>
            </a:r>
            <a:endParaRPr lang="en-US" sz="880" dirty="0"/>
          </a:p>
        </p:txBody>
      </p:sp>
      <p:sp>
        <p:nvSpPr>
          <p:cNvPr id="22" name="Text 19"/>
          <p:cNvSpPr txBox="1"/>
          <p:nvPr/>
        </p:nvSpPr>
        <p:spPr>
          <a:xfrm>
            <a:off x="7984541" y="4828032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activos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984541" y="5029200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para aquisição de equipamento: tractores, sistemas de rega, câmaras de frio.</a:t>
            </a:r>
            <a:endParaRPr lang="en-US" sz="880" dirty="0"/>
          </a:p>
        </p:txBody>
      </p:sp>
      <p:sp>
        <p:nvSpPr>
          <p:cNvPr id="24" name="Text 21"/>
          <p:cNvSpPr txBox="1"/>
          <p:nvPr/>
        </p:nvSpPr>
        <p:spPr>
          <a:xfrm>
            <a:off x="978408" y="5340096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ao comércio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8408" y="5541264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Instrumentos que permitem importar e exportar com segurança de pagamento entre as partes.</a:t>
            </a:r>
            <a:endParaRPr lang="en-US" sz="880" dirty="0"/>
          </a:p>
        </p:txBody>
      </p:sp>
      <p:sp>
        <p:nvSpPr>
          <p:cNvPr id="26" name="Text 23"/>
          <p:cNvSpPr txBox="1"/>
          <p:nvPr/>
        </p:nvSpPr>
        <p:spPr>
          <a:xfrm>
            <a:off x="4481474" y="5340096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sobre mercadoria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481474" y="5541264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garantido por produto armazenado, libertado à medida que a mercadoria é vendida.</a:t>
            </a:r>
            <a:endParaRPr lang="en-US" sz="880" dirty="0"/>
          </a:p>
        </p:txBody>
      </p:sp>
      <p:sp>
        <p:nvSpPr>
          <p:cNvPr id="28" name="Text 25"/>
          <p:cNvSpPr txBox="1"/>
          <p:nvPr/>
        </p:nvSpPr>
        <p:spPr>
          <a:xfrm>
            <a:off x="7984541" y="5340096"/>
            <a:ext cx="32287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Fileira, ou cadeia de valor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984541" y="5541264"/>
            <a:ext cx="32287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percurso completo de um produto, do insumo agrícola ao consumidor final.</a:t>
            </a:r>
            <a:endParaRPr lang="en-US" sz="88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CONTEXTO DO PAÍS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Moçambique num relance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País costeiro da África Austral, com cerca de 2.700 quilómetros de litoral e três corredores logísticos que servem o interior do continente.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923544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~34 M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923544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habitantes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População estimada, maioritariamente rural e jovem.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459404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697148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3697148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corredores logísticos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697148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Maputo, Beira e Nacala ligam o interior austral ao oceano Índico.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233008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470752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~23%</a:t>
            </a:r>
            <a:endParaRPr lang="en-US" sz="3400" dirty="0"/>
          </a:p>
        </p:txBody>
      </p:sp>
      <p:sp>
        <p:nvSpPr>
          <p:cNvPr id="18" name="Text 14"/>
          <p:cNvSpPr txBox="1"/>
          <p:nvPr/>
        </p:nvSpPr>
        <p:spPr>
          <a:xfrm>
            <a:off x="6470752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Produto Interno Bruto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70752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quanto a agricultura representa na economia nacional.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9006611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44355" y="2432304"/>
            <a:ext cx="20237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75,4%</a:t>
            </a:r>
            <a:endParaRPr lang="en-US" sz="3400" dirty="0"/>
          </a:p>
        </p:txBody>
      </p:sp>
      <p:sp>
        <p:nvSpPr>
          <p:cNvPr id="22" name="Text 18"/>
          <p:cNvSpPr txBox="1"/>
          <p:nvPr/>
        </p:nvSpPr>
        <p:spPr>
          <a:xfrm>
            <a:off x="9244355" y="303580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força de trabalho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244355" y="3438144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Proporção da população activa ocupada na agricultura.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4846320"/>
            <a:ext cx="10820095" cy="914400"/>
          </a:xfrm>
          <a:prstGeom prst="roundRect">
            <a:avLst>
              <a:gd name="adj" fmla="val 6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4846320"/>
            <a:ext cx="1016172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principais fileiras de exportação, do tabaco e do açúcar ao algodão, à castanha de caju e à banana, distribuem-se por todo o território, do sul agrícola de Maputo ao norte produtivo de Nampula e do Niassa.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Instituto Nacional de Estatística · Banco de Moçambique · Ministério da Agricultura, Ambiente e Pescas.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3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3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INSTITUIÇÃO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Absa em África e em Moçambique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financeiro pan-africano, com presença própria em doze mercados do continente, e um banco moçambicano de dimensão relevante no sistema nacional.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17043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ABSA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países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923544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Presença global do Grupo, dos quais doze são mercados africanos com operação bancária própria.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3459404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697148" y="2414016"/>
            <a:ext cx="117043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97148" y="24140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ABSA</a:t>
            </a:r>
            <a:endParaRPr lang="en-US" sz="740" dirty="0"/>
          </a:p>
        </p:txBody>
      </p:sp>
      <p:sp>
        <p:nvSpPr>
          <p:cNvPr id="17" name="Text 13"/>
          <p:cNvSpPr txBox="1"/>
          <p:nvPr/>
        </p:nvSpPr>
        <p:spPr>
          <a:xfrm>
            <a:off x="3697148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34%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3697148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dos resultados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697148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Proporção dos resultados gerada fora da África do Sul, no conjunto das operações africanas.</a:t>
            </a:r>
            <a:endParaRPr lang="en-US" sz="980" dirty="0"/>
          </a:p>
        </p:txBody>
      </p:sp>
      <p:sp>
        <p:nvSpPr>
          <p:cNvPr id="20" name="Shape 16"/>
          <p:cNvSpPr/>
          <p:nvPr/>
        </p:nvSpPr>
        <p:spPr>
          <a:xfrm>
            <a:off x="6233008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470752" y="2414016"/>
            <a:ext cx="1389888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70752" y="2414016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MOÇAMBIQUE</a:t>
            </a:r>
            <a:endParaRPr lang="en-US" sz="740" dirty="0"/>
          </a:p>
        </p:txBody>
      </p:sp>
      <p:sp>
        <p:nvSpPr>
          <p:cNvPr id="23" name="Text 19"/>
          <p:cNvSpPr txBox="1"/>
          <p:nvPr/>
        </p:nvSpPr>
        <p:spPr>
          <a:xfrm>
            <a:off x="6470752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10,6%</a:t>
            </a:r>
            <a:endParaRPr lang="en-US" sz="2800" dirty="0"/>
          </a:p>
        </p:txBody>
      </p:sp>
      <p:sp>
        <p:nvSpPr>
          <p:cNvPr id="24" name="Text 20"/>
          <p:cNvSpPr txBox="1"/>
          <p:nvPr/>
        </p:nvSpPr>
        <p:spPr>
          <a:xfrm>
            <a:off x="6470752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crédito nacional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470752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Quota de mercado do Absa Bank Moçambique no crédito, no final de 2025.</a:t>
            </a:r>
            <a:endParaRPr lang="en-US" sz="980" dirty="0"/>
          </a:p>
        </p:txBody>
      </p:sp>
      <p:sp>
        <p:nvSpPr>
          <p:cNvPr id="26" name="Shape 22"/>
          <p:cNvSpPr/>
          <p:nvPr/>
        </p:nvSpPr>
        <p:spPr>
          <a:xfrm>
            <a:off x="9006611" y="2249424"/>
            <a:ext cx="2499284" cy="2157984"/>
          </a:xfrm>
          <a:prstGeom prst="roundRect">
            <a:avLst>
              <a:gd name="adj" fmla="val 254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9244355" y="2414016"/>
            <a:ext cx="1389888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244355" y="2414016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MOÇAMBIQUE</a:t>
            </a:r>
            <a:endParaRPr lang="en-US" sz="740" dirty="0"/>
          </a:p>
        </p:txBody>
      </p:sp>
      <p:sp>
        <p:nvSpPr>
          <p:cNvPr id="29" name="Text 25"/>
          <p:cNvSpPr txBox="1"/>
          <p:nvPr/>
        </p:nvSpPr>
        <p:spPr>
          <a:xfrm>
            <a:off x="9244355" y="2743200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1,3</a:t>
            </a:r>
            <a:endParaRPr lang="en-US" sz="2800" dirty="0"/>
          </a:p>
        </p:txBody>
      </p:sp>
      <p:sp>
        <p:nvSpPr>
          <p:cNvPr id="30" name="Text 26"/>
          <p:cNvSpPr txBox="1"/>
          <p:nvPr/>
        </p:nvSpPr>
        <p:spPr>
          <a:xfrm>
            <a:off x="9244355" y="3291840"/>
            <a:ext cx="20237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 milhões de euros de activo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9244355" y="3675888"/>
            <a:ext cx="20237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Dimensão do balanço. O Banco de Moçambique classifica a instituição como quase sistémica.</a:t>
            </a:r>
            <a:endParaRPr lang="en-US" sz="980" dirty="0"/>
          </a:p>
        </p:txBody>
      </p:sp>
      <p:sp>
        <p:nvSpPr>
          <p:cNvPr id="32" name="Shape 28"/>
          <p:cNvSpPr/>
          <p:nvPr/>
        </p:nvSpPr>
        <p:spPr>
          <a:xfrm>
            <a:off x="685800" y="4901184"/>
            <a:ext cx="10820095" cy="877824"/>
          </a:xfrm>
          <a:prstGeom prst="roundRect">
            <a:avLst>
              <a:gd name="adj" fmla="val 625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14984" y="4901184"/>
            <a:ext cx="10161727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Grupo Absa é um dos maiores financiadores de projectos agrícolas da África subsariana e mantém investigação sectorial própria, publicada com regularidade sob a designação Absa AgriTrends.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Absa Group Limited, resultados de 2025 · Absa Corporate and Investment Banking · Banco de Moçambique · imprensa económica moçambicana.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3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3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4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0"/>
            <a:ext cx="48764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76809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PROPOSTA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78992"/>
            <a:ext cx="65836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compromissos que definem</a:t>
            </a:r>
            <a:endParaRPr lang="en-US" sz="27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actuação do Banco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560320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07592" y="2542032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Estruturamos em função da época agrícola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307592" y="290779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condições de reembolso acompanham a produção prevista, os valores a receber e os contratos de compra celebrados. Não se impõe à agricultura um perfil de crédito concebido para outros sectores.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685800" y="385876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307592" y="384048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Partilhamos o preço e o risco com terceiros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07592" y="4206240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linha concessional FINOVA e a garantia da instituição financeira de desenvolvimento norte-americana permitem deferir operações que, isoladamente, não reuniriam garantias bastantes.</a:t>
            </a:r>
            <a:endParaRPr lang="en-US" sz="1120" dirty="0"/>
          </a:p>
        </p:txBody>
      </p:sp>
      <p:sp>
        <p:nvSpPr>
          <p:cNvPr id="14" name="Shape 11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307592" y="513892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Financiamos a fileira, e não apenas a conta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07592" y="5504688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fornecedor de insumos ao comprador final: pagamentos, cobranças e crédito ao longo de toda a cadeia de valor em que o cliente se insere.</a:t>
            </a:r>
            <a:endParaRPr lang="en-US" sz="1120" dirty="0"/>
          </a:p>
        </p:txBody>
      </p:sp>
      <p:pic>
        <p:nvPicPr>
          <p:cNvPr id="18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FUNDAMENTO COMERCIAL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desequilíbrio que define a oportunidade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sector não carece de procura de financiamento. Carece de estruturas de crédito compatíveis com o modo como a agricultura gera receita.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923544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~23%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923544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Produto Interno Bruto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Peso da agricultura na economia nacional.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459404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697148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~70%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3697148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população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697148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Depende do sector agrícola para o seu sustento.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233008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470752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002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2% a 6%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6470752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carteira de crédito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470752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quanto a generalidade dos bancos afecta à agricultura.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9006611" y="2249424"/>
            <a:ext cx="2499284" cy="1883664"/>
          </a:xfrm>
          <a:prstGeom prst="roundRect">
            <a:avLst>
              <a:gd name="adj" fmla="val 291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44355" y="2432304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4,5 M</a:t>
            </a:r>
            <a:endParaRPr lang="en-US" sz="3400" dirty="0"/>
          </a:p>
        </p:txBody>
      </p:sp>
      <p:sp>
        <p:nvSpPr>
          <p:cNvPr id="22" name="Text 18"/>
          <p:cNvSpPr txBox="1"/>
          <p:nvPr/>
        </p:nvSpPr>
        <p:spPr>
          <a:xfrm>
            <a:off x="9244355" y="301752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explorações agrícolas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9244355" y="3419856"/>
            <a:ext cx="2023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Recenseadas no Inquérito Agrário Integrado de 2023.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4846320"/>
            <a:ext cx="10820095" cy="914400"/>
          </a:xfrm>
          <a:prstGeom prst="roundRect">
            <a:avLst>
              <a:gd name="adj" fmla="val 6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4846320"/>
            <a:ext cx="1016172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Vinte e três por cento da economia; entre dois e seis por cento do crédito. Reduzir esta distância de forma estruturada, e não por simples aumento de apetite ao risco, é o objectivo desta proposta.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UNU-WIDER e Inclusive Growth in Mozambique, 2025 · Observatório do Meio Rural · Banco de Moçambique · INE, Inquérito Agrário Integrado de 2023.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3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3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INQUÉRITO AGRÁRIO INTEGRADO DE 2023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composição real do sector agrário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segmentos de dimensão muito distinta, que requerem três propostas de valor diferenciadas, servidas por uma única relação bancária.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62858" cy="2798064"/>
          </a:xfrm>
          <a:prstGeom prst="roundRect">
            <a:avLst>
              <a:gd name="adj" fmla="val 196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41832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761488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4.383.460</a:t>
            </a:r>
            <a:endParaRPr lang="en-US" sz="29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3328416"/>
            <a:ext cx="285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de pequena dimensão · 98,3%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3712464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Alcançadas de forma indirecta, através das cadeias das empresas âncora e da rede nacional de revendedores de insumos.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4425696"/>
            <a:ext cx="285079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Conta bancária · pagamentos digitais · crédito de insumos ao abrigo de contrato</a:t>
            </a:r>
            <a:endParaRPr lang="en-US" sz="960" dirty="0"/>
          </a:p>
        </p:txBody>
      </p:sp>
      <p:sp>
        <p:nvSpPr>
          <p:cNvPr id="14" name="Shape 11"/>
          <p:cNvSpPr/>
          <p:nvPr/>
        </p:nvSpPr>
        <p:spPr>
          <a:xfrm>
            <a:off x="4414418" y="2249424"/>
            <a:ext cx="3362858" cy="2798064"/>
          </a:xfrm>
          <a:prstGeom prst="roundRect">
            <a:avLst>
              <a:gd name="adj" fmla="val 196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70450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70450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7" name="Text 14"/>
          <p:cNvSpPr txBox="1"/>
          <p:nvPr/>
        </p:nvSpPr>
        <p:spPr>
          <a:xfrm>
            <a:off x="4670450" y="2761488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74.706</a:t>
            </a:r>
            <a:endParaRPr lang="en-US" sz="2900" dirty="0"/>
          </a:p>
        </p:txBody>
      </p:sp>
      <p:sp>
        <p:nvSpPr>
          <p:cNvPr id="18" name="Text 15"/>
          <p:cNvSpPr txBox="1"/>
          <p:nvPr/>
        </p:nvSpPr>
        <p:spPr>
          <a:xfrm>
            <a:off x="4670450" y="3328416"/>
            <a:ext cx="285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de dimensão média · 1,6%</a:t>
            </a:r>
            <a:endParaRPr lang="en-US" sz="1080" dirty="0"/>
          </a:p>
        </p:txBody>
      </p:sp>
      <p:sp>
        <p:nvSpPr>
          <p:cNvPr id="19" name="Text 16"/>
          <p:cNvSpPr txBox="1"/>
          <p:nvPr/>
        </p:nvSpPr>
        <p:spPr>
          <a:xfrm>
            <a:off x="4670450" y="3712464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Constituem a fronteira de crescimento da Banca de Negócios e o segmento com maior potencial por explorar.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670450" y="4425696"/>
            <a:ext cx="285079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financiamento de activos · cobranças · seguro agrícola</a:t>
            </a:r>
            <a:endParaRPr lang="en-US" sz="960" dirty="0"/>
          </a:p>
        </p:txBody>
      </p:sp>
      <p:sp>
        <p:nvSpPr>
          <p:cNvPr id="21" name="Shape 18"/>
          <p:cNvSpPr/>
          <p:nvPr/>
        </p:nvSpPr>
        <p:spPr>
          <a:xfrm>
            <a:off x="8143037" y="2249424"/>
            <a:ext cx="3362858" cy="2798064"/>
          </a:xfrm>
          <a:prstGeom prst="roundRect">
            <a:avLst>
              <a:gd name="adj" fmla="val 196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399069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99069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8399069" y="2761488"/>
            <a:ext cx="28507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1.131</a:t>
            </a:r>
            <a:endParaRPr lang="en-US" sz="2900" dirty="0"/>
          </a:p>
        </p:txBody>
      </p:sp>
      <p:sp>
        <p:nvSpPr>
          <p:cNvPr id="25" name="Text 22"/>
          <p:cNvSpPr txBox="1"/>
          <p:nvPr/>
        </p:nvSpPr>
        <p:spPr>
          <a:xfrm>
            <a:off x="8399069" y="3328416"/>
            <a:ext cx="285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de grande dimensão · 0,03%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8399069" y="3712464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conjunto com as trinta e quatro empresas âncora, concentram a maior parte do fluxo exportador do país.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399069" y="4425696"/>
            <a:ext cx="285079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estruturado · comércio internacional · câmbio · tesouraria</a:t>
            </a:r>
            <a:endParaRPr lang="en-US" sz="960" dirty="0"/>
          </a:p>
        </p:txBody>
      </p:sp>
      <p:sp>
        <p:nvSpPr>
          <p:cNvPr id="28" name="Shape 25"/>
          <p:cNvSpPr/>
          <p:nvPr/>
        </p:nvSpPr>
        <p:spPr>
          <a:xfrm>
            <a:off x="685800" y="5248656"/>
            <a:ext cx="10820095" cy="548640"/>
          </a:xfrm>
          <a:prstGeom prst="roundRect">
            <a:avLst>
              <a:gd name="adj" fmla="val 1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4984" y="5248656"/>
            <a:ext cx="101617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74.706 explorações de dimensão média constituem a fronteira de crescimento, e é a empresa âncora que as torna financiáveis.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Fonte: Inquérito Agrário Integrado de 2023, do Instituto Nacional de Estatística e do Ministério da Agricultura, Ambiente e Pescas.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3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DIAGNÓSTICO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limitação do cliente não é a ambição, mas o atrito operacional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Seis constrangimentos recorrentes, a que a presente proposta responde de forma explícita.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87168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1344168" y="2487168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Acesso e custo do crédito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2889504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necessidades sazonais raramente se ajustam às estruturas de crédito convencionais.</a:t>
            </a:r>
            <a:endParaRPr lang="en-US" sz="1020" dirty="0"/>
          </a:p>
        </p:txBody>
      </p:sp>
      <p:sp>
        <p:nvSpPr>
          <p:cNvPr id="13" name="Shape 9"/>
          <p:cNvSpPr/>
          <p:nvPr/>
        </p:nvSpPr>
        <p:spPr>
          <a:xfrm>
            <a:off x="4408322" y="2249424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46066" y="2487168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46066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066690" y="2487168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Risco e resiliência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4646066" y="2889504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Fenómenos climáticos, pragas e volatilidade de preços interrompem os fluxos previstos.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8130845" y="2249424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68589" y="2487168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368589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789213" y="2487168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Mercados e escoamento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8368589" y="2889504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fragmentação das cadeias dificulta o acesso a insumos, a compradores e a preços justos.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685800" y="3730752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923544" y="3968496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23544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1344168" y="3968496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Circulação de numerário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923544" y="4370832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campanhas de comercialização continuam a ser liquidadas sobretudo em numerário.</a:t>
            </a:r>
            <a:endParaRPr lang="en-US" sz="1020" dirty="0"/>
          </a:p>
        </p:txBody>
      </p:sp>
      <p:sp>
        <p:nvSpPr>
          <p:cNvPr id="28" name="Shape 24"/>
          <p:cNvSpPr/>
          <p:nvPr/>
        </p:nvSpPr>
        <p:spPr>
          <a:xfrm>
            <a:off x="4408322" y="3730752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46066" y="3968496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646066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05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066690" y="3968496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Registo e visibilidade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4646066" y="4370832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solventes permanecem invisíveis à avaliação de crédito por falta de historial.</a:t>
            </a:r>
            <a:endParaRPr lang="en-US" sz="1020" dirty="0"/>
          </a:p>
        </p:txBody>
      </p:sp>
      <p:sp>
        <p:nvSpPr>
          <p:cNvPr id="33" name="Shape 29"/>
          <p:cNvSpPr/>
          <p:nvPr/>
        </p:nvSpPr>
        <p:spPr>
          <a:xfrm>
            <a:off x="8130845" y="3730752"/>
            <a:ext cx="3375050" cy="1243584"/>
          </a:xfrm>
          <a:prstGeom prst="roundRect">
            <a:avLst>
              <a:gd name="adj" fmla="val 441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368589" y="3968496"/>
            <a:ext cx="329184" cy="32918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368589" y="3968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06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789213" y="3968496"/>
            <a:ext cx="2478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Infra-estruturas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368589" y="4370832"/>
            <a:ext cx="289956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Transporte, armazenagem e energia consomem margem depois de concluída a colheita.</a:t>
            </a:r>
            <a:endParaRPr lang="en-US" sz="1020" dirty="0"/>
          </a:p>
        </p:txBody>
      </p:sp>
      <p:sp>
        <p:nvSpPr>
          <p:cNvPr id="38" name="Shape 34"/>
          <p:cNvSpPr/>
          <p:nvPr/>
        </p:nvSpPr>
        <p:spPr>
          <a:xfrm>
            <a:off x="685800" y="5376672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14984" y="5376672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resposta consiste em substituir a venda avulsa de produtos por um plano de campanha que articula financiamento, pagamentos, protecção de risco e acesso ao mercado.</a:t>
            </a:r>
            <a:endParaRPr lang="en-US" sz="130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46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46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CICLO AGRÍCOLA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financiamento que acompanha a campanha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Cinco fases do calendário do cliente, a que correspondem cinco conversas comerciais distintas.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425824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25824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13816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Planear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850392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Orçamento da campanha, plano de cultura, contratos de compra e abertura de conta.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97368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37392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7392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025384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Plantar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3061960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insumos, pagamento a fornecedores e capital de exploração.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108936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848960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848960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236952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Cultivar</a:t>
            </a:r>
            <a:endParaRPr lang="en-US" sz="1450" dirty="0"/>
          </a:p>
        </p:txBody>
      </p:sp>
      <p:sp>
        <p:nvSpPr>
          <p:cNvPr id="22" name="Text 18"/>
          <p:cNvSpPr txBox="1"/>
          <p:nvPr/>
        </p:nvSpPr>
        <p:spPr>
          <a:xfrm>
            <a:off x="5273528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 agrícola, acompanhamento técnico e revisão periódica da tesouraria.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7320504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060527" y="2276856"/>
            <a:ext cx="493776" cy="493776"/>
          </a:xfrm>
          <a:prstGeom prst="ellipse">
            <a:avLst/>
          </a:prstGeom>
          <a:solidFill>
            <a:srgbClr val="DC0037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60527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7448520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Colher</a:t>
            </a:r>
            <a:endParaRPr lang="en-US" sz="1450" dirty="0"/>
          </a:p>
        </p:txBody>
      </p:sp>
      <p:sp>
        <p:nvSpPr>
          <p:cNvPr id="27" name="Text 23"/>
          <p:cNvSpPr txBox="1"/>
          <p:nvPr/>
        </p:nvSpPr>
        <p:spPr>
          <a:xfrm>
            <a:off x="7485096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Pagamento da mão de obra, logística, armazenagem e cobranças.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9532071" y="2523744"/>
            <a:ext cx="1973824" cy="2139696"/>
          </a:xfrm>
          <a:prstGeom prst="roundRect">
            <a:avLst>
              <a:gd name="adj" fmla="val 278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0272095" y="2276856"/>
            <a:ext cx="493776" cy="49377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C003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0272095" y="22768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5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9660087" y="2926080"/>
            <a:ext cx="1717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Comercializar</a:t>
            </a:r>
            <a:endParaRPr lang="en-US" sz="1450" dirty="0"/>
          </a:p>
        </p:txBody>
      </p:sp>
      <p:sp>
        <p:nvSpPr>
          <p:cNvPr id="32" name="Text 28"/>
          <p:cNvSpPr txBox="1"/>
          <p:nvPr/>
        </p:nvSpPr>
        <p:spPr>
          <a:xfrm>
            <a:off x="9696663" y="3364992"/>
            <a:ext cx="16446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D8CFC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ao comércio internacional, câmbio, poupança e reinvestimento.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85800" y="5175504"/>
            <a:ext cx="10820095" cy="731520"/>
          </a:xfrm>
          <a:prstGeom prst="roundRect">
            <a:avLst>
              <a:gd name="adj" fmla="val 75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014984" y="5175504"/>
            <a:ext cx="101617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mesma facilidade de crédito passa a estruturar-se sobre a produção prevista, os valores a receber e os contratos celebrados, em lugar de impor à agricultura um perfil de reembolso genérico.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encontram-se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4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INSTRUMENTOS DISPONÍVEIS EM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instrumentos que alteram os termos da conversa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Nenhum destes mecanismos existia na versão anterior desta proposta. Em conjunto, modificam o que as equipas comerciais podem oferecer.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62858" cy="3054096"/>
          </a:xfrm>
          <a:prstGeom prst="roundRect">
            <a:avLst>
              <a:gd name="adj" fmla="val 179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41832" y="241401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FINOVA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761488"/>
            <a:ext cx="28507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33,5 M€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329184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2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Linha de crédito concessional para o agronegócio</a:t>
            </a:r>
            <a:endParaRPr lang="en-US" sz="112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3749040"/>
            <a:ext cx="285079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Operacionalizada pelo Banco de Moçambique em parceria com o Absa, o Standard Bank, o BCI, a GAPI e o Microbanco Confiança, no quadro de um pacote de 45,5 milhões de euros da cooperação alemã, através do banco de desenvolvimento KfW.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484632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Taxa até 10% ao ano · períodos de carência · prazos compatíveis com o ciclo agrícola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4414418" y="2249424"/>
            <a:ext cx="3362858" cy="3054096"/>
          </a:xfrm>
          <a:prstGeom prst="roundRect">
            <a:avLst>
              <a:gd name="adj" fmla="val 179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70450" y="241401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70450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DFC E USAID</a:t>
            </a:r>
            <a:endParaRPr lang="en-US" sz="740" dirty="0"/>
          </a:p>
        </p:txBody>
      </p:sp>
      <p:sp>
        <p:nvSpPr>
          <p:cNvPr id="17" name="Text 14"/>
          <p:cNvSpPr txBox="1"/>
          <p:nvPr/>
        </p:nvSpPr>
        <p:spPr>
          <a:xfrm>
            <a:off x="4670450" y="2761488"/>
            <a:ext cx="28507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8,25 M US$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4670450" y="329184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2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Garantia parcial de carteira de crédito</a:t>
            </a:r>
            <a:endParaRPr lang="en-US" sz="1120" dirty="0"/>
          </a:p>
        </p:txBody>
      </p:sp>
      <p:sp>
        <p:nvSpPr>
          <p:cNvPr id="19" name="Text 16"/>
          <p:cNvSpPr txBox="1"/>
          <p:nvPr/>
        </p:nvSpPr>
        <p:spPr>
          <a:xfrm>
            <a:off x="4670450" y="3749040"/>
            <a:ext cx="285079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Acordo a dez anos com o Governo dos Estados Unidos, que mobiliza 16,5 milhões de dólares em crédito. Destina-se a 75 a 100 empresas agrícolas moçambicanas, das quais pelo menos 15% detidas por mulheres.</a:t>
            </a:r>
            <a:endParaRPr lang="en-US" sz="940" dirty="0"/>
          </a:p>
        </p:txBody>
      </p:sp>
      <p:sp>
        <p:nvSpPr>
          <p:cNvPr id="20" name="Text 17"/>
          <p:cNvSpPr txBox="1"/>
          <p:nvPr/>
        </p:nvSpPr>
        <p:spPr>
          <a:xfrm>
            <a:off x="4670450" y="484632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Partilha de risco de 50% · operação média próxima de 220 mil dólares</a:t>
            </a:r>
            <a:endParaRPr lang="en-US" sz="940" dirty="0"/>
          </a:p>
        </p:txBody>
      </p:sp>
      <p:sp>
        <p:nvSpPr>
          <p:cNvPr id="21" name="Shape 18"/>
          <p:cNvSpPr/>
          <p:nvPr/>
        </p:nvSpPr>
        <p:spPr>
          <a:xfrm>
            <a:off x="8143037" y="2249424"/>
            <a:ext cx="3362858" cy="3054096"/>
          </a:xfrm>
          <a:prstGeom prst="roundRect">
            <a:avLst>
              <a:gd name="adj" fmla="val 179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399069" y="2414016"/>
            <a:ext cx="1463040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99069" y="24140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ICM</a:t>
            </a:r>
            <a:endParaRPr lang="en-US" sz="740" dirty="0"/>
          </a:p>
        </p:txBody>
      </p:sp>
      <p:sp>
        <p:nvSpPr>
          <p:cNvPr id="24" name="Text 21"/>
          <p:cNvSpPr txBox="1"/>
          <p:nvPr/>
        </p:nvSpPr>
        <p:spPr>
          <a:xfrm>
            <a:off x="8399069" y="2761488"/>
            <a:ext cx="28507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Protocolo</a:t>
            </a:r>
            <a:endParaRPr lang="en-US" sz="2700" dirty="0"/>
          </a:p>
        </p:txBody>
      </p:sp>
      <p:sp>
        <p:nvSpPr>
          <p:cNvPr id="25" name="Text 22"/>
          <p:cNvSpPr txBox="1"/>
          <p:nvPr/>
        </p:nvSpPr>
        <p:spPr>
          <a:xfrm>
            <a:off x="8399069" y="329184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2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Cooperação com o Instituto de Cereais de Moçambique</a:t>
            </a:r>
            <a:endParaRPr lang="en-US" sz="1120" dirty="0"/>
          </a:p>
        </p:txBody>
      </p:sp>
      <p:sp>
        <p:nvSpPr>
          <p:cNvPr id="26" name="Text 23"/>
          <p:cNvSpPr txBox="1"/>
          <p:nvPr/>
        </p:nvSpPr>
        <p:spPr>
          <a:xfrm>
            <a:off x="8399069" y="3749040"/>
            <a:ext cx="285079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Memorando de entendimento previsto para a FACIM de 2026, entre a Direcção de Banca Corporativa e de Investimento do Absa e a Direcção-Geral do Instituto, dirigido ao apoio a pequenos produtores e às operações de comércio externo.</a:t>
            </a:r>
            <a:endParaRPr lang="en-US" sz="940" dirty="0"/>
          </a:p>
        </p:txBody>
      </p:sp>
      <p:sp>
        <p:nvSpPr>
          <p:cNvPr id="27" name="Text 24"/>
          <p:cNvSpPr txBox="1"/>
          <p:nvPr/>
        </p:nvSpPr>
        <p:spPr>
          <a:xfrm>
            <a:off x="8399069" y="4846320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Originação institucional de operações já qualificadas, em alternativa à prospecção directa</a:t>
            </a:r>
            <a:endParaRPr lang="en-US" sz="940" dirty="0"/>
          </a:p>
        </p:txBody>
      </p:sp>
      <p:sp>
        <p:nvSpPr>
          <p:cNvPr id="28" name="Shape 25"/>
          <p:cNvSpPr/>
          <p:nvPr/>
        </p:nvSpPr>
        <p:spPr>
          <a:xfrm>
            <a:off x="685800" y="5468112"/>
            <a:ext cx="10820095" cy="493776"/>
          </a:xfrm>
          <a:prstGeom prst="roundRect">
            <a:avLst>
              <a:gd name="adj" fmla="val 11111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4984" y="5468112"/>
            <a:ext cx="101617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Preço concessional, partilha de risco e originação institucional: é esta combinação que permite deferir operações anteriormente inviáveis.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Banco de Moçambique · U.S. International Development Finance Corporation e USAID · Instituto de Cereais de Moçambique · Embaixada dos Estados Unidos em Maputo.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3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ACTUAÇÃO JUNTO DAS COMUNIDADES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compromisso não se esgota no balcão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Entre Outubro de 2025 e Janeiro de 2026 a época chuvosa afectou mais de 1,1 milhões de pessoas. Em Boane, mais de 450 famílias perderam as áreas de cultivo e as habitações.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1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322576"/>
            <a:ext cx="4480560" cy="268833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532120" y="2322576"/>
            <a:ext cx="5973775" cy="859536"/>
          </a:xfrm>
          <a:prstGeom prst="roundRect">
            <a:avLst>
              <a:gd name="adj" fmla="val 63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769864" y="24140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190</a:t>
            </a:r>
            <a:endParaRPr lang="en-US" sz="2900" dirty="0"/>
          </a:p>
        </p:txBody>
      </p:sp>
      <p:sp>
        <p:nvSpPr>
          <p:cNvPr id="10" name="Text 6"/>
          <p:cNvSpPr txBox="1"/>
          <p:nvPr/>
        </p:nvSpPr>
        <p:spPr>
          <a:xfrm>
            <a:off x="6830568" y="2432304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kits agrícolas distribuídos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6830568" y="2688336"/>
            <a:ext cx="44375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Semente de ciclo curto e médio, fertilizante e alfaias essenciais, entregues às famílias em situação de maior vulnerabilidade na localidade de Gueguegue.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532120" y="3273552"/>
            <a:ext cx="5973775" cy="859536"/>
          </a:xfrm>
          <a:prstGeom prst="roundRect">
            <a:avLst>
              <a:gd name="adj" fmla="val 63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769864" y="336499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230</a:t>
            </a:r>
            <a:endParaRPr lang="en-US" sz="2900" dirty="0"/>
          </a:p>
        </p:txBody>
      </p:sp>
      <p:sp>
        <p:nvSpPr>
          <p:cNvPr id="14" name="Text 10"/>
          <p:cNvSpPr txBox="1"/>
          <p:nvPr/>
        </p:nvSpPr>
        <p:spPr>
          <a:xfrm>
            <a:off x="6830568" y="3383280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famílias apoiadas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830568" y="3639312"/>
            <a:ext cx="44375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Apoio combinado à retoma da produção agrícola e à reconstrução habitacional, prevendo-se a reedificação de quarenta habitações.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532120" y="4224528"/>
            <a:ext cx="5973775" cy="859536"/>
          </a:xfrm>
          <a:prstGeom prst="roundRect">
            <a:avLst>
              <a:gd name="adj" fmla="val 63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769864" y="431596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90</a:t>
            </a:r>
            <a:endParaRPr lang="en-US" sz="2900" dirty="0"/>
          </a:p>
        </p:txBody>
      </p:sp>
      <p:sp>
        <p:nvSpPr>
          <p:cNvPr id="18" name="Text 14"/>
          <p:cNvSpPr txBox="1"/>
          <p:nvPr/>
        </p:nvSpPr>
        <p:spPr>
          <a:xfrm>
            <a:off x="6830568" y="4334256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hectares em recuperação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6830568" y="4590288"/>
            <a:ext cx="44375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Área de produção que as comunidades ficam em condições de recuperar, com efeito directo na segurança alimentar e no rendimento familiar.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5800" y="5230368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14984" y="5230368"/>
            <a:ext cx="101617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capacidade de acompanhar o cliente agrícola no ano difícil, e não apenas no ano favorável, é parte constitutiva desta proposta de valor.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Diário Económico · Integrity Magazine · comunicação institucional do Absa Bank Moçambique.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420" fill="hold"/>
                                        <p:tgtEl>
                                          <p:spTgt spid="1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420" fill="hold"/>
                                        <p:tgtEl>
                                          <p:spTgt spid="1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1920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SEGUNDA PARTE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304288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empresas que</a:t>
            </a:r>
            <a:endParaRPr lang="en-US" sz="3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estruturam o sector</a:t>
            </a:r>
            <a:endParaRPr lang="en-US" sz="3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059936"/>
            <a:ext cx="5394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Trinta e quatro contrapartes identificadas em nove fileiras produtivas, cada uma com a respectiva estrutura accionista, dimensão, província e oportunidade concreta de negócio para o Banco.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1572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~380 mil t/ano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223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Açúcar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51572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258,3 M US$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3520440" y="54223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Tabaco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7058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~50 mil t/ano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9710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570585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~135 mil t/ano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59710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Avicultura</a:t>
            </a:r>
            <a:endParaRPr lang="en-US" sz="1000" dirty="0"/>
          </a:p>
        </p:txBody>
      </p:sp>
      <p:pic>
        <p:nvPicPr>
          <p:cNvPr id="15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111" y="6035040"/>
            <a:ext cx="1700784" cy="493776"/>
          </a:xfrm>
          <a:prstGeom prst="rect">
            <a:avLst/>
          </a:prstGeom>
        </p:spPr>
      </p:pic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420" fill="hold"/>
                                        <p:tgtEl>
                                          <p:spTgt spid="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AÇÚCAR · QUATRO UNIDADES INDUSTRIAIS · CAPACIDADE COMBINADA APROXIMADA DE 380 MIL TONELADAS POR ANO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sector integralmente em transição accionista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alienação de Xinavane e de Mafambisse e a suspensão da Maragra abrem a maior janela de refinanciamento do agronegócio moçambicano.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23544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Açucareira de Xinavane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23544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Vision Sugar Holdings, 88% · Estado, através do IGEPE, 12%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23544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23544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250.000 t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capacidade instalada; é o maior produtor nacional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923544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Manhiça, província de Maputo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7" name="Text 14"/>
          <p:cNvSpPr txBox="1"/>
          <p:nvPr/>
        </p:nvSpPr>
        <p:spPr>
          <a:xfrm>
            <a:off x="923544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Refinanciamento pós-aquisição · investimento fabril</a:t>
            </a:r>
            <a:endParaRPr lang="en-US" sz="980" dirty="0"/>
          </a:p>
        </p:txBody>
      </p:sp>
      <p:sp>
        <p:nvSpPr>
          <p:cNvPr id="18" name="Shape 15"/>
          <p:cNvSpPr/>
          <p:nvPr/>
        </p:nvSpPr>
        <p:spPr>
          <a:xfrm>
            <a:off x="3454832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69257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69257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1" name="Text 18"/>
          <p:cNvSpPr txBox="1"/>
          <p:nvPr/>
        </p:nvSpPr>
        <p:spPr>
          <a:xfrm>
            <a:off x="3692576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Açucareira de Mafambisse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692576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Vision Sugar Holdings, 85% · IGEPE, 15%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692576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92576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39.166 t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3692576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produzidas em 2024/25, para 92.000 t de capacidade</a:t>
            </a:r>
            <a:endParaRPr lang="en-US" sz="980" dirty="0"/>
          </a:p>
        </p:txBody>
      </p:sp>
      <p:sp>
        <p:nvSpPr>
          <p:cNvPr id="26" name="Text 23"/>
          <p:cNvSpPr txBox="1"/>
          <p:nvPr/>
        </p:nvSpPr>
        <p:spPr>
          <a:xfrm>
            <a:off x="3692576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Dondo, província de Sofala</a:t>
            </a:r>
            <a:endParaRPr lang="en-US" sz="920" dirty="0"/>
          </a:p>
        </p:txBody>
      </p:sp>
      <p:sp>
        <p:nvSpPr>
          <p:cNvPr id="27" name="Text 24"/>
          <p:cNvSpPr txBox="1"/>
          <p:nvPr/>
        </p:nvSpPr>
        <p:spPr>
          <a:xfrm>
            <a:off x="3692576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8" name="Text 25"/>
          <p:cNvSpPr txBox="1"/>
          <p:nvPr/>
        </p:nvSpPr>
        <p:spPr>
          <a:xfrm>
            <a:off x="3692576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Recuperação de capacidade · cogeração a partir do bagaço</a:t>
            </a:r>
            <a:endParaRPr lang="en-US" sz="980" dirty="0"/>
          </a:p>
        </p:txBody>
      </p:sp>
      <p:sp>
        <p:nvSpPr>
          <p:cNvPr id="29" name="Shape 26"/>
          <p:cNvSpPr/>
          <p:nvPr/>
        </p:nvSpPr>
        <p:spPr>
          <a:xfrm>
            <a:off x="6223864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61608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61608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32" name="Text 29"/>
          <p:cNvSpPr txBox="1"/>
          <p:nvPr/>
        </p:nvSpPr>
        <p:spPr>
          <a:xfrm>
            <a:off x="6461608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de Sena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61608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Sena Holdings e Royal Group, 75%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6461608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60.000 t</a:t>
            </a:r>
            <a:endParaRPr lang="en-US" sz="1900" dirty="0"/>
          </a:p>
        </p:txBody>
      </p:sp>
      <p:sp>
        <p:nvSpPr>
          <p:cNvPr id="36" name="Text 33"/>
          <p:cNvSpPr txBox="1"/>
          <p:nvPr/>
        </p:nvSpPr>
        <p:spPr>
          <a:xfrm>
            <a:off x="6461608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açúcar por ano; 4.500 t de cana moídas por dia</a:t>
            </a:r>
            <a:endParaRPr lang="en-US" sz="980" dirty="0"/>
          </a:p>
        </p:txBody>
      </p:sp>
      <p:sp>
        <p:nvSpPr>
          <p:cNvPr id="37" name="Text 34"/>
          <p:cNvSpPr txBox="1"/>
          <p:nvPr/>
        </p:nvSpPr>
        <p:spPr>
          <a:xfrm>
            <a:off x="6461608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Marromeu, província de Sofala</a:t>
            </a:r>
            <a:endParaRPr lang="en-US" sz="920" dirty="0"/>
          </a:p>
        </p:txBody>
      </p:sp>
      <p:sp>
        <p:nvSpPr>
          <p:cNvPr id="38" name="Text 35"/>
          <p:cNvSpPr txBox="1"/>
          <p:nvPr/>
        </p:nvSpPr>
        <p:spPr>
          <a:xfrm>
            <a:off x="6461608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39" name="Text 36"/>
          <p:cNvSpPr txBox="1"/>
          <p:nvPr/>
        </p:nvSpPr>
        <p:spPr>
          <a:xfrm>
            <a:off x="6461608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campanha · logística até à Beira</a:t>
            </a:r>
            <a:endParaRPr lang="en-US" sz="980" dirty="0"/>
          </a:p>
        </p:txBody>
      </p:sp>
      <p:sp>
        <p:nvSpPr>
          <p:cNvPr id="40" name="Shape 37"/>
          <p:cNvSpPr/>
          <p:nvPr/>
        </p:nvSpPr>
        <p:spPr>
          <a:xfrm>
            <a:off x="8992895" y="2249424"/>
            <a:ext cx="2513000" cy="3273552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23063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3063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43" name="Text 40"/>
          <p:cNvSpPr txBox="1"/>
          <p:nvPr/>
        </p:nvSpPr>
        <p:spPr>
          <a:xfrm>
            <a:off x="9230639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Maragra Açúcar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9230639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Illovo Sugar e Associated British Foods, 99%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9230639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230639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2026</a:t>
            </a:r>
            <a:endParaRPr lang="en-US" sz="1900" dirty="0"/>
          </a:p>
        </p:txBody>
      </p:sp>
      <p:sp>
        <p:nvSpPr>
          <p:cNvPr id="47" name="Text 44"/>
          <p:cNvSpPr txBox="1"/>
          <p:nvPr/>
        </p:nvSpPr>
        <p:spPr>
          <a:xfrm>
            <a:off x="9230639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ano previsto de retoma; 80.000 t de capacidade parada</a:t>
            </a:r>
            <a:endParaRPr lang="en-US" sz="980" dirty="0"/>
          </a:p>
        </p:txBody>
      </p:sp>
      <p:sp>
        <p:nvSpPr>
          <p:cNvPr id="48" name="Text 45"/>
          <p:cNvSpPr txBox="1"/>
          <p:nvPr/>
        </p:nvSpPr>
        <p:spPr>
          <a:xfrm>
            <a:off x="9230639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Manhiça, província de Maputo</a:t>
            </a:r>
            <a:endParaRPr lang="en-US" sz="920" dirty="0"/>
          </a:p>
        </p:txBody>
      </p:sp>
      <p:sp>
        <p:nvSpPr>
          <p:cNvPr id="49" name="Text 46"/>
          <p:cNvSpPr txBox="1"/>
          <p:nvPr/>
        </p:nvSpPr>
        <p:spPr>
          <a:xfrm>
            <a:off x="9230639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0" name="Text 47"/>
          <p:cNvSpPr txBox="1"/>
          <p:nvPr/>
        </p:nvSpPr>
        <p:spPr>
          <a:xfrm>
            <a:off x="9230639" y="4956048"/>
            <a:ext cx="2037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da retoma · capital paciente</a:t>
            </a:r>
            <a:endParaRPr lang="en-US" sz="980" dirty="0"/>
          </a:p>
        </p:txBody>
      </p:sp>
      <p:sp>
        <p:nvSpPr>
          <p:cNvPr id="51" name="Shape 48"/>
          <p:cNvSpPr/>
          <p:nvPr/>
        </p:nvSpPr>
        <p:spPr>
          <a:xfrm>
            <a:off x="685800" y="5669280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5669280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de risco: </a:t>
            </a:r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E4DEDE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2025 a Autoridade Reguladora da Concorrência aplicou aos quatro produtores e à Distribuidora Nacional de Açúcar coimas no valor de 69,5 milhões de meticais por práticas de cartel. Impõe-se diligência acrescida em matéria de conduta; a liberalização das vendas altera, ainda, os fluxos de recebimento.</a:t>
            </a:r>
            <a:endParaRPr lang="en-US" sz="960" dirty="0"/>
          </a:p>
        </p:txBody>
      </p:sp>
      <p:sp>
        <p:nvSpPr>
          <p:cNvPr id="53" name="Text 50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Sugaronline e Agência de Informação de Moçambique · Tongaat Hulett · Illovo Sugar Africa · MIGA · Lusa.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46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4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ntr" presetSubtype="0" fill="hold" grpId="0" nodeType="withEffect">
                                  <p:stCondLst>
                                    <p:cond delay="20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46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TABACO · PRINCIPAL RUBRICA DE EXPORTAÇÃO AGRÍCOLA, COM 258,3 MILHÕES DE DÓLARES EM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maior mandato de pagamentos agrícolas do país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única contraparte liquida pagamentos a mais de 120 mil produtores por campanha, ainda hoje em larga medida através de numerário.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6583680" cy="2980944"/>
          </a:xfrm>
          <a:prstGeom prst="roundRect">
            <a:avLst>
              <a:gd name="adj" fmla="val 184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96696" y="2432304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96696" y="2432304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0" name="Text 7"/>
          <p:cNvSpPr txBox="1"/>
          <p:nvPr/>
        </p:nvSpPr>
        <p:spPr>
          <a:xfrm>
            <a:off x="996696" y="274320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Mozambique Leaf Tobacco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34015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Universal Corporation, dos Estados Unidos. É a maior empresa agrícola de Moçambique e o seu maior exportador do sector.</a:t>
            </a:r>
            <a:endParaRPr lang="en-US" sz="1020" dirty="0"/>
          </a:p>
        </p:txBody>
      </p:sp>
      <p:sp>
        <p:nvSpPr>
          <p:cNvPr id="12" name="Text 9"/>
          <p:cNvSpPr txBox="1"/>
          <p:nvPr/>
        </p:nvSpPr>
        <p:spPr>
          <a:xfrm>
            <a:off x="996696" y="395020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120.000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" y="460857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20" dirty="0">
                <a:solidFill>
                  <a:srgbClr val="D8CFC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sob contrato nas províncias de Tete, Niassa, Zambézia e Manica</a:t>
            </a:r>
            <a:endParaRPr lang="en-US" sz="1020" dirty="0"/>
          </a:p>
        </p:txBody>
      </p:sp>
      <p:pic>
        <p:nvPicPr>
          <p:cNvPr id="14" name="Image 1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2432304"/>
            <a:ext cx="2139696" cy="259689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16952" y="2249424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836408" y="2322576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Digitalização da campanha</a:t>
            </a:r>
            <a:endParaRPr lang="en-US" sz="1120" dirty="0"/>
          </a:p>
        </p:txBody>
      </p:sp>
      <p:sp>
        <p:nvSpPr>
          <p:cNvPr id="17" name="Text 13"/>
          <p:cNvSpPr txBox="1"/>
          <p:nvPr/>
        </p:nvSpPr>
        <p:spPr>
          <a:xfrm>
            <a:off x="7836408" y="2560320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Levar a canal digital o pagamento a 120 mil produtores retira do terreno muito numerário.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7616952" y="3035808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836408" y="3108960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insumos</a:t>
            </a:r>
            <a:endParaRPr lang="en-US" sz="1120" dirty="0"/>
          </a:p>
        </p:txBody>
      </p:sp>
      <p:sp>
        <p:nvSpPr>
          <p:cNvPr id="20" name="Text 16"/>
          <p:cNvSpPr txBox="1"/>
          <p:nvPr/>
        </p:nvSpPr>
        <p:spPr>
          <a:xfrm>
            <a:off x="7836408" y="3346704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Garantido pelo contrato de compra. O mecanismo de fomento já existe; falta o instrumento financeiro.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7616952" y="3822192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7836408" y="3895344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Comércio internacional e câmbio</a:t>
            </a:r>
            <a:endParaRPr lang="en-US" sz="1120" dirty="0"/>
          </a:p>
        </p:txBody>
      </p:sp>
      <p:sp>
        <p:nvSpPr>
          <p:cNvPr id="23" name="Text 19"/>
          <p:cNvSpPr txBox="1"/>
          <p:nvPr/>
        </p:nvSpPr>
        <p:spPr>
          <a:xfrm>
            <a:off x="7836408" y="4133088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unidade de Tete dispõe de 50.000 t por ano de capacidade, integralmente destinada a exportação.</a:t>
            </a:r>
            <a:endParaRPr lang="en-US" sz="880" dirty="0"/>
          </a:p>
        </p:txBody>
      </p:sp>
      <p:sp>
        <p:nvSpPr>
          <p:cNvPr id="24" name="Shape 20"/>
          <p:cNvSpPr/>
          <p:nvPr/>
        </p:nvSpPr>
        <p:spPr>
          <a:xfrm>
            <a:off x="7616952" y="4608576"/>
            <a:ext cx="3888943" cy="713232"/>
          </a:xfrm>
          <a:prstGeom prst="roundRect">
            <a:avLst>
              <a:gd name="adj" fmla="val 769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836408" y="4681728"/>
            <a:ext cx="34500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Processamento salarial sazonal</a:t>
            </a:r>
            <a:endParaRPr lang="en-US" sz="1120" dirty="0"/>
          </a:p>
        </p:txBody>
      </p:sp>
      <p:sp>
        <p:nvSpPr>
          <p:cNvPr id="26" name="Text 22"/>
          <p:cNvSpPr txBox="1"/>
          <p:nvPr/>
        </p:nvSpPr>
        <p:spPr>
          <a:xfrm>
            <a:off x="7836408" y="4919472"/>
            <a:ext cx="34500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Milhares de trabalhadores temporários por campanha, hoje fora do sistema bancário formal.</a:t>
            </a:r>
            <a:endParaRPr lang="en-US" sz="880" dirty="0"/>
          </a:p>
        </p:txBody>
      </p:sp>
      <p:sp>
        <p:nvSpPr>
          <p:cNvPr id="27" name="Shape 23"/>
          <p:cNvSpPr/>
          <p:nvPr/>
        </p:nvSpPr>
        <p:spPr>
          <a:xfrm>
            <a:off x="685800" y="5376672"/>
            <a:ext cx="10820095" cy="512064"/>
          </a:xfrm>
          <a:prstGeom prst="roundRect">
            <a:avLst>
              <a:gd name="adj" fmla="val 10714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4984" y="5376672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Campanha de 2024/25: mais de 54.000 t em Tete, cerca de 15.500 t no Niassa e cerca de 10.000 t na Zambézia. Os comerciantes de folha completam a fileira.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Banco de Moçambique, exportações de tabaco em 2025 · Universal Corporation · Mozambique Leaf Tobacco.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3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420" fill="hold"/>
                                        <p:tgtEl>
                                          <p:spTgt spid="1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 · CERCA DE 50 MIL TONELADAS ANUAIS E 150 MIL PRODUTORES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Cinco concessionárias, um mesmo mecanismo de fomento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insumo é adiantado ao produtor e recuperado no momento da compra. É uma estrutura de crédito já existente no terreno, que ao Banco cabe formalizar.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SANAM, de Namialo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Concessão nacional, em articulação com a Olam</a:t>
            </a:r>
            <a:endParaRPr lang="en-US" sz="840" dirty="0"/>
          </a:p>
        </p:txBody>
      </p:sp>
      <p:sp>
        <p:nvSpPr>
          <p:cNvPr id="13" name="Shape 9"/>
          <p:cNvSpPr/>
          <p:nvPr/>
        </p:nvSpPr>
        <p:spPr>
          <a:xfrm>
            <a:off x="86868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80.000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pequenos produtores, em cerca de 56.000 hectares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Fomento agrícola · descaroçamento · antecipação de recebimentos de exportação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89371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07659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7659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07659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SAN, do Niassa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307659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João Ferreira dos Santos</a:t>
            </a:r>
            <a:endParaRPr lang="en-US" sz="840" dirty="0"/>
          </a:p>
        </p:txBody>
      </p:sp>
      <p:sp>
        <p:nvSpPr>
          <p:cNvPr id="24" name="Shape 20"/>
          <p:cNvSpPr/>
          <p:nvPr/>
        </p:nvSpPr>
        <p:spPr>
          <a:xfrm>
            <a:off x="307659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7659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60.000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307659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produtores; das maiores exportadoras nacionais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7659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Niassa e Nampula</a:t>
            </a:r>
            <a:endParaRPr lang="en-US" sz="840" dirty="0"/>
          </a:p>
        </p:txBody>
      </p:sp>
      <p:sp>
        <p:nvSpPr>
          <p:cNvPr id="28" name="Text 24"/>
          <p:cNvSpPr txBox="1"/>
          <p:nvPr/>
        </p:nvSpPr>
        <p:spPr>
          <a:xfrm>
            <a:off x="307659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07659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Fomento agrícola · financiamento de activos · tesouraria multiprovincial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10162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28450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8450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528450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SAM, de Mutuali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28450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Concessão nacional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528450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28450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Armazéns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28450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novas unidades de armazenagem em construção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28450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Malema, Nampula</a:t>
            </a:r>
            <a:endParaRPr lang="en-US" sz="840" dirty="0"/>
          </a:p>
        </p:txBody>
      </p:sp>
      <p:sp>
        <p:nvSpPr>
          <p:cNvPr id="39" name="Text 35"/>
          <p:cNvSpPr txBox="1"/>
          <p:nvPr/>
        </p:nvSpPr>
        <p:spPr>
          <a:xfrm>
            <a:off x="528450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528450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sobre mercadoria armazenada · investimento fabril · capital de exploração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30953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49241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9241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749241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Olam Agri Moçambique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749241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Olam, grupo multinacional</a:t>
            </a:r>
            <a:endParaRPr lang="en-US" sz="840" dirty="0"/>
          </a:p>
        </p:txBody>
      </p:sp>
      <p:sp>
        <p:nvSpPr>
          <p:cNvPr id="46" name="Shape 42"/>
          <p:cNvSpPr/>
          <p:nvPr/>
        </p:nvSpPr>
        <p:spPr>
          <a:xfrm>
            <a:off x="749241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9241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fileiras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749241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algodão, sésamo e castanha de caju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749241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e Cabo Delgado</a:t>
            </a:r>
            <a:endParaRPr lang="en-US" sz="840" dirty="0"/>
          </a:p>
        </p:txBody>
      </p:sp>
      <p:sp>
        <p:nvSpPr>
          <p:cNvPr id="50" name="Text 46"/>
          <p:cNvSpPr txBox="1"/>
          <p:nvPr/>
        </p:nvSpPr>
        <p:spPr>
          <a:xfrm>
            <a:off x="749241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749241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pré-exportação · câmbio · pagamento a agregadores no terreno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951744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970032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0032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55" name="Text 51"/>
          <p:cNvSpPr txBox="1"/>
          <p:nvPr/>
        </p:nvSpPr>
        <p:spPr>
          <a:xfrm>
            <a:off x="970032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Plexus Mozambique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970032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internacional</a:t>
            </a:r>
            <a:endParaRPr lang="en-US" sz="840" dirty="0"/>
          </a:p>
        </p:txBody>
      </p:sp>
      <p:sp>
        <p:nvSpPr>
          <p:cNvPr id="57" name="Shape 53"/>
          <p:cNvSpPr/>
          <p:nvPr/>
        </p:nvSpPr>
        <p:spPr>
          <a:xfrm>
            <a:off x="970032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970032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Fibra</a:t>
            </a:r>
            <a:endParaRPr lang="en-US" sz="1700" dirty="0"/>
          </a:p>
        </p:txBody>
      </p:sp>
      <p:sp>
        <p:nvSpPr>
          <p:cNvPr id="59" name="Text 55"/>
          <p:cNvSpPr txBox="1"/>
          <p:nvPr/>
        </p:nvSpPr>
        <p:spPr>
          <a:xfrm>
            <a:off x="970032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descaroçamento e exportação de fibra de algodão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70032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840" dirty="0"/>
          </a:p>
        </p:txBody>
      </p:sp>
      <p:sp>
        <p:nvSpPr>
          <p:cNvPr id="61" name="Text 57"/>
          <p:cNvSpPr txBox="1"/>
          <p:nvPr/>
        </p:nvSpPr>
        <p:spPr>
          <a:xfrm>
            <a:off x="970032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970032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campanha · financiamento ao comércio internacional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Instituto do Algodão e Oleaginosas · Associação Algodoeira de Moçambique · Better Cotton · Ministério da Agricultura, Ambiente e Pescas.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6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7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3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4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5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0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1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6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7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2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8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9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4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5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0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1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PROTEÍNA ANIMAL E GRUPOS DIVERSIFICADOS · CERCA DE 135 MIL TONELADAS DE FRANGO POR ANO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líderes regionais integrados e dois grupos de fileira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Todos adquirem milho e soja em moeda estrangeira, todos investem em cadeia de frio e abate, e todos remuneram criadores integrados.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Higest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 e português, desde há 25 anos</a:t>
            </a:r>
            <a:endParaRPr lang="en-US" sz="840" dirty="0"/>
          </a:p>
        </p:txBody>
      </p:sp>
      <p:sp>
        <p:nvSpPr>
          <p:cNvPr id="13" name="Shape 9"/>
          <p:cNvSpPr/>
          <p:nvPr/>
        </p:nvSpPr>
        <p:spPr>
          <a:xfrm>
            <a:off x="86868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Sul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líder integrado: ração, pintos do dia e frango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 e região sul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documentário e câmbio · investimento em abate · crédito a distribuidores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89371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07659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7659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07659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Abílio Antunes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307659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</a:t>
            </a:r>
            <a:endParaRPr lang="en-US" sz="840" dirty="0"/>
          </a:p>
        </p:txBody>
      </p:sp>
      <p:sp>
        <p:nvSpPr>
          <p:cNvPr id="24" name="Shape 20"/>
          <p:cNvSpPr/>
          <p:nvPr/>
        </p:nvSpPr>
        <p:spPr>
          <a:xfrm>
            <a:off x="307659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7659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Centro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307659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integração vertical, com extracção de óleo de soja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7659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Chimoio, Manica</a:t>
            </a:r>
            <a:endParaRPr lang="en-US" sz="840" dirty="0"/>
          </a:p>
        </p:txBody>
      </p:sp>
      <p:sp>
        <p:nvSpPr>
          <p:cNvPr id="28" name="Text 24"/>
          <p:cNvSpPr txBox="1"/>
          <p:nvPr/>
        </p:nvSpPr>
        <p:spPr>
          <a:xfrm>
            <a:off x="307659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07659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Investimento em esmagamento e frio · financiamento de produtores de soja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10162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28450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8450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528450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Novos Horizontes e Frango King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28450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internacional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528450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28450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Norte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28450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líder integrado, consolidado sob accionista único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28450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840" dirty="0"/>
          </a:p>
        </p:txBody>
      </p:sp>
      <p:sp>
        <p:nvSpPr>
          <p:cNvPr id="39" name="Text 35"/>
          <p:cNvSpPr txBox="1"/>
          <p:nvPr/>
        </p:nvSpPr>
        <p:spPr>
          <a:xfrm>
            <a:off x="528450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528450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consolidação · abate e certificação · pagamento a criadores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30953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49241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9241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749241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JFS Holding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749241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português e moçambicano</a:t>
            </a:r>
            <a:endParaRPr lang="en-US" sz="840" dirty="0"/>
          </a:p>
        </p:txBody>
      </p:sp>
      <p:sp>
        <p:nvSpPr>
          <p:cNvPr id="46" name="Shape 42"/>
          <p:cNvSpPr/>
          <p:nvPr/>
        </p:nvSpPr>
        <p:spPr>
          <a:xfrm>
            <a:off x="749241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9241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40 M US$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749241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facturação anual, em seis unidades de negócio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749241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e Niassa</a:t>
            </a:r>
            <a:endParaRPr lang="en-US" sz="840" dirty="0"/>
          </a:p>
        </p:txBody>
      </p:sp>
      <p:sp>
        <p:nvSpPr>
          <p:cNvPr id="50" name="Text 46"/>
          <p:cNvSpPr txBox="1"/>
          <p:nvPr/>
        </p:nvSpPr>
        <p:spPr>
          <a:xfrm>
            <a:off x="749241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749241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Relação de grupo · tesouraria centralizada · financiamento de frota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951744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970032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0032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55" name="Text 51"/>
          <p:cNvSpPr txBox="1"/>
          <p:nvPr/>
        </p:nvSpPr>
        <p:spPr>
          <a:xfrm>
            <a:off x="970032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Mozaco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970032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Empreendimento conjunto entre a Rioforte e a JFS</a:t>
            </a:r>
            <a:endParaRPr lang="en-US" sz="840" dirty="0"/>
          </a:p>
        </p:txBody>
      </p:sp>
      <p:sp>
        <p:nvSpPr>
          <p:cNvPr id="57" name="Shape 53"/>
          <p:cNvSpPr/>
          <p:nvPr/>
        </p:nvSpPr>
        <p:spPr>
          <a:xfrm>
            <a:off x="970032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970032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20.000 ha</a:t>
            </a:r>
            <a:endParaRPr lang="en-US" sz="1700" dirty="0"/>
          </a:p>
        </p:txBody>
      </p:sp>
      <p:sp>
        <p:nvSpPr>
          <p:cNvPr id="59" name="Text 55"/>
          <p:cNvSpPr txBox="1"/>
          <p:nvPr/>
        </p:nvSpPr>
        <p:spPr>
          <a:xfrm>
            <a:off x="970032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meta de expansão de área; soja e algodão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70032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Malema, Nampula</a:t>
            </a:r>
            <a:endParaRPr lang="en-US" sz="840" dirty="0"/>
          </a:p>
        </p:txBody>
      </p:sp>
      <p:sp>
        <p:nvSpPr>
          <p:cNvPr id="61" name="Text 57"/>
          <p:cNvSpPr txBox="1"/>
          <p:nvPr/>
        </p:nvSpPr>
        <p:spPr>
          <a:xfrm>
            <a:off x="970032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970032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Expansão de área · mecanização · produção contratada destinada a ração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Agência de Informação de Moçambique · International Growth Centre e Ministério da Economia e Finanças · JFS Holding · Agence Ecofin.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6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7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3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4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5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0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1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6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7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2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8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9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4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5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0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1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BANANA, FRUTA E PRODUTOS HORTÍCOLAS DE EXPORTAÇÃO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Receita em divisas, cadeia de frio e risco fitossanitário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nesta fileira que o Banco encontra recebimentos em moeda forte, folhas salariais de centenas de trabalhadores e o risco que obriga a estruturar seguro.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Bananalândia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23544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3,5 M caixas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exportadas por ano a partir de 900 hectares; cerca de mil trabalhadores</a:t>
            </a:r>
            <a:endParaRPr lang="en-US" sz="98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Moamba, província de Maputo</a:t>
            </a:r>
            <a:endParaRPr lang="en-US" sz="92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Investimento na unidade de processamento · cadeia de frio · processamento salarial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3454832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69257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9257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692576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Jacaranda Agricultura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3692576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Investidor privado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692576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692576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Metocheria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3692576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recuperou os activos da Matanuska após surto da doença do Panamá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3692576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Monapo, província de Nampula</a:t>
            </a:r>
            <a:endParaRPr lang="en-US" sz="920" dirty="0"/>
          </a:p>
        </p:txBody>
      </p:sp>
      <p:sp>
        <p:nvSpPr>
          <p:cNvPr id="28" name="Text 24"/>
          <p:cNvSpPr txBox="1"/>
          <p:nvPr/>
        </p:nvSpPr>
        <p:spPr>
          <a:xfrm>
            <a:off x="3692576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692576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Replantação · biossegurança · logística até Nacala · seguro obrigatório</a:t>
            </a:r>
            <a:endParaRPr lang="en-US" sz="980" dirty="0"/>
          </a:p>
        </p:txBody>
      </p:sp>
      <p:sp>
        <p:nvSpPr>
          <p:cNvPr id="30" name="Shape 26"/>
          <p:cNvSpPr/>
          <p:nvPr/>
        </p:nvSpPr>
        <p:spPr>
          <a:xfrm>
            <a:off x="6223864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461608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61608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6461608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do Vanduzi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461608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britânico, constituída em 2004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6461608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61608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Todo o ano</a:t>
            </a:r>
            <a:endParaRPr lang="en-US" sz="1900" dirty="0"/>
          </a:p>
        </p:txBody>
      </p:sp>
      <p:sp>
        <p:nvSpPr>
          <p:cNvPr id="37" name="Text 33"/>
          <p:cNvSpPr txBox="1"/>
          <p:nvPr/>
        </p:nvSpPr>
        <p:spPr>
          <a:xfrm>
            <a:off x="6461608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milho-bebé e malagueta para o Reino Unido e para a Europa</a:t>
            </a:r>
            <a:endParaRPr lang="en-US" sz="980" dirty="0"/>
          </a:p>
        </p:txBody>
      </p:sp>
      <p:sp>
        <p:nvSpPr>
          <p:cNvPr id="38" name="Text 34"/>
          <p:cNvSpPr txBox="1"/>
          <p:nvPr/>
        </p:nvSpPr>
        <p:spPr>
          <a:xfrm>
            <a:off x="6461608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Vanduzi, província de Manica</a:t>
            </a:r>
            <a:endParaRPr lang="en-US" sz="920" dirty="0"/>
          </a:p>
        </p:txBody>
      </p:sp>
      <p:sp>
        <p:nvSpPr>
          <p:cNvPr id="39" name="Text 35"/>
          <p:cNvSpPr txBox="1"/>
          <p:nvPr/>
        </p:nvSpPr>
        <p:spPr>
          <a:xfrm>
            <a:off x="6461608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6461608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Fluxo cambial contínuo · antecipação de recebimentos · rega e centro de embalagem</a:t>
            </a:r>
            <a:endParaRPr lang="en-US" sz="980" dirty="0"/>
          </a:p>
        </p:txBody>
      </p:sp>
      <p:sp>
        <p:nvSpPr>
          <p:cNvPr id="41" name="Shape 37"/>
          <p:cNvSpPr/>
          <p:nvPr/>
        </p:nvSpPr>
        <p:spPr>
          <a:xfrm>
            <a:off x="8992895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923063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923063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9230639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de macadâmia</a:t>
            </a:r>
            <a:endParaRPr lang="en-US" sz="1250" dirty="0"/>
          </a:p>
        </p:txBody>
      </p:sp>
      <p:sp>
        <p:nvSpPr>
          <p:cNvPr id="45" name="Text 41"/>
          <p:cNvSpPr txBox="1"/>
          <p:nvPr/>
        </p:nvSpPr>
        <p:spPr>
          <a:xfrm>
            <a:off x="9230639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Investidores sul-africanos e zimbabweanos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230639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30639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 a 10 anos</a:t>
            </a:r>
            <a:endParaRPr lang="en-US" sz="1900" dirty="0"/>
          </a:p>
        </p:txBody>
      </p:sp>
      <p:sp>
        <p:nvSpPr>
          <p:cNvPr id="48" name="Text 44"/>
          <p:cNvSpPr txBox="1"/>
          <p:nvPr/>
        </p:nvSpPr>
        <p:spPr>
          <a:xfrm>
            <a:off x="9230639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período de implantação do pomar até à plena produção</a:t>
            </a:r>
            <a:endParaRPr lang="en-US" sz="980" dirty="0"/>
          </a:p>
        </p:txBody>
      </p:sp>
      <p:sp>
        <p:nvSpPr>
          <p:cNvPr id="49" name="Text 45"/>
          <p:cNvSpPr txBox="1"/>
          <p:nvPr/>
        </p:nvSpPr>
        <p:spPr>
          <a:xfrm>
            <a:off x="9230639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 e Nampula</a:t>
            </a:r>
            <a:endParaRPr lang="en-US" sz="920" dirty="0"/>
          </a:p>
        </p:txBody>
      </p:sp>
      <p:sp>
        <p:nvSpPr>
          <p:cNvPr id="50" name="Text 46"/>
          <p:cNvSpPr txBox="1"/>
          <p:nvPr/>
        </p:nvSpPr>
        <p:spPr>
          <a:xfrm>
            <a:off x="9230639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9230639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longo prazo para implantação · descasque e secagem · câmbio</a:t>
            </a:r>
            <a:endParaRPr lang="en-US" sz="980" dirty="0"/>
          </a:p>
        </p:txBody>
      </p:sp>
      <p:sp>
        <p:nvSpPr>
          <p:cNvPr id="52" name="Text 4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Food Business Africa e Club of Mozambique · Companhia do Vanduzi · The Macadamia South Africa.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4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CASTANHA DE CAJU · ENTRE 157 E 160 MIL TONELADAS DE CASTANHA EM BRUTO POR ANO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maior processador de África e o terceiro do mundo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compra concentra-se em três a quatro meses e a venda distribui-se pelo ano inteiro. É o caso de aplicação por excelência do crédito sobre mercadoria armazenada.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18</a:t>
            </a:r>
            <a:endParaRPr lang="en-US" sz="1000" dirty="0"/>
          </a:p>
        </p:txBody>
      </p:sp>
      <p:pic>
        <p:nvPicPr>
          <p:cNvPr id="7" name="Image 1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267712"/>
            <a:ext cx="4846320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97880" y="2267712"/>
            <a:ext cx="5608015" cy="1444752"/>
          </a:xfrm>
          <a:prstGeom prst="roundRect">
            <a:avLst>
              <a:gd name="adj" fmla="val 3797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153912" y="2432304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53912" y="2432304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7324344" y="2359152"/>
            <a:ext cx="39255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Condor Nuts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2779776"/>
            <a:ext cx="5095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 · província de Nampula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6153912" y="303580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70.000 t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982712" y="3017520"/>
            <a:ext cx="32671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processadas anualmente no país; é uma das maiores unidades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153912" y="3346704"/>
            <a:ext cx="5095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sobre mercadoria · antecipação de recebimentos · linhas de descasque</a:t>
            </a:r>
            <a:endParaRPr lang="en-US" sz="940" dirty="0"/>
          </a:p>
        </p:txBody>
      </p:sp>
      <p:sp>
        <p:nvSpPr>
          <p:cNvPr id="16" name="Shape 12"/>
          <p:cNvSpPr/>
          <p:nvPr/>
        </p:nvSpPr>
        <p:spPr>
          <a:xfrm>
            <a:off x="5897880" y="3858768"/>
            <a:ext cx="5608015" cy="1444752"/>
          </a:xfrm>
          <a:prstGeom prst="roundRect">
            <a:avLst>
              <a:gd name="adj" fmla="val 3797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53912" y="402336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153912" y="4023360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19" name="Text 15"/>
          <p:cNvSpPr txBox="1"/>
          <p:nvPr/>
        </p:nvSpPr>
        <p:spPr>
          <a:xfrm>
            <a:off x="7324344" y="3950208"/>
            <a:ext cx="39255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Processadoras de Nampula e Cabo Delgado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153912" y="4370832"/>
            <a:ext cx="50959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Diversas · nova unidade inaugurada em Palma, em 2024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6153912" y="462686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37 para 6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7982712" y="4608576"/>
            <a:ext cx="326715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unidades activas em Nampula, num parque de 15 milhões de plantas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6153912" y="4937760"/>
            <a:ext cx="5095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4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reestruturação · investimento · financiamento a agregadores registados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685800" y="5394960"/>
            <a:ext cx="10820095" cy="493776"/>
          </a:xfrm>
          <a:prstGeom prst="roundRect">
            <a:avLst>
              <a:gd name="adj" fmla="val 11111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5394960"/>
            <a:ext cx="1016172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reduziu-se de 37 para 6 unidades activas: quem subsistiu tenderá a consolidar, e a consolidação requer crédito.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Ministério da Agricultura, Ambiente e Pescas · Diário Económico · Agência de Informação de Moçambique.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CEREAIS, ARROZ E MOAGEM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Trigo importado, milho nacional e uma rede de distribuição por bancarizar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moagem conjuga duas necessidades permanentes: crédito documentário em divisas e cobrança junto de centenas de distribuidores.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Merec Industries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moçambicano, constituída em 1998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23544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12 unidades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farinha de milho e de trigo, massas, bolachas e rações</a:t>
            </a:r>
            <a:endParaRPr lang="en-US" sz="98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Matola, Beira e Nacala</a:t>
            </a:r>
            <a:endParaRPr lang="en-US" sz="92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documentário e câmbio · digitalização da cobrança na rede nacional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3454832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69257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9257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692576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Industrial da Matola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3692576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DECA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3692576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692576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Farinha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3692576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dos principais fornecedores do mercado de Maputo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3692576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Matola, província de Maputo</a:t>
            </a:r>
            <a:endParaRPr lang="en-US" sz="920" dirty="0"/>
          </a:p>
        </p:txBody>
      </p:sp>
      <p:sp>
        <p:nvSpPr>
          <p:cNvPr id="28" name="Text 24"/>
          <p:cNvSpPr txBox="1"/>
          <p:nvPr/>
        </p:nvSpPr>
        <p:spPr>
          <a:xfrm>
            <a:off x="3692576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692576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da importação de trigo · cobertura cambial · tesouraria</a:t>
            </a:r>
            <a:endParaRPr lang="en-US" sz="980" dirty="0"/>
          </a:p>
        </p:txBody>
      </p:sp>
      <p:sp>
        <p:nvSpPr>
          <p:cNvPr id="30" name="Shape 26"/>
          <p:cNvSpPr/>
          <p:nvPr/>
        </p:nvSpPr>
        <p:spPr>
          <a:xfrm>
            <a:off x="6223864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461608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61608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6461608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Pembe Moçambique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461608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6461608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461608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Milho</a:t>
            </a:r>
            <a:endParaRPr lang="en-US" sz="1900" dirty="0"/>
          </a:p>
        </p:txBody>
      </p:sp>
      <p:sp>
        <p:nvSpPr>
          <p:cNvPr id="37" name="Text 33"/>
          <p:cNvSpPr txBox="1"/>
          <p:nvPr/>
        </p:nvSpPr>
        <p:spPr>
          <a:xfrm>
            <a:off x="6461608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unidade de moagem de referência no abastecimento de Maputo</a:t>
            </a:r>
            <a:endParaRPr lang="en-US" sz="980" dirty="0"/>
          </a:p>
        </p:txBody>
      </p:sp>
      <p:sp>
        <p:nvSpPr>
          <p:cNvPr id="38" name="Text 34"/>
          <p:cNvSpPr txBox="1"/>
          <p:nvPr/>
        </p:nvSpPr>
        <p:spPr>
          <a:xfrm>
            <a:off x="6461608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</a:t>
            </a:r>
            <a:endParaRPr lang="en-US" sz="920" dirty="0"/>
          </a:p>
        </p:txBody>
      </p:sp>
      <p:sp>
        <p:nvSpPr>
          <p:cNvPr id="39" name="Text 35"/>
          <p:cNvSpPr txBox="1"/>
          <p:nvPr/>
        </p:nvSpPr>
        <p:spPr>
          <a:xfrm>
            <a:off x="6461608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6461608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aquisição de milho nacional no pico da colheita</a:t>
            </a:r>
            <a:endParaRPr lang="en-US" sz="980" dirty="0"/>
          </a:p>
        </p:txBody>
      </p:sp>
      <p:sp>
        <p:nvSpPr>
          <p:cNvPr id="41" name="Shape 37"/>
          <p:cNvSpPr/>
          <p:nvPr/>
        </p:nvSpPr>
        <p:spPr>
          <a:xfrm>
            <a:off x="8992895" y="2249424"/>
            <a:ext cx="2513000" cy="3858768"/>
          </a:xfrm>
          <a:prstGeom prst="roundRect">
            <a:avLst>
              <a:gd name="adj" fmla="val 2183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923063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923063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9230639" y="2688336"/>
            <a:ext cx="2037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Wanbao Africa Agriculture</a:t>
            </a:r>
            <a:endParaRPr lang="en-US" sz="1250" dirty="0"/>
          </a:p>
        </p:txBody>
      </p:sp>
      <p:sp>
        <p:nvSpPr>
          <p:cNvPr id="45" name="Text 41"/>
          <p:cNvSpPr txBox="1"/>
          <p:nvPr/>
        </p:nvSpPr>
        <p:spPr>
          <a:xfrm>
            <a:off x="9230639" y="3218688"/>
            <a:ext cx="2037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Fundo de Desenvolvimento China-África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230639" y="3621024"/>
            <a:ext cx="203751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30639" y="3721608"/>
            <a:ext cx="203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16.000 t</a:t>
            </a:r>
            <a:endParaRPr lang="en-US" sz="1900" dirty="0"/>
          </a:p>
        </p:txBody>
      </p:sp>
      <p:sp>
        <p:nvSpPr>
          <p:cNvPr id="48" name="Text 44"/>
          <p:cNvSpPr txBox="1"/>
          <p:nvPr/>
        </p:nvSpPr>
        <p:spPr>
          <a:xfrm>
            <a:off x="9230639" y="4087368"/>
            <a:ext cx="2037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arroz por ano; 353 famílias produtoras integradas</a:t>
            </a:r>
            <a:endParaRPr lang="en-US" sz="980" dirty="0"/>
          </a:p>
        </p:txBody>
      </p:sp>
      <p:sp>
        <p:nvSpPr>
          <p:cNvPr id="49" name="Text 45"/>
          <p:cNvSpPr txBox="1"/>
          <p:nvPr/>
        </p:nvSpPr>
        <p:spPr>
          <a:xfrm>
            <a:off x="9230639" y="4572000"/>
            <a:ext cx="2037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Xai-Xai, província de Gaza</a:t>
            </a:r>
            <a:endParaRPr lang="en-US" sz="920" dirty="0"/>
          </a:p>
        </p:txBody>
      </p:sp>
      <p:sp>
        <p:nvSpPr>
          <p:cNvPr id="50" name="Text 46"/>
          <p:cNvSpPr txBox="1"/>
          <p:nvPr/>
        </p:nvSpPr>
        <p:spPr>
          <a:xfrm>
            <a:off x="9230639" y="4791456"/>
            <a:ext cx="20375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9230639" y="4956048"/>
            <a:ext cx="203751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Mecanização e rega · crédito ao abrigo de contrato · seguro contra cheias</a:t>
            </a:r>
            <a:endParaRPr lang="en-US" sz="980" dirty="0"/>
          </a:p>
        </p:txBody>
      </p:sp>
      <p:sp>
        <p:nvSpPr>
          <p:cNvPr id="52" name="Text 4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Merec Industries · Observatório do Meio Rural · SAIS-CARI e agência Xinhua.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46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FLORESTA, COCO E CHÁ · CULTURAS DE LONGA MATURIDADE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Ciclos longos, com uma cadeia de fornecedores desde já financiável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Enquanto o activo principal amadurece ao longo de sete a vinte anos, os empreiteiros, transportadores e prestadores de serviços locais necessitam de crédito no imediato.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5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Portucel Moçambique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The Navigator Company; o IFC detém cerca de 20%</a:t>
            </a:r>
            <a:endParaRPr lang="en-US" sz="840" dirty="0"/>
          </a:p>
        </p:txBody>
      </p:sp>
      <p:sp>
        <p:nvSpPr>
          <p:cNvPr id="13" name="Shape 9"/>
          <p:cNvSpPr/>
          <p:nvPr/>
        </p:nvSpPr>
        <p:spPr>
          <a:xfrm>
            <a:off x="86868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356.000 ha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concessão; 14.000 ha plantados e 120 milhões de dólares investidos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 e Zambézia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86868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projecto · financiamento de empreiteiros e transportadores locais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89371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07659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07659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307659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Green Resources Moçambique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307659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norueguês</a:t>
            </a:r>
            <a:endParaRPr lang="en-US" sz="840" dirty="0"/>
          </a:p>
        </p:txBody>
      </p:sp>
      <p:sp>
        <p:nvSpPr>
          <p:cNvPr id="24" name="Shape 20"/>
          <p:cNvSpPr/>
          <p:nvPr/>
        </p:nvSpPr>
        <p:spPr>
          <a:xfrm>
            <a:off x="307659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7659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17.000 ha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307659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plantados em sete distritos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7659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Niassa</a:t>
            </a:r>
            <a:endParaRPr lang="en-US" sz="840" dirty="0"/>
          </a:p>
        </p:txBody>
      </p:sp>
      <p:sp>
        <p:nvSpPr>
          <p:cNvPr id="28" name="Text 24"/>
          <p:cNvSpPr txBox="1"/>
          <p:nvPr/>
        </p:nvSpPr>
        <p:spPr>
          <a:xfrm>
            <a:off x="307659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307659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Operações de colheita e serração · financiamento de activos florestais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101620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284500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284500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5284500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IFLOMA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5284500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SAFCOL, da África do Sul, constituída em 1977</a:t>
            </a:r>
            <a:endParaRPr lang="en-US" sz="840" dirty="0"/>
          </a:p>
        </p:txBody>
      </p:sp>
      <p:sp>
        <p:nvSpPr>
          <p:cNvPr id="35" name="Shape 31"/>
          <p:cNvSpPr/>
          <p:nvPr/>
        </p:nvSpPr>
        <p:spPr>
          <a:xfrm>
            <a:off x="5284500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284500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31.000 ha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284500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direito de uso da terra, dos quais 16.275 plantáveis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5284500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</a:t>
            </a:r>
            <a:endParaRPr lang="en-US" sz="840" dirty="0"/>
          </a:p>
        </p:txBody>
      </p:sp>
      <p:sp>
        <p:nvSpPr>
          <p:cNvPr id="39" name="Text 35"/>
          <p:cNvSpPr txBox="1"/>
          <p:nvPr/>
        </p:nvSpPr>
        <p:spPr>
          <a:xfrm>
            <a:off x="5284500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5284500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Investimento em serração · capital de exploração · contratos locais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730953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49241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49241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44" name="Text 40"/>
          <p:cNvSpPr txBox="1"/>
          <p:nvPr/>
        </p:nvSpPr>
        <p:spPr>
          <a:xfrm>
            <a:off x="749241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Madal</a:t>
            </a:r>
            <a:endParaRPr lang="en-US" sz="1150" dirty="0"/>
          </a:p>
        </p:txBody>
      </p:sp>
      <p:sp>
        <p:nvSpPr>
          <p:cNvPr id="45" name="Text 41"/>
          <p:cNvSpPr txBox="1"/>
          <p:nvPr/>
        </p:nvSpPr>
        <p:spPr>
          <a:xfrm>
            <a:off x="749241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Família Bento, com actividade desde 1903</a:t>
            </a:r>
            <a:endParaRPr lang="en-US" sz="840" dirty="0"/>
          </a:p>
        </p:txBody>
      </p:sp>
      <p:sp>
        <p:nvSpPr>
          <p:cNvPr id="46" name="Shape 42"/>
          <p:cNvSpPr/>
          <p:nvPr/>
        </p:nvSpPr>
        <p:spPr>
          <a:xfrm>
            <a:off x="749241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49241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Maior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749241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 nacional de coco; actua também em pecuária e hotelaria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749241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Zambézia</a:t>
            </a:r>
            <a:endParaRPr lang="en-US" sz="840" dirty="0"/>
          </a:p>
        </p:txBody>
      </p:sp>
      <p:sp>
        <p:nvSpPr>
          <p:cNvPr id="50" name="Text 46"/>
          <p:cNvSpPr txBox="1"/>
          <p:nvPr/>
        </p:nvSpPr>
        <p:spPr>
          <a:xfrm>
            <a:off x="749241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51" name="Text 47"/>
          <p:cNvSpPr txBox="1"/>
          <p:nvPr/>
        </p:nvSpPr>
        <p:spPr>
          <a:xfrm>
            <a:off x="749241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Relação de grupo · replantação de coqueiral · financiamento imobiliário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9517441" y="2249424"/>
            <a:ext cx="1988454" cy="3858768"/>
          </a:xfrm>
          <a:prstGeom prst="roundRect">
            <a:avLst>
              <a:gd name="adj" fmla="val 2759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9700321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00321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55" name="Text 51"/>
          <p:cNvSpPr txBox="1"/>
          <p:nvPr/>
        </p:nvSpPr>
        <p:spPr>
          <a:xfrm>
            <a:off x="9700321" y="2688336"/>
            <a:ext cx="162269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Chá do Gurué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9700321" y="3218688"/>
            <a:ext cx="16226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SDZ, Chá Magoma e Chazeiras de Moçambique</a:t>
            </a:r>
            <a:endParaRPr lang="en-US" sz="840" dirty="0"/>
          </a:p>
        </p:txBody>
      </p:sp>
      <p:sp>
        <p:nvSpPr>
          <p:cNvPr id="57" name="Shape 53"/>
          <p:cNvSpPr/>
          <p:nvPr/>
        </p:nvSpPr>
        <p:spPr>
          <a:xfrm>
            <a:off x="9700321" y="3621024"/>
            <a:ext cx="162269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9700321" y="3721608"/>
            <a:ext cx="16226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4.400 t</a:t>
            </a:r>
            <a:endParaRPr lang="en-US" sz="1700" dirty="0"/>
          </a:p>
        </p:txBody>
      </p:sp>
      <p:sp>
        <p:nvSpPr>
          <p:cNvPr id="59" name="Text 55"/>
          <p:cNvSpPr txBox="1"/>
          <p:nvPr/>
        </p:nvSpPr>
        <p:spPr>
          <a:xfrm>
            <a:off x="9700321" y="4087368"/>
            <a:ext cx="1622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folha verde previstas, em 4.908 hectares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9700321" y="4572000"/>
            <a:ext cx="16226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Gurué, Zambézia</a:t>
            </a:r>
            <a:endParaRPr lang="en-US" sz="840" dirty="0"/>
          </a:p>
        </p:txBody>
      </p:sp>
      <p:sp>
        <p:nvSpPr>
          <p:cNvPr id="61" name="Text 57"/>
          <p:cNvSpPr txBox="1"/>
          <p:nvPr/>
        </p:nvSpPr>
        <p:spPr>
          <a:xfrm>
            <a:off x="9700321" y="4791456"/>
            <a:ext cx="162269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62" name="Text 58"/>
          <p:cNvSpPr txBox="1"/>
          <p:nvPr/>
        </p:nvSpPr>
        <p:spPr>
          <a:xfrm>
            <a:off x="9700321" y="4956048"/>
            <a:ext cx="162269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Reabilitação de unidades fabris · capital de campanha · salários sazonais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The Navigator Company e Portucel Moçambique · Banco Mundial, The Plantation Forestry Sector in Mozambique · Rádio Moçambique.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0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1" dur="42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6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7" dur="4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42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5" dur="42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0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1" dur="42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6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7" dur="42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2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3" dur="42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8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9" dur="42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4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5" dur="42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0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1" dur="42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6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7" dur="42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2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3" dur="42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8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9" dur="42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4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5" dur="42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0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1" dur="42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6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7" dur="42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0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2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3" dur="42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6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8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9" dur="42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2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4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5" dur="42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8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0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1" dur="42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4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INSUMOS, DISTRIBUIÇÃO E COMERCIALIZAÇÃO INTERNACIONAL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canal de captação de clientes já instalado no terreno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Estas empresas não são apenas clientes: constituem a infra-estrutura através da qual o Banco alcança milhares de contrapartes do terceiro segmento.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9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75050" cy="3273552"/>
          </a:xfrm>
          <a:prstGeom prst="roundRect">
            <a:avLst>
              <a:gd name="adj" fmla="val 167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88336"/>
            <a:ext cx="28995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AQI, anteriormente Casa do Agricultor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8995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 · 14 lojas e mais de 100 colaboradores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23544" y="3621024"/>
            <a:ext cx="289956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21608"/>
            <a:ext cx="2899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250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08736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revendedores de insumos em rede nacional, com expansão para Cabo Delgado</a:t>
            </a:r>
            <a:endParaRPr lang="en-US" sz="98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572000"/>
            <a:ext cx="28995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Cobertura nacional</a:t>
            </a:r>
            <a:endParaRPr lang="en-US" sz="92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791456"/>
            <a:ext cx="289956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18" name="Text 14"/>
          <p:cNvSpPr txBox="1"/>
          <p:nvPr/>
        </p:nvSpPr>
        <p:spPr>
          <a:xfrm>
            <a:off x="923544" y="4956048"/>
            <a:ext cx="28995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Existências ao revendedor · terminais de pagamento · captação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4408322" y="2249424"/>
            <a:ext cx="3375050" cy="3273552"/>
          </a:xfrm>
          <a:prstGeom prst="roundRect">
            <a:avLst>
              <a:gd name="adj" fmla="val 167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46066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46066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22" name="Text 18"/>
          <p:cNvSpPr txBox="1"/>
          <p:nvPr/>
        </p:nvSpPr>
        <p:spPr>
          <a:xfrm>
            <a:off x="4646066" y="2688336"/>
            <a:ext cx="28995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 Trading Group</a:t>
            </a:r>
            <a:endParaRPr lang="en-US" sz="1450" dirty="0"/>
          </a:p>
        </p:txBody>
      </p:sp>
      <p:sp>
        <p:nvSpPr>
          <p:cNvPr id="23" name="Text 19"/>
          <p:cNvSpPr txBox="1"/>
          <p:nvPr/>
        </p:nvSpPr>
        <p:spPr>
          <a:xfrm>
            <a:off x="4646066" y="3218688"/>
            <a:ext cx="28995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multinacional; domina, com a Olam, o sésamo, o feijão-boer e a castanha de caju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646066" y="3621024"/>
            <a:ext cx="289956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646066" y="3721608"/>
            <a:ext cx="2899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Beira e Nacala</a:t>
            </a:r>
            <a:endParaRPr lang="en-US" sz="2200" dirty="0"/>
          </a:p>
        </p:txBody>
      </p:sp>
      <p:sp>
        <p:nvSpPr>
          <p:cNvPr id="26" name="Text 22"/>
          <p:cNvSpPr txBox="1"/>
          <p:nvPr/>
        </p:nvSpPr>
        <p:spPr>
          <a:xfrm>
            <a:off x="4646066" y="408736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portos de saída para a Índia, a China, a Indonésia e o Vietname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4646066" y="4572000"/>
            <a:ext cx="28995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Norte e centro do país</a:t>
            </a:r>
            <a:endParaRPr lang="en-US" sz="920" dirty="0"/>
          </a:p>
        </p:txBody>
      </p:sp>
      <p:sp>
        <p:nvSpPr>
          <p:cNvPr id="28" name="Text 24"/>
          <p:cNvSpPr txBox="1"/>
          <p:nvPr/>
        </p:nvSpPr>
        <p:spPr>
          <a:xfrm>
            <a:off x="4646066" y="4791456"/>
            <a:ext cx="289956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29" name="Text 25"/>
          <p:cNvSpPr txBox="1"/>
          <p:nvPr/>
        </p:nvSpPr>
        <p:spPr>
          <a:xfrm>
            <a:off x="4646066" y="4956048"/>
            <a:ext cx="28995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estruturado de mercadorias · agregação · câmbio</a:t>
            </a:r>
            <a:endParaRPr lang="en-US" sz="980" dirty="0"/>
          </a:p>
        </p:txBody>
      </p:sp>
      <p:sp>
        <p:nvSpPr>
          <p:cNvPr id="30" name="Shape 26"/>
          <p:cNvSpPr/>
          <p:nvPr/>
        </p:nvSpPr>
        <p:spPr>
          <a:xfrm>
            <a:off x="8130845" y="2249424"/>
            <a:ext cx="3375050" cy="3273552"/>
          </a:xfrm>
          <a:prstGeom prst="roundRect">
            <a:avLst>
              <a:gd name="adj" fmla="val 1676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368589" y="2414016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368589" y="2414016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33" name="Text 29"/>
          <p:cNvSpPr txBox="1"/>
          <p:nvPr/>
        </p:nvSpPr>
        <p:spPr>
          <a:xfrm>
            <a:off x="8368589" y="2688336"/>
            <a:ext cx="28995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Agrifocus</a:t>
            </a:r>
            <a:endParaRPr lang="en-US" sz="1450" dirty="0"/>
          </a:p>
        </p:txBody>
      </p:sp>
      <p:sp>
        <p:nvSpPr>
          <p:cNvPr id="34" name="Text 30"/>
          <p:cNvSpPr txBox="1"/>
          <p:nvPr/>
        </p:nvSpPr>
        <p:spPr>
          <a:xfrm>
            <a:off x="8368589" y="3218688"/>
            <a:ext cx="28995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8368589" y="3621024"/>
            <a:ext cx="2899562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368589" y="3721608"/>
            <a:ext cx="2899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</a:t>
            </a:r>
            <a:endParaRPr lang="en-US" sz="2200" dirty="0"/>
          </a:p>
        </p:txBody>
      </p:sp>
      <p:sp>
        <p:nvSpPr>
          <p:cNvPr id="37" name="Text 33"/>
          <p:cNvSpPr txBox="1"/>
          <p:nvPr/>
        </p:nvSpPr>
        <p:spPr>
          <a:xfrm>
            <a:off x="8368589" y="408736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distribuição de insumos e de equipamento agrícola</a:t>
            </a:r>
            <a:endParaRPr lang="en-US" sz="980" dirty="0"/>
          </a:p>
        </p:txBody>
      </p:sp>
      <p:sp>
        <p:nvSpPr>
          <p:cNvPr id="38" name="Text 34"/>
          <p:cNvSpPr txBox="1"/>
          <p:nvPr/>
        </p:nvSpPr>
        <p:spPr>
          <a:xfrm>
            <a:off x="8368589" y="4572000"/>
            <a:ext cx="289956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 e cobertura nacional</a:t>
            </a:r>
            <a:endParaRPr lang="en-US" sz="920" dirty="0"/>
          </a:p>
        </p:txBody>
      </p:sp>
      <p:sp>
        <p:nvSpPr>
          <p:cNvPr id="39" name="Text 35"/>
          <p:cNvSpPr txBox="1"/>
          <p:nvPr/>
        </p:nvSpPr>
        <p:spPr>
          <a:xfrm>
            <a:off x="8368589" y="4791456"/>
            <a:ext cx="289956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spc="80" kern="0" dirty="0">
                <a:solidFill>
                  <a:srgbClr val="A89F9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OPORTUNIDADE PARA O BANCO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8368589" y="4956048"/>
            <a:ext cx="28995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existências · locação de equipamento</a:t>
            </a:r>
            <a:endParaRPr lang="en-US" sz="980" dirty="0"/>
          </a:p>
        </p:txBody>
      </p:sp>
      <p:sp>
        <p:nvSpPr>
          <p:cNvPr id="41" name="Shape 37"/>
          <p:cNvSpPr/>
          <p:nvPr/>
        </p:nvSpPr>
        <p:spPr>
          <a:xfrm>
            <a:off x="685800" y="5669280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60120" y="5669280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6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de risco: </a:t>
            </a:r>
            <a:pPr indent="0" marL="0">
              <a:lnSpc>
                <a:spcPct val="110000"/>
              </a:lnSpc>
              <a:buNone/>
            </a:pPr>
            <a:r>
              <a:rPr lang="en-US" sz="960" dirty="0">
                <a:solidFill>
                  <a:srgbClr val="E4DEDE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 Trading Group: litígio de 60 milhões de dólares com o Royal Group a respeito de feijão-boer, com apreensão de mercadoria. Qualquer estrutura de financiamento sobre mercadorias desta contraparte exige gestão independente de garantias e verificação de titularidade.</a:t>
            </a:r>
            <a:endParaRPr lang="en-US" sz="960" dirty="0"/>
          </a:p>
        </p:txBody>
      </p:sp>
      <p:sp>
        <p:nvSpPr>
          <p:cNvPr id="43" name="Text 39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Club of Mozambique · Export Trading Group · Feed the Future Inova · 360 Mozambique.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4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4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4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4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42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0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1" dur="4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6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7" dur="42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42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46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46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46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ORGANIZAÇÃO DA CARTEIRA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Segmentação de cobertura e lógica de captação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segmentos, três equipas, um mesmo mapa de contrapartes.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62858" cy="2962656"/>
          </a:xfrm>
          <a:prstGeom prst="roundRect">
            <a:avLst>
              <a:gd name="adj" fmla="val 185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41832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41832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1</a:t>
            </a:r>
            <a:endParaRPr lang="en-US" sz="740" dirty="0"/>
          </a:p>
        </p:txBody>
      </p:sp>
      <p:sp>
        <p:nvSpPr>
          <p:cNvPr id="11" name="Text 7"/>
          <p:cNvSpPr txBox="1"/>
          <p:nvPr/>
        </p:nvSpPr>
        <p:spPr>
          <a:xfrm>
            <a:off x="941832" y="2761488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Empresas âncora, na Banca Corporativa e de Investimento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493008"/>
            <a:ext cx="2850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Xinavane · Mafambisse · Sena · Maragra · Mozambique Leaf Tobacco · Portucel · Merec · Companhia Industrial da Matola · Olam Agri · Export Trading Group</a:t>
            </a:r>
            <a:endParaRPr lang="en-US" sz="94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4718304"/>
            <a:ext cx="2850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estruturado · câmbio · comércio internacional · tesouraria de grupo</a:t>
            </a:r>
            <a:endParaRPr lang="en-US" sz="940" dirty="0"/>
          </a:p>
        </p:txBody>
      </p:sp>
      <p:sp>
        <p:nvSpPr>
          <p:cNvPr id="14" name="Shape 10"/>
          <p:cNvSpPr/>
          <p:nvPr/>
        </p:nvSpPr>
        <p:spPr>
          <a:xfrm>
            <a:off x="4414418" y="2249424"/>
            <a:ext cx="3362858" cy="2962656"/>
          </a:xfrm>
          <a:prstGeom prst="roundRect">
            <a:avLst>
              <a:gd name="adj" fmla="val 185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70450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70450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2</a:t>
            </a:r>
            <a:endParaRPr lang="en-US" sz="740" dirty="0"/>
          </a:p>
        </p:txBody>
      </p:sp>
      <p:sp>
        <p:nvSpPr>
          <p:cNvPr id="17" name="Text 13"/>
          <p:cNvSpPr txBox="1"/>
          <p:nvPr/>
        </p:nvSpPr>
        <p:spPr>
          <a:xfrm>
            <a:off x="4670450" y="2761488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Empresas de média dimensão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670450" y="3493008"/>
            <a:ext cx="2850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JFS · Mozaco · Higest · Abílio Antunes · Novos Horizontes · Bananalândia · Jacaranda · Vanduzi · SANAM · SAM · SAN · Plexus · Condor · Pembe · Wanbao · Green Resources · IFLOMA · Madal · AQI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4670450" y="4718304"/>
            <a:ext cx="2850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financiamento de activos · cobranças · seguro agrícola</a:t>
            </a:r>
            <a:endParaRPr lang="en-US" sz="940" dirty="0"/>
          </a:p>
        </p:txBody>
      </p:sp>
      <p:sp>
        <p:nvSpPr>
          <p:cNvPr id="20" name="Shape 16"/>
          <p:cNvSpPr/>
          <p:nvPr/>
        </p:nvSpPr>
        <p:spPr>
          <a:xfrm>
            <a:off x="8143037" y="2249424"/>
            <a:ext cx="3362858" cy="2962656"/>
          </a:xfrm>
          <a:prstGeom prst="roundRect">
            <a:avLst>
              <a:gd name="adj" fmla="val 1852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399069" y="24140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399069" y="24140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SEGMENTO 3</a:t>
            </a:r>
            <a:endParaRPr lang="en-US" sz="740" dirty="0"/>
          </a:p>
        </p:txBody>
      </p:sp>
      <p:sp>
        <p:nvSpPr>
          <p:cNvPr id="23" name="Text 19"/>
          <p:cNvSpPr txBox="1"/>
          <p:nvPr/>
        </p:nvSpPr>
        <p:spPr>
          <a:xfrm>
            <a:off x="8399069" y="2761488"/>
            <a:ext cx="285079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Pequenas empresas e cadeia de fornecimento, com FINOVA e garantia norte-americana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399069" y="3493008"/>
            <a:ext cx="285079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integrados das empresas âncora · os 250 revendedores da AQI · transportadores · prestadores de mecanização · processadoras de caju em reestruturação · as 74.706 explorações de dimensão média</a:t>
            </a:r>
            <a:endParaRPr lang="en-US" sz="940" dirty="0"/>
          </a:p>
        </p:txBody>
      </p:sp>
      <p:sp>
        <p:nvSpPr>
          <p:cNvPr id="25" name="Text 21"/>
          <p:cNvSpPr txBox="1"/>
          <p:nvPr/>
        </p:nvSpPr>
        <p:spPr>
          <a:xfrm>
            <a:off x="8399069" y="4718304"/>
            <a:ext cx="28507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4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Conta bancária · pagamentos digitais · crédito de insumos ao abrigo de contrato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85800" y="5376672"/>
            <a:ext cx="10820095" cy="512064"/>
          </a:xfrm>
          <a:prstGeom prst="roundRect">
            <a:avLst>
              <a:gd name="adj" fmla="val 10714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4984" y="5376672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Cada empresa do primeiro segmento é uma porta de entrada para centenas de contrapartes do terceiro. Bancarizar a âncora assegura o fluxo; bancarizar a cadeia constrói a carteira.</a:t>
            </a:r>
            <a:endParaRPr lang="en-US" sz="12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OFERTA DO BANCO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insumo agrícola ao pagamento final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matriz de produtos, agora sustentada pela linha FINOVA e pela garantia norte-americana em matéria de preço e de risco.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10820095" cy="384048"/>
          </a:xfrm>
          <a:prstGeom prst="rect">
            <a:avLst/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224942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NECESSIDADE DO CLIENTE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24942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SOLUÇÃO ABSA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249424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VALOR PARA O NEGÓCIO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85800" y="2633472"/>
            <a:ext cx="108200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670048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 sazonais e capital de exploração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114800" y="2670048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agrícola ajustado à tesouraria, descoberto autorizado e financiamento contra ordem de compra, com recurso à linha FINOVA sempre que elegível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2670048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disponível quando os custos precedem as vendas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85800" y="3255264"/>
            <a:ext cx="10820095" cy="621792"/>
          </a:xfrm>
          <a:prstGeom prst="rect">
            <a:avLst/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291840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Equipamento e activos de eficiência climática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4114800" y="3291840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comercial de activos, financiamento verde e apoio à rega solar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91840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Maior produtividade e maior resiliência ao choque climático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85800" y="3877056"/>
            <a:ext cx="108200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3913632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Comércio, importação e exportação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4114800" y="3913632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ao comércio internacional, câmbio, contas multimoeda e transferências internacionais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8595360" y="3913632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Liquidação de fluxos transfronteiriços com previsibilidade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4498848"/>
            <a:ext cx="10820095" cy="621792"/>
          </a:xfrm>
          <a:prstGeom prst="rect">
            <a:avLst/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68680" y="4535424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Cobranças e pagamentos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14800" y="4535424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Access, banca electrónica, aceitação móvel e banca de agente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595360" y="4535424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Menor circulação de numerário e reconciliação mais célere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5800" y="5120640"/>
            <a:ext cx="10820095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68680" y="5157216"/>
            <a:ext cx="2916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Risco, aconselhamento e crescimento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4114800" y="5157216"/>
            <a:ext cx="4151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 empresarial, especialistas sectoriais, garantias de parceiros e programas de acompanhamento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8595360" y="5157216"/>
            <a:ext cx="2761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Protecção da margem e melhor decisão no ciclo seguinte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encontram-se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7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212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32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4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MODELO DE RISCO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772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Ampliar o acesso ao crédito sem afrouxar o critério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Quatro movimentos que deslocam a decisão de crédito da garantia real para a capacidade de gerar tesouraria.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05088" y="402336"/>
            <a:ext cx="2798064" cy="1572768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Ancorar a procura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Utilizar os contratos de compra das empresas âncora como prova documental de acesso ao mercado.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459404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97148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97148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697148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Ajustar ao fluxo de caixa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3697148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Estruturar o reembolso em função do ciclo da cultura e do calendário previsto de venda.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33008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70752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70752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470752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Formalizar o registo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6470752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Converter o historial de cobranças e pagamentos em elementos de avaliação de crédito.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9006611" y="2249424"/>
            <a:ext cx="2499284" cy="2304288"/>
          </a:xfrm>
          <a:prstGeom prst="roundRect">
            <a:avLst>
              <a:gd name="adj" fmla="val 2381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9244355" y="2450592"/>
            <a:ext cx="420624" cy="420624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244355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244355" y="2999232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Mitigar o risco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9244355" y="3566160"/>
            <a:ext cx="20237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Conjugar seguro agrícola, a garantia norte-americana e o acompanhamento de parceiros técnicos.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5800" y="5102352"/>
            <a:ext cx="10820095" cy="768096"/>
          </a:xfrm>
          <a:prstGeom prst="roundRect">
            <a:avLst>
              <a:gd name="adj" fmla="val 7143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14984" y="5102352"/>
            <a:ext cx="1016172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resultado é um acesso mais transparente ao financiamento, sustentado por registos empresariais mais sólidos e por protecções efectivas contra os choques próprios da agricultura.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1892808" y="6291072"/>
            <a:ext cx="8808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encontram-se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52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94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C00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5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5165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786384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PASSO SEGUINTE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33856"/>
            <a:ext cx="62179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Financiemos, em conjunto,</a:t>
            </a:r>
            <a:endParaRPr lang="en-US" sz="2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próxima campanha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395728"/>
            <a:ext cx="6035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sessão de trabalho converte o calendário agrícola do cliente num plano de financiamento, pagamentos e protecção de risco.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3017520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3200400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307592" y="3145536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Levantar o plano de campanha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307592" y="3621024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Cultura, insumos, mão de obra, colheita e calendário de compradores.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3913632" y="3017520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096512" y="3200400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96512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535424" y="3145536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Estruturar financiamento e pagamentos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35424" y="3621024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exploração, activos e canais digitais, com FINOVA sempre que elegível.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685800" y="4169664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68680" y="4352544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07592" y="429768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Articular as protecções de risco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307592" y="477316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Seguro, garantias, parceiros de acompanhamento e aconselhamento técnico.</a:t>
            </a:r>
            <a:endParaRPr lang="en-US" sz="920" dirty="0"/>
          </a:p>
        </p:txBody>
      </p:sp>
      <p:sp>
        <p:nvSpPr>
          <p:cNvPr id="22" name="Shape 19"/>
          <p:cNvSpPr/>
          <p:nvPr/>
        </p:nvSpPr>
        <p:spPr>
          <a:xfrm>
            <a:off x="3913632" y="4169664"/>
            <a:ext cx="2990088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096512" y="4352544"/>
            <a:ext cx="365760" cy="365760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96512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35424" y="4297680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Avaliar, reinvestir e crescer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535424" y="477316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Desempenho após a colheita e planeamento do ciclo seguinte.</a:t>
            </a:r>
            <a:endParaRPr lang="en-US" sz="92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37667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Bank Moçambique, S.A.  ·  Banca de Negócios e Banca Corporativa e de Investimento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577900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1F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Linha de cliente 1443  ·  +258 21 344 400  ·  linhacliente@absa.africa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6071616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B9C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Sujeito a aprovação de crédito e às condições contratuais aplicáveis.</a:t>
            </a:r>
            <a:endParaRPr lang="en-US" sz="900" dirty="0"/>
          </a:p>
        </p:txBody>
      </p:sp>
      <p:pic>
        <p:nvPicPr>
          <p:cNvPr id="30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111" y="5998464"/>
            <a:ext cx="1700784" cy="493776"/>
          </a:xfrm>
          <a:prstGeom prst="rect">
            <a:avLst/>
          </a:prstGeom>
        </p:spPr>
      </p:pic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4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4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02336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METODOLOGIA E ADVERTÊNCIAS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 consultadas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totalidade dos dados relativos a empresas e a mercado provém de fontes públicas, consultadas em 2026.</a:t>
            </a:r>
            <a:endParaRPr lang="en-US" sz="130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72784"/>
            <a:ext cx="1024128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459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49424"/>
            <a:ext cx="3362858" cy="2615184"/>
          </a:xfrm>
          <a:prstGeom prst="roundRect">
            <a:avLst>
              <a:gd name="adj" fmla="val 209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41832" y="2432304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 oficiais e estatísticas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889504"/>
            <a:ext cx="285079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Banco de Moçambique: crédito por finalidade, Relatório de Inclusão Financeira de 2025 e projecto FINOVA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Nacional de Estatística e Ministério da Agricultura, Ambiente e Pescas: Inquérito Agrário Integrado de 2023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do Algodão e Oleaginosas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de Cereais de Moçambique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IGEPE e Autoridade Reguladora da Concorrência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14418" y="2249424"/>
            <a:ext cx="3362858" cy="2615184"/>
          </a:xfrm>
          <a:prstGeom prst="roundRect">
            <a:avLst>
              <a:gd name="adj" fmla="val 209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70450" y="2432304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Investigação e cooperação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670450" y="2889504"/>
            <a:ext cx="285079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UNU-WIDER e Inclusive Growth in Mozambique: Desenvolvimento Agrário em Moçambique, 2025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Observatório do Meio Rural: Crédito Interno ao Sector Agrário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International Growth Centre e Ministério da Economia e Finanças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Banco Mundial: The Plantation Forestry Sector in Mozambique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U.S. International Development Finance Corporation, USAID e Feed the Future Inova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143037" y="2249424"/>
            <a:ext cx="3362858" cy="2615184"/>
          </a:xfrm>
          <a:prstGeom prst="roundRect">
            <a:avLst>
              <a:gd name="adj" fmla="val 2098"/>
            </a:avLst>
          </a:prstGeom>
          <a:solidFill>
            <a:srgbClr val="F4F1F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399069" y="2432304"/>
            <a:ext cx="28507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Absa, imprensa e empresas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399069" y="2889504"/>
            <a:ext cx="285079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Group Limited, resultados de 2025 · Absa Corporate and Investment Banking · Absa AgriTrends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Agência de Informação de Moçambique · Club of Mozambique · Diário Económico · Integrity Magazine · Sugaronline · Rádio Moçambique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Sítios institucionais das empresas citadas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85800" y="5047488"/>
            <a:ext cx="10820095" cy="859536"/>
          </a:xfrm>
          <a:prstGeom prst="roundRect">
            <a:avLst>
              <a:gd name="adj" fmla="val 6383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78408" y="5047488"/>
            <a:ext cx="10234879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40" b="1" dirty="0">
                <a:solidFill>
                  <a:srgbClr val="FF8FA3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Advertência: </a:t>
            </a:r>
            <a:pPr indent="0" marL="0">
              <a:lnSpc>
                <a:spcPct val="118000"/>
              </a:lnSpc>
              <a:buNone/>
            </a:pPr>
            <a:r>
              <a:rPr lang="en-US" sz="940" dirty="0">
                <a:solidFill>
                  <a:srgbClr val="E4DEDE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dimensões e volumes indicados reportam-se ao exercício mais recente publicado por cada fonte e podem divergir do desempenho corrente. As facilidades de crédito encontram-se sujeitas a elegibilidade, avaliação de crédito, documentação e requisitos regulamentares. O presente material destina-se a orientação comercial e não constitui aconselhamento de investimento nem recomendação relativa a qualquer das contrapartes identificadas.</a:t>
            </a:r>
            <a:endParaRPr lang="en-US" sz="940" dirty="0"/>
          </a:p>
        </p:txBody>
      </p:sp>
    </p:spTree>
  </p:cSld>
  <p:clrMapOvr>
    <a:masterClrMapping/>
  </p:clrMapOvr>
  <p:transition spd="slow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4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4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Absa Bank Moçambique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de Valor para o Agronegócio · Moçambique 2026</dc:title>
  <dc:subject>PptxGenJS Presentation</dc:subject>
  <dc:creator>Absa Bank Moçambique</dc:creator>
  <cp:lastModifiedBy>Absa Bank Moçambique</cp:lastModifiedBy>
  <cp:revision>1</cp:revision>
  <dcterms:created xsi:type="dcterms:W3CDTF">2026-09-08T06:44:29Z</dcterms:created>
  <dcterms:modified xsi:type="dcterms:W3CDTF">2026-09-08T06:44:29Z</dcterms:modified>
</cp:coreProperties>
</file>