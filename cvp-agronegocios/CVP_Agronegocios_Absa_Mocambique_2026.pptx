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Documento institucional. Destina-se a apresentação a clientes empresariais, parceiros de desenvolvimento e interlocutores internacionais. Todos os dados citados provêm de fontes públicas identificadas no slide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Separador da pergunta 1 de 7 do guião da proposta de valor: "Como está estruturado o sector agrícola em Moçambique?"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Separador da pergunta 2 de 7 do guião da proposta de valor: "Quais os principais desafios e oportunidades enfrentados pelos clientes?"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instituição mais exposta ao sector declara 12% da carteira; um caso excepcional atinge 25%. A média situa-se, contudo, entre 2% e 6%.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Separador da pergunta 3 de 7 do guião da proposta de valor: "Quais são os segmentos e cadeias de valor mais relevantes?"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Xinavane previa moer 1.434.389 toneladas de cana na campanha de 2024/25; Mafambisse processou 346.643 toneladas. A Maragra produzia cerca de 80.000 toneladas a partir de mais de 460.000 toneladas de cana antes da suspensão.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capacidade instalada de descaroçamento no país ascende a 250.000 toneladas por ano, muito acima das cerca de 50.000 toneladas efectivamente produzidas. Existe, portanto, folga industrial e apetite por volume adicional.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Nos primeiros nove meses de 2025 o país produziu 99,2 mil toneladas de frango e 23,2 milhões de dúzias de ovos. A ração constitui o custo dominante e é largamente importada, o que explica o peso do crédito documentário e do câmbio nesta fileira.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insolvência da Matanuska em 2018, com 1.550 hectares perdidos para o fungo Fusarium, é o precedente a invocar quando o cliente resiste ao custo do seguro e do acompanhamento fitossanitário.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Wanbao o rendimento por hectare subiu de 1 a 2 toneladas para 5 a 7 toneladas. As 353 famílias integradas por contrato constituem o modelo replicável de crédito ao terceiro segmento ancorado numa empresa.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primeira fase do projecto da Portucel prevê um investimento até 260 milhões de dólares, 40.000 hectares plantados e uma unidade de estilha com capacidade para um milhão de toneladas por 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Separador da pergunta 4 de 7 do guião da proposta de valor: "Que perfis de clientes queremos priorizar?"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Separador da pergunta 5 de 7 do guião da proposta de valor: "Quais são as necessidades financeiras e não financeiras destes clientes?"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Separador da pergunta 6 de 7 do guião da proposta de valor: "Como o Absa pode criar valor e diferenciar-se neste sector?"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Separador da pergunta 7 de 7 do guião da proposta de valor: "Que produtos, soluções e parcerias devemos promover?"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e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e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e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e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e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C00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omo/176296df-944e-550c-879f-516f4be80ca0/scratchpad/unpacked/ppt/media/image2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0"/>
            <a:ext cx="652241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309360" cy="6858000"/>
          </a:xfrm>
          <a:prstGeom prst="rect">
            <a:avLst/>
          </a:prstGeom>
          <a:solidFill>
            <a:srgbClr val="DC0037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1" descr="/tmp/claude-0/-home-user-momo/176296df-944e-550c-879f-516f4be80ca0/scratchpad/unpacked/ppt/media/image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03504"/>
            <a:ext cx="1700784" cy="49377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197510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FFF1F3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PROPOSTA DE VALOR PARA O CLIENTE  ·  2026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2359152"/>
            <a:ext cx="521208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O Agronegócio</a:t>
            </a:r>
            <a:endParaRPr lang="en-US" sz="4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em Moçambique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4078224"/>
            <a:ext cx="5029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FFF1F3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Uma proposta integrada de financiamento, pagamentos, protecção de risco e acesso ao mercado, concebida em função do calendário agrícola e das trinta e quatro empresas que estruturam o sector.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5504688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F3B9C4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Absa Bank Moçambique, S.A.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F3B9C4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Banca de Negócios  ·  Banca Corporativa e de Investimento</a:t>
            </a:r>
            <a:endParaRPr lang="en-US" sz="1050" dirty="0"/>
          </a:p>
        </p:txBody>
      </p:sp>
    </p:spTree>
  </p:cSld>
  <p:clrMapOvr>
    <a:masterClrMapping/>
  </p:clrMapOvr>
  <p:transition spd="slow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3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420" fill="hold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02336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NOTA PRELIMINAR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94944"/>
            <a:ext cx="1082009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Como ler este documento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64208"/>
            <a:ext cx="108200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Dirige-se igualmente a quem conhece o sector agrícola moçambicano e a quem hoje o encontra pela primeira vez.</a:t>
            </a:r>
            <a:endParaRPr lang="en-US" sz="1300" dirty="0"/>
          </a:p>
        </p:txBody>
      </p:sp>
      <p:pic>
        <p:nvPicPr>
          <p:cNvPr id="5" name="Image 0" descr="/tmp/claude-0/-home-user-momo/176296df-944e-550c-879f-516f4be80ca0/scratchpad/unpacked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272784"/>
            <a:ext cx="1024128" cy="3017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57255" y="634593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94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85800" y="2249424"/>
            <a:ext cx="3387242" cy="1975104"/>
          </a:xfrm>
          <a:prstGeom prst="roundRect">
            <a:avLst>
              <a:gd name="adj" fmla="val 2778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941832" y="2432304"/>
            <a:ext cx="28751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O que é uma Proposta de Valor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941832" y="2871216"/>
            <a:ext cx="287517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Em banca, uma Proposta de Valor para o Cliente, ou CVP, do inglês Customer Value Proposition, é o documento que estabelece o que a instituição oferece a um segmento, por que razão essa oferta é pertinente e em que se distingue da concorrência.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4402226" y="2249424"/>
            <a:ext cx="3387242" cy="1975104"/>
          </a:xfrm>
          <a:prstGeom prst="roundRect">
            <a:avLst>
              <a:gd name="adj" fmla="val 2778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658258" y="2432304"/>
            <a:ext cx="28751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 quem se dirige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4658258" y="2871216"/>
            <a:ext cx="287517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 três destinatários: às equipas comerciais do Banco, que dele se servem em reunião; aos clientes empresariais do sector agrícola; e a parceiros institucionais e internacionais que avaliem a actuação do Banco neste domínio.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8118653" y="2249424"/>
            <a:ext cx="3387242" cy="1975104"/>
          </a:xfrm>
          <a:prstGeom prst="roundRect">
            <a:avLst>
              <a:gd name="adj" fmla="val 2778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374685" y="2432304"/>
            <a:ext cx="28751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Como está organizado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8374685" y="2871216"/>
            <a:ext cx="287517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 primeira parte estabelece o contexto do país e do sector. A segunda apresenta, empresa a empresa, as trinta e quatro contrapartes que estruturam o agronegócio nacional. A terceira descreve a oferta do Banco e o modo de a accionar.</a:t>
            </a:r>
            <a:endParaRPr lang="en-US" sz="980" dirty="0"/>
          </a:p>
        </p:txBody>
      </p:sp>
      <p:sp>
        <p:nvSpPr>
          <p:cNvPr id="16" name="Shape 13"/>
          <p:cNvSpPr/>
          <p:nvPr/>
        </p:nvSpPr>
        <p:spPr>
          <a:xfrm>
            <a:off x="685800" y="4370832"/>
            <a:ext cx="10820095" cy="1536192"/>
          </a:xfrm>
          <a:prstGeom prst="roundRect">
            <a:avLst>
              <a:gd name="adj" fmla="val 3571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978408" y="44988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Glossário essencial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978408" y="4828032"/>
            <a:ext cx="32287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Capital de exploração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978408" y="5029200"/>
            <a:ext cx="32287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Financiamento do custo da campanha (semente, adubo, mão de obra) até à venda da colheita.</a:t>
            </a:r>
            <a:endParaRPr lang="en-US" sz="880" dirty="0"/>
          </a:p>
        </p:txBody>
      </p:sp>
      <p:sp>
        <p:nvSpPr>
          <p:cNvPr id="20" name="Text 17"/>
          <p:cNvSpPr txBox="1"/>
          <p:nvPr/>
        </p:nvSpPr>
        <p:spPr>
          <a:xfrm>
            <a:off x="4481474" y="4828032"/>
            <a:ext cx="32287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Produtor integrado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481474" y="5029200"/>
            <a:ext cx="32287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Agricultor que produz ao abrigo de contrato celebrado com uma empresa compradora.</a:t>
            </a:r>
            <a:endParaRPr lang="en-US" sz="880" dirty="0"/>
          </a:p>
        </p:txBody>
      </p:sp>
      <p:sp>
        <p:nvSpPr>
          <p:cNvPr id="22" name="Text 19"/>
          <p:cNvSpPr txBox="1"/>
          <p:nvPr/>
        </p:nvSpPr>
        <p:spPr>
          <a:xfrm>
            <a:off x="7984541" y="4828032"/>
            <a:ext cx="32287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Financiamento de activos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7984541" y="5029200"/>
            <a:ext cx="32287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Crédito para aquisição de equipamento: tractores, sistemas de rega, câmaras de frio.</a:t>
            </a:r>
            <a:endParaRPr lang="en-US" sz="880" dirty="0"/>
          </a:p>
        </p:txBody>
      </p:sp>
      <p:sp>
        <p:nvSpPr>
          <p:cNvPr id="24" name="Text 21"/>
          <p:cNvSpPr txBox="1"/>
          <p:nvPr/>
        </p:nvSpPr>
        <p:spPr>
          <a:xfrm>
            <a:off x="978408" y="5340096"/>
            <a:ext cx="32287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Financiamento ao comércio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978408" y="5541264"/>
            <a:ext cx="32287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Instrumentos que permitem importar e exportar com segurança de pagamento entre as partes.</a:t>
            </a:r>
            <a:endParaRPr lang="en-US" sz="880" dirty="0"/>
          </a:p>
        </p:txBody>
      </p:sp>
      <p:sp>
        <p:nvSpPr>
          <p:cNvPr id="26" name="Text 23"/>
          <p:cNvSpPr txBox="1"/>
          <p:nvPr/>
        </p:nvSpPr>
        <p:spPr>
          <a:xfrm>
            <a:off x="4481474" y="5340096"/>
            <a:ext cx="32287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Crédito sobre mercadoria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4481474" y="5541264"/>
            <a:ext cx="32287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Crédito garantido por produto armazenado, libertado à medida que a mercadoria é vendida.</a:t>
            </a:r>
            <a:endParaRPr lang="en-US" sz="880" dirty="0"/>
          </a:p>
        </p:txBody>
      </p:sp>
      <p:sp>
        <p:nvSpPr>
          <p:cNvPr id="28" name="Text 25"/>
          <p:cNvSpPr txBox="1"/>
          <p:nvPr/>
        </p:nvSpPr>
        <p:spPr>
          <a:xfrm>
            <a:off x="7984541" y="5340096"/>
            <a:ext cx="32287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Fileira, ou cadeia de valor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7984541" y="5541264"/>
            <a:ext cx="32287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O percurso completo de um produto, do insumo agrícola ao consumidor final.</a:t>
            </a:r>
            <a:endParaRPr lang="en-US" sz="880" dirty="0"/>
          </a:p>
        </p:txBody>
      </p:sp>
    </p:spTree>
  </p:cSld>
  <p:clrMapOvr>
    <a:masterClrMapping/>
  </p:clrMapOvr>
  <p:transition spd="slow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2" presetClass="entr" presetSubtype="0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4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C00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omo/176296df-944e-550c-879f-516f4be80ca0/scratchpad/unpacked/ppt/media/image6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0"/>
            <a:ext cx="615665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675120" cy="6858000"/>
          </a:xfrm>
          <a:prstGeom prst="rect">
            <a:avLst/>
          </a:prstGeom>
          <a:solidFill>
            <a:srgbClr val="DC00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" y="54864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14984" y="548640"/>
            <a:ext cx="182880" cy="182880"/>
          </a:xfrm>
          <a:prstGeom prst="ellipse">
            <a:avLst/>
          </a:prstGeom>
          <a:solidFill>
            <a:srgbClr val="9E1B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344168" y="548640"/>
            <a:ext cx="182880" cy="182880"/>
          </a:xfrm>
          <a:prstGeom prst="ellipse">
            <a:avLst/>
          </a:prstGeom>
          <a:solidFill>
            <a:srgbClr val="9E1B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673352" y="548640"/>
            <a:ext cx="182880" cy="182880"/>
          </a:xfrm>
          <a:prstGeom prst="ellipse">
            <a:avLst/>
          </a:prstGeom>
          <a:solidFill>
            <a:srgbClr val="9E1B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002536" y="548640"/>
            <a:ext cx="182880" cy="182880"/>
          </a:xfrm>
          <a:prstGeom prst="ellipse">
            <a:avLst/>
          </a:prstGeom>
          <a:solidFill>
            <a:srgbClr val="9E1B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331720" y="548640"/>
            <a:ext cx="182880" cy="182880"/>
          </a:xfrm>
          <a:prstGeom prst="ellipse">
            <a:avLst/>
          </a:prstGeom>
          <a:solidFill>
            <a:srgbClr val="9E1B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660904" y="548640"/>
            <a:ext cx="182880" cy="182880"/>
          </a:xfrm>
          <a:prstGeom prst="ellipse">
            <a:avLst/>
          </a:prstGeom>
          <a:solidFill>
            <a:srgbClr val="9E1B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96926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FFF1F3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PERGUNTA 1 DE 7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1316736"/>
            <a:ext cx="5760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Como está estruturado o sector agrícola em Moçambique?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3310128"/>
            <a:ext cx="5394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FFF1F3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Um sector que sustenta 75,4% da força de trabalho, organizado em três segmentos de dimensão muito distinta.</a:t>
            </a:r>
            <a:endParaRPr lang="en-US" sz="1300" dirty="0"/>
          </a:p>
        </p:txBody>
      </p:sp>
      <p:pic>
        <p:nvPicPr>
          <p:cNvPr id="14" name="Image 1" descr="/tmp/claude-0/-home-user-momo/176296df-944e-550c-879f-516f4be80ca0/scratchpad/unpacked/ppt/media/image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5111" y="6035040"/>
            <a:ext cx="1700784" cy="493776"/>
          </a:xfrm>
          <a:prstGeom prst="rect">
            <a:avLst/>
          </a:prstGeom>
        </p:spPr>
      </p:pic>
    </p:spTree>
  </p:cSld>
  <p:clrMapOvr>
    <a:masterClrMapping/>
  </p:clrMapOvr>
  <p:transition spd="slow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023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CONTEXTO DO PAÍS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94944"/>
            <a:ext cx="7772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Moçambique num relance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6420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País costeiro da África Austral, com cerca de 2.700 quilómetros de litoral e três corredores logísticos que servem o interior do continente.</a:t>
            </a:r>
            <a:endParaRPr lang="en-US" sz="1300" dirty="0"/>
          </a:p>
        </p:txBody>
      </p:sp>
      <p:pic>
        <p:nvPicPr>
          <p:cNvPr id="5" name="Image 0" descr="/tmp/claude-0/-home-user-momo/176296df-944e-550c-879f-516f4be80ca0/scratchpad/unpacked/ppt/media/image1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705088" y="402336"/>
            <a:ext cx="2798064" cy="1572768"/>
          </a:xfrm>
          <a:prstGeom prst="rect">
            <a:avLst/>
          </a:prstGeom>
        </p:spPr>
      </p:pic>
      <p:pic>
        <p:nvPicPr>
          <p:cNvPr id="6" name="Image 1" descr="/tmp/claude-0/-home-user-momo/176296df-944e-550c-879f-516f4be80ca0/scratchpad/unpacked/ppt/media/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272784"/>
            <a:ext cx="1024128" cy="30175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957255" y="634593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94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685800" y="2249424"/>
            <a:ext cx="2499284" cy="1883664"/>
          </a:xfrm>
          <a:prstGeom prst="roundRect">
            <a:avLst>
              <a:gd name="adj" fmla="val 2913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923544" y="2432304"/>
            <a:ext cx="20237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~34 M</a:t>
            </a:r>
            <a:endParaRPr lang="en-US" sz="3400" dirty="0"/>
          </a:p>
        </p:txBody>
      </p:sp>
      <p:sp>
        <p:nvSpPr>
          <p:cNvPr id="10" name="Text 6"/>
          <p:cNvSpPr txBox="1"/>
          <p:nvPr/>
        </p:nvSpPr>
        <p:spPr>
          <a:xfrm>
            <a:off x="923544" y="3035808"/>
            <a:ext cx="2023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habitantes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923544" y="3438144"/>
            <a:ext cx="20237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População estimada, maioritariamente rural e jovem.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459404" y="2249424"/>
            <a:ext cx="2499284" cy="1883664"/>
          </a:xfrm>
          <a:prstGeom prst="roundRect">
            <a:avLst>
              <a:gd name="adj" fmla="val 2913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3697148" y="2432304"/>
            <a:ext cx="20237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Text 10"/>
          <p:cNvSpPr txBox="1"/>
          <p:nvPr/>
        </p:nvSpPr>
        <p:spPr>
          <a:xfrm>
            <a:off x="3697148" y="3035808"/>
            <a:ext cx="2023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corredores logísticos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3697148" y="3438144"/>
            <a:ext cx="20237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Maputo, Beira e Nacala ligam o interior austral ao oceano Índico.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233008" y="2249424"/>
            <a:ext cx="2499284" cy="1883664"/>
          </a:xfrm>
          <a:prstGeom prst="roundRect">
            <a:avLst>
              <a:gd name="adj" fmla="val 2913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6470752" y="2432304"/>
            <a:ext cx="20237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~23%</a:t>
            </a:r>
            <a:endParaRPr lang="en-US" sz="3400" dirty="0"/>
          </a:p>
        </p:txBody>
      </p:sp>
      <p:sp>
        <p:nvSpPr>
          <p:cNvPr id="18" name="Text 14"/>
          <p:cNvSpPr txBox="1"/>
          <p:nvPr/>
        </p:nvSpPr>
        <p:spPr>
          <a:xfrm>
            <a:off x="6470752" y="3035808"/>
            <a:ext cx="2023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do Produto Interno Bruto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6470752" y="3438144"/>
            <a:ext cx="20237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É quanto a agricultura representa na economia nacional.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9006611" y="2249424"/>
            <a:ext cx="2499284" cy="1883664"/>
          </a:xfrm>
          <a:prstGeom prst="roundRect">
            <a:avLst>
              <a:gd name="adj" fmla="val 2913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9244355" y="2432304"/>
            <a:ext cx="20237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75,4%</a:t>
            </a:r>
            <a:endParaRPr lang="en-US" sz="3400" dirty="0"/>
          </a:p>
        </p:txBody>
      </p:sp>
      <p:sp>
        <p:nvSpPr>
          <p:cNvPr id="22" name="Text 18"/>
          <p:cNvSpPr txBox="1"/>
          <p:nvPr/>
        </p:nvSpPr>
        <p:spPr>
          <a:xfrm>
            <a:off x="9244355" y="3035808"/>
            <a:ext cx="2023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da força de trabalho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9244355" y="3438144"/>
            <a:ext cx="20237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Proporção da população activa ocupada na agricultura.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685800" y="4846320"/>
            <a:ext cx="10820095" cy="914400"/>
          </a:xfrm>
          <a:prstGeom prst="roundRect">
            <a:avLst>
              <a:gd name="adj" fmla="val 6000"/>
            </a:avLst>
          </a:prstGeom>
          <a:solidFill>
            <a:srgbClr val="3A3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1014984" y="4846320"/>
            <a:ext cx="1016172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As principais fileiras de exportação, do tabaco e do açúcar ao algodão, à castanha de caju e à banana, distribuem-se por todo o território, do sul agrícola de Maputo ao norte produtivo de Nampula e do Niassa.</a:t>
            </a:r>
            <a:endParaRPr lang="en-US" sz="1350" dirty="0"/>
          </a:p>
        </p:txBody>
      </p:sp>
      <p:sp>
        <p:nvSpPr>
          <p:cNvPr id="26" name="Text 22"/>
          <p:cNvSpPr txBox="1"/>
          <p:nvPr/>
        </p:nvSpPr>
        <p:spPr>
          <a:xfrm>
            <a:off x="1892808" y="6291072"/>
            <a:ext cx="8808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494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Fontes: Instituto Nacional de Estatística · Banco de Moçambique · Ministério da Agricultura, Ambiente e Pescas.</a:t>
            </a:r>
            <a:endParaRPr lang="en-US" sz="850" dirty="0"/>
          </a:p>
        </p:txBody>
      </p:sp>
    </p:spTree>
  </p:cSld>
  <p:clrMapOvr>
    <a:masterClrMapping/>
  </p:clrMapOvr>
  <p:transition spd="slow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3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420" fill="hold"/>
                                        <p:tgtEl>
                                          <p:spTgt spid="9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46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3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7" dur="420" fill="hold"/>
                                        <p:tgtEl>
                                          <p:spTgt spid="1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70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3" presetClass="entr" presetSubtype="0" fill="hold" grpId="0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1" dur="420" fill="hold"/>
                                        <p:tgtEl>
                                          <p:spTgt spid="1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4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3" presetClass="entr" presetSubtype="0" fill="hold" grpId="0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5" dur="420" fill="hold"/>
                                        <p:tgtEl>
                                          <p:spTgt spid="21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18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46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172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46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192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46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02336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INQUÉRITO AGRÁRIO INTEGRADO DE 2023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94944"/>
            <a:ext cx="1082009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 composição real do sector agrário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64208"/>
            <a:ext cx="108200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Três segmentos de dimensão muito distinta, que requerem três propostas de valor diferenciadas, servidas por uma única relação bancária.</a:t>
            </a:r>
            <a:endParaRPr lang="en-US" sz="1300" dirty="0"/>
          </a:p>
        </p:txBody>
      </p:sp>
      <p:pic>
        <p:nvPicPr>
          <p:cNvPr id="5" name="Image 0" descr="/tmp/claude-0/-home-user-momo/176296df-944e-550c-879f-516f4be80ca0/scratchpad/unpacked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272784"/>
            <a:ext cx="1024128" cy="3017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57255" y="634593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94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85800" y="2249424"/>
            <a:ext cx="3362858" cy="2798064"/>
          </a:xfrm>
          <a:prstGeom prst="roundRect">
            <a:avLst>
              <a:gd name="adj" fmla="val 1961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41832" y="2414016"/>
            <a:ext cx="1225296" cy="237744"/>
          </a:xfrm>
          <a:prstGeom prst="roundRect">
            <a:avLst>
              <a:gd name="adj" fmla="val 50000"/>
            </a:avLst>
          </a:prstGeom>
          <a:solidFill>
            <a:srgbClr val="3A3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41832" y="2414016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SEGMENTO 3</a:t>
            </a:r>
            <a:endParaRPr lang="en-US" sz="740" dirty="0"/>
          </a:p>
        </p:txBody>
      </p:sp>
      <p:sp>
        <p:nvSpPr>
          <p:cNvPr id="10" name="Text 7"/>
          <p:cNvSpPr txBox="1"/>
          <p:nvPr/>
        </p:nvSpPr>
        <p:spPr>
          <a:xfrm>
            <a:off x="941832" y="2761488"/>
            <a:ext cx="28507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4.383.460</a:t>
            </a:r>
            <a:endParaRPr lang="en-US" sz="2900" dirty="0"/>
          </a:p>
        </p:txBody>
      </p:sp>
      <p:sp>
        <p:nvSpPr>
          <p:cNvPr id="11" name="Text 8"/>
          <p:cNvSpPr txBox="1"/>
          <p:nvPr/>
        </p:nvSpPr>
        <p:spPr>
          <a:xfrm>
            <a:off x="941832" y="3328416"/>
            <a:ext cx="28507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explorações de pequena dimensão · 98,3%</a:t>
            </a:r>
            <a:endParaRPr lang="en-US" sz="1080" dirty="0"/>
          </a:p>
        </p:txBody>
      </p:sp>
      <p:sp>
        <p:nvSpPr>
          <p:cNvPr id="12" name="Text 9"/>
          <p:cNvSpPr txBox="1"/>
          <p:nvPr/>
        </p:nvSpPr>
        <p:spPr>
          <a:xfrm>
            <a:off x="941832" y="3712464"/>
            <a:ext cx="285079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Alcançadas de forma indirecta, através das cadeias das empresas âncora e da rede nacional de revendedores de insumos.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941832" y="4425696"/>
            <a:ext cx="285079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96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Conta bancária · pagamentos digitais · crédito de insumos ao abrigo de contrato</a:t>
            </a:r>
            <a:endParaRPr lang="en-US" sz="960" dirty="0"/>
          </a:p>
        </p:txBody>
      </p:sp>
      <p:sp>
        <p:nvSpPr>
          <p:cNvPr id="14" name="Shape 11"/>
          <p:cNvSpPr/>
          <p:nvPr/>
        </p:nvSpPr>
        <p:spPr>
          <a:xfrm>
            <a:off x="4414418" y="2249424"/>
            <a:ext cx="3362858" cy="2798064"/>
          </a:xfrm>
          <a:prstGeom prst="roundRect">
            <a:avLst>
              <a:gd name="adj" fmla="val 1961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70450" y="2414016"/>
            <a:ext cx="1225296" cy="237744"/>
          </a:xfrm>
          <a:prstGeom prst="roundRect">
            <a:avLst>
              <a:gd name="adj" fmla="val 50000"/>
            </a:avLst>
          </a:prstGeom>
          <a:solidFill>
            <a:srgbClr val="3A3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670450" y="2414016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SEGMENTO 2</a:t>
            </a:r>
            <a:endParaRPr lang="en-US" sz="740" dirty="0"/>
          </a:p>
        </p:txBody>
      </p:sp>
      <p:sp>
        <p:nvSpPr>
          <p:cNvPr id="17" name="Text 14"/>
          <p:cNvSpPr txBox="1"/>
          <p:nvPr/>
        </p:nvSpPr>
        <p:spPr>
          <a:xfrm>
            <a:off x="4670450" y="2761488"/>
            <a:ext cx="28507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74.706</a:t>
            </a:r>
            <a:endParaRPr lang="en-US" sz="2900" dirty="0"/>
          </a:p>
        </p:txBody>
      </p:sp>
      <p:sp>
        <p:nvSpPr>
          <p:cNvPr id="18" name="Text 15"/>
          <p:cNvSpPr txBox="1"/>
          <p:nvPr/>
        </p:nvSpPr>
        <p:spPr>
          <a:xfrm>
            <a:off x="4670450" y="3328416"/>
            <a:ext cx="28507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explorações de dimensão média · 1,6%</a:t>
            </a:r>
            <a:endParaRPr lang="en-US" sz="1080" dirty="0"/>
          </a:p>
        </p:txBody>
      </p:sp>
      <p:sp>
        <p:nvSpPr>
          <p:cNvPr id="19" name="Text 16"/>
          <p:cNvSpPr txBox="1"/>
          <p:nvPr/>
        </p:nvSpPr>
        <p:spPr>
          <a:xfrm>
            <a:off x="4670450" y="3712464"/>
            <a:ext cx="285079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Constituem a fronteira de crescimento da Banca de Negócios e o segmento com maior potencial por explorar.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4670450" y="4425696"/>
            <a:ext cx="285079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96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Capital de exploração · financiamento de activos · cobranças · seguro agrícola</a:t>
            </a:r>
            <a:endParaRPr lang="en-US" sz="960" dirty="0"/>
          </a:p>
        </p:txBody>
      </p:sp>
      <p:sp>
        <p:nvSpPr>
          <p:cNvPr id="21" name="Shape 18"/>
          <p:cNvSpPr/>
          <p:nvPr/>
        </p:nvSpPr>
        <p:spPr>
          <a:xfrm>
            <a:off x="8143037" y="2249424"/>
            <a:ext cx="3362858" cy="2798064"/>
          </a:xfrm>
          <a:prstGeom prst="roundRect">
            <a:avLst>
              <a:gd name="adj" fmla="val 1961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399069" y="2414016"/>
            <a:ext cx="1225296" cy="237744"/>
          </a:xfrm>
          <a:prstGeom prst="roundRect">
            <a:avLst>
              <a:gd name="adj" fmla="val 50000"/>
            </a:avLst>
          </a:prstGeom>
          <a:solidFill>
            <a:srgbClr val="DC00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399069" y="2414016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SEGMENTO 1</a:t>
            </a:r>
            <a:endParaRPr lang="en-US" sz="740" dirty="0"/>
          </a:p>
        </p:txBody>
      </p:sp>
      <p:sp>
        <p:nvSpPr>
          <p:cNvPr id="24" name="Text 21"/>
          <p:cNvSpPr txBox="1"/>
          <p:nvPr/>
        </p:nvSpPr>
        <p:spPr>
          <a:xfrm>
            <a:off x="8399069" y="2761488"/>
            <a:ext cx="28507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1.131</a:t>
            </a:r>
            <a:endParaRPr lang="en-US" sz="2900" dirty="0"/>
          </a:p>
        </p:txBody>
      </p:sp>
      <p:sp>
        <p:nvSpPr>
          <p:cNvPr id="25" name="Text 22"/>
          <p:cNvSpPr txBox="1"/>
          <p:nvPr/>
        </p:nvSpPr>
        <p:spPr>
          <a:xfrm>
            <a:off x="8399069" y="3328416"/>
            <a:ext cx="28507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8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explorações de grande dimensão · 0,03%</a:t>
            </a:r>
            <a:endParaRPr lang="en-US" sz="1080" dirty="0"/>
          </a:p>
        </p:txBody>
      </p:sp>
      <p:sp>
        <p:nvSpPr>
          <p:cNvPr id="26" name="Text 23"/>
          <p:cNvSpPr txBox="1"/>
          <p:nvPr/>
        </p:nvSpPr>
        <p:spPr>
          <a:xfrm>
            <a:off x="8399069" y="3712464"/>
            <a:ext cx="285079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Em conjunto com as trinta e quatro empresas âncora, concentram a maior parte do fluxo exportador do país.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399069" y="4425696"/>
            <a:ext cx="285079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96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Financiamento estruturado · comércio internacional · câmbio · tesouraria</a:t>
            </a:r>
            <a:endParaRPr lang="en-US" sz="960" dirty="0"/>
          </a:p>
        </p:txBody>
      </p:sp>
      <p:sp>
        <p:nvSpPr>
          <p:cNvPr id="28" name="Shape 25"/>
          <p:cNvSpPr/>
          <p:nvPr/>
        </p:nvSpPr>
        <p:spPr>
          <a:xfrm>
            <a:off x="685800" y="5248656"/>
            <a:ext cx="10820095" cy="548640"/>
          </a:xfrm>
          <a:prstGeom prst="roundRect">
            <a:avLst>
              <a:gd name="adj" fmla="val 10000"/>
            </a:avLst>
          </a:prstGeom>
          <a:solidFill>
            <a:srgbClr val="3A3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014984" y="5248656"/>
            <a:ext cx="101617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As 74.706 explorações de dimensão média constituem a fronteira de crescimento, e é a empresa âncora que as torna financiáveis.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1892808" y="6291072"/>
            <a:ext cx="8808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494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Fonte: Inquérito Agrário Integrado de 2023, do Instituto Nacional de Estatística e do Ministério da Agricultura, Ambiente e Pescas.</a:t>
            </a:r>
            <a:endParaRPr lang="en-US" sz="850" dirty="0"/>
          </a:p>
        </p:txBody>
      </p:sp>
    </p:spTree>
  </p:cSld>
  <p:clrMapOvr>
    <a:masterClrMapping/>
  </p:clrMapOvr>
  <p:transition spd="slow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3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9" dur="420" fill="hold"/>
                                        <p:tgtEl>
                                          <p:spTgt spid="10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52" presetID="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3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1" dur="420" fill="hold"/>
                                        <p:tgtEl>
                                          <p:spTgt spid="1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4" presetID="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3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" dur="420" fill="hold"/>
                                        <p:tgtEl>
                                          <p:spTgt spid="2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6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2" presetClass="entr" presetSubtype="0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46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46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46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C00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omo/176296df-944e-550c-879f-516f4be80ca0/scratchpad/unpacked/ppt/media/image1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0"/>
            <a:ext cx="615665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675120" cy="6858000"/>
          </a:xfrm>
          <a:prstGeom prst="rect">
            <a:avLst/>
          </a:prstGeom>
          <a:solidFill>
            <a:srgbClr val="DC00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" y="54864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14984" y="54864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344168" y="548640"/>
            <a:ext cx="182880" cy="182880"/>
          </a:xfrm>
          <a:prstGeom prst="ellipse">
            <a:avLst/>
          </a:prstGeom>
          <a:solidFill>
            <a:srgbClr val="9E1B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673352" y="548640"/>
            <a:ext cx="182880" cy="182880"/>
          </a:xfrm>
          <a:prstGeom prst="ellipse">
            <a:avLst/>
          </a:prstGeom>
          <a:solidFill>
            <a:srgbClr val="9E1B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002536" y="548640"/>
            <a:ext cx="182880" cy="182880"/>
          </a:xfrm>
          <a:prstGeom prst="ellipse">
            <a:avLst/>
          </a:prstGeom>
          <a:solidFill>
            <a:srgbClr val="9E1B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331720" y="548640"/>
            <a:ext cx="182880" cy="182880"/>
          </a:xfrm>
          <a:prstGeom prst="ellipse">
            <a:avLst/>
          </a:prstGeom>
          <a:solidFill>
            <a:srgbClr val="9E1B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660904" y="548640"/>
            <a:ext cx="182880" cy="182880"/>
          </a:xfrm>
          <a:prstGeom prst="ellipse">
            <a:avLst/>
          </a:prstGeom>
          <a:solidFill>
            <a:srgbClr val="9E1B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96926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FFF1F3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PERGUNTA 2 DE 7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1316736"/>
            <a:ext cx="5760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Quais os principais desafios e oportunidades enfrentados pelos clientes?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3310128"/>
            <a:ext cx="5394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FFF1F3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Seis fricções recorrentes, e a distância entre o peso económico do sector e o seu peso na carteira de crédito.</a:t>
            </a:r>
            <a:endParaRPr lang="en-US" sz="1300" dirty="0"/>
          </a:p>
        </p:txBody>
      </p:sp>
      <p:pic>
        <p:nvPicPr>
          <p:cNvPr id="14" name="Image 1" descr="/tmp/claude-0/-home-user-momo/176296df-944e-550c-879f-516f4be80ca0/scratchpad/unpacked/ppt/media/image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5111" y="6035040"/>
            <a:ext cx="1700784" cy="493776"/>
          </a:xfrm>
          <a:prstGeom prst="rect">
            <a:avLst/>
          </a:prstGeom>
        </p:spPr>
      </p:pic>
    </p:spTree>
  </p:cSld>
  <p:clrMapOvr>
    <a:masterClrMapping/>
  </p:clrMapOvr>
  <p:transition spd="slow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023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FUNDAMENTO COMERCIAL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94944"/>
            <a:ext cx="7772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O desequilíbrio que define a oportunidade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6420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O sector não carece de procura de financiamento. Carece de estruturas de crédito compatíveis com o modo como a agricultura gera receita.</a:t>
            </a:r>
            <a:endParaRPr lang="en-US" sz="1300" dirty="0"/>
          </a:p>
        </p:txBody>
      </p:sp>
      <p:pic>
        <p:nvPicPr>
          <p:cNvPr id="5" name="Image 0" descr="/tmp/claude-0/-home-user-momo/176296df-944e-550c-879f-516f4be80ca0/scratchpad/unpacked/ppt/media/image4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705088" y="402336"/>
            <a:ext cx="2798064" cy="1572768"/>
          </a:xfrm>
          <a:prstGeom prst="rect">
            <a:avLst/>
          </a:prstGeom>
        </p:spPr>
      </p:pic>
      <p:pic>
        <p:nvPicPr>
          <p:cNvPr id="6" name="Image 1" descr="/tmp/claude-0/-home-user-momo/176296df-944e-550c-879f-516f4be80ca0/scratchpad/unpacked/ppt/media/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272784"/>
            <a:ext cx="1024128" cy="30175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957255" y="634593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94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7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685800" y="2249424"/>
            <a:ext cx="2499284" cy="1883664"/>
          </a:xfrm>
          <a:prstGeom prst="roundRect">
            <a:avLst>
              <a:gd name="adj" fmla="val 2913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923544" y="2432304"/>
            <a:ext cx="20237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~23%</a:t>
            </a:r>
            <a:endParaRPr lang="en-US" sz="3400" dirty="0"/>
          </a:p>
        </p:txBody>
      </p:sp>
      <p:sp>
        <p:nvSpPr>
          <p:cNvPr id="10" name="Text 6"/>
          <p:cNvSpPr txBox="1"/>
          <p:nvPr/>
        </p:nvSpPr>
        <p:spPr>
          <a:xfrm>
            <a:off x="923544" y="3017520"/>
            <a:ext cx="2023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do Produto Interno Bruto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923544" y="3419856"/>
            <a:ext cx="2023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Peso da agricultura na economia nacional.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459404" y="2249424"/>
            <a:ext cx="2499284" cy="1883664"/>
          </a:xfrm>
          <a:prstGeom prst="roundRect">
            <a:avLst>
              <a:gd name="adj" fmla="val 2913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3697148" y="2432304"/>
            <a:ext cx="20237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~70%</a:t>
            </a:r>
            <a:endParaRPr lang="en-US" sz="3400" dirty="0"/>
          </a:p>
        </p:txBody>
      </p:sp>
      <p:sp>
        <p:nvSpPr>
          <p:cNvPr id="14" name="Text 10"/>
          <p:cNvSpPr txBox="1"/>
          <p:nvPr/>
        </p:nvSpPr>
        <p:spPr>
          <a:xfrm>
            <a:off x="3697148" y="3017520"/>
            <a:ext cx="2023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da população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3697148" y="3419856"/>
            <a:ext cx="2023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Depende do sector agrícola para o seu sustento.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233008" y="2249424"/>
            <a:ext cx="2499284" cy="1883664"/>
          </a:xfrm>
          <a:prstGeom prst="roundRect">
            <a:avLst>
              <a:gd name="adj" fmla="val 2913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6470752" y="2432304"/>
            <a:ext cx="20237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0002C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2% a 6%</a:t>
            </a:r>
            <a:endParaRPr lang="en-US" sz="2800" dirty="0"/>
          </a:p>
        </p:txBody>
      </p:sp>
      <p:sp>
        <p:nvSpPr>
          <p:cNvPr id="18" name="Text 14"/>
          <p:cNvSpPr txBox="1"/>
          <p:nvPr/>
        </p:nvSpPr>
        <p:spPr>
          <a:xfrm>
            <a:off x="6470752" y="3017520"/>
            <a:ext cx="2023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da carteira de crédito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6470752" y="3419856"/>
            <a:ext cx="2023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É quanto a generalidade dos bancos afecta à agricultura.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9006611" y="2249424"/>
            <a:ext cx="2499284" cy="1883664"/>
          </a:xfrm>
          <a:prstGeom prst="roundRect">
            <a:avLst>
              <a:gd name="adj" fmla="val 2913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9244355" y="2432304"/>
            <a:ext cx="20237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4,5 M</a:t>
            </a:r>
            <a:endParaRPr lang="en-US" sz="3400" dirty="0"/>
          </a:p>
        </p:txBody>
      </p:sp>
      <p:sp>
        <p:nvSpPr>
          <p:cNvPr id="22" name="Text 18"/>
          <p:cNvSpPr txBox="1"/>
          <p:nvPr/>
        </p:nvSpPr>
        <p:spPr>
          <a:xfrm>
            <a:off x="9244355" y="3017520"/>
            <a:ext cx="2023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de explorações agrícolas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9244355" y="3419856"/>
            <a:ext cx="2023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Recenseadas no Inquérito Agrário Integrado de 2023.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685800" y="4846320"/>
            <a:ext cx="10820095" cy="914400"/>
          </a:xfrm>
          <a:prstGeom prst="roundRect">
            <a:avLst>
              <a:gd name="adj" fmla="val 6000"/>
            </a:avLst>
          </a:prstGeom>
          <a:solidFill>
            <a:srgbClr val="3A3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1014984" y="4846320"/>
            <a:ext cx="1016172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Vinte e três por cento da economia; entre dois e seis por cento do crédito. Reduzir esta distância de forma estruturada, e não por simples aumento de apetite ao risco, é o objectivo desta proposta.</a:t>
            </a:r>
            <a:endParaRPr lang="en-US" sz="1350" dirty="0"/>
          </a:p>
        </p:txBody>
      </p:sp>
      <p:sp>
        <p:nvSpPr>
          <p:cNvPr id="26" name="Text 22"/>
          <p:cNvSpPr txBox="1"/>
          <p:nvPr/>
        </p:nvSpPr>
        <p:spPr>
          <a:xfrm>
            <a:off x="1892808" y="6291072"/>
            <a:ext cx="8808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494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Fontes: UNU-WIDER e Inclusive Growth in Mozambique, 2025 · Observatório do Meio Rural · Banco de Moçambique · INE, Inquérito Agrário Integrado de 2023.</a:t>
            </a:r>
            <a:endParaRPr lang="en-US" sz="850" dirty="0"/>
          </a:p>
        </p:txBody>
      </p:sp>
    </p:spTree>
  </p:cSld>
  <p:clrMapOvr>
    <a:masterClrMapping/>
  </p:clrMapOvr>
  <p:transition spd="slow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3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420" fill="hold"/>
                                        <p:tgtEl>
                                          <p:spTgt spid="9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46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3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7" dur="420" fill="hold"/>
                                        <p:tgtEl>
                                          <p:spTgt spid="1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70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3" presetClass="entr" presetSubtype="0" fill="hold" grpId="0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1" dur="420" fill="hold"/>
                                        <p:tgtEl>
                                          <p:spTgt spid="1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4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3" presetClass="entr" presetSubtype="0" fill="hold" grpId="0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5" dur="420" fill="hold"/>
                                        <p:tgtEl>
                                          <p:spTgt spid="21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18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46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172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46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192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46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023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DIAGNÓSTICO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94944"/>
            <a:ext cx="7772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 limitação do cliente não é a ambição, mas o atrito operacional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6420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Seis constrangimentos recorrentes, a que a presente proposta responde de forma explícita.</a:t>
            </a:r>
            <a:endParaRPr lang="en-US" sz="1300" dirty="0"/>
          </a:p>
        </p:txBody>
      </p:sp>
      <p:pic>
        <p:nvPicPr>
          <p:cNvPr id="5" name="Image 0" descr="/tmp/claude-0/-home-user-momo/176296df-944e-550c-879f-516f4be80ca0/scratchpad/unpacked/ppt/media/image1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705088" y="402336"/>
            <a:ext cx="2798064" cy="1572768"/>
          </a:xfrm>
          <a:prstGeom prst="rect">
            <a:avLst/>
          </a:prstGeom>
        </p:spPr>
      </p:pic>
      <p:pic>
        <p:nvPicPr>
          <p:cNvPr id="6" name="Image 1" descr="/tmp/claude-0/-home-user-momo/176296df-944e-550c-879f-516f4be80ca0/scratchpad/unpacked/ppt/media/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272784"/>
            <a:ext cx="1024128" cy="30175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957255" y="634593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94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8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685800" y="2249424"/>
            <a:ext cx="3375050" cy="1243584"/>
          </a:xfrm>
          <a:prstGeom prst="roundRect">
            <a:avLst>
              <a:gd name="adj" fmla="val 4412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923544" y="2487168"/>
            <a:ext cx="329184" cy="329184"/>
          </a:xfrm>
          <a:prstGeom prst="ellipse">
            <a:avLst/>
          </a:prstGeom>
          <a:solidFill>
            <a:srgbClr val="DC00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923544" y="2487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1344168" y="2487168"/>
            <a:ext cx="24789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Acesso e custo do crédito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923544" y="2889504"/>
            <a:ext cx="289956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As necessidades sazonais raramente se ajustam às estruturas de crédito convencionais.</a:t>
            </a:r>
            <a:endParaRPr lang="en-US" sz="1020" dirty="0"/>
          </a:p>
        </p:txBody>
      </p:sp>
      <p:sp>
        <p:nvSpPr>
          <p:cNvPr id="13" name="Shape 9"/>
          <p:cNvSpPr/>
          <p:nvPr/>
        </p:nvSpPr>
        <p:spPr>
          <a:xfrm>
            <a:off x="4408322" y="2249424"/>
            <a:ext cx="3375050" cy="1243584"/>
          </a:xfrm>
          <a:prstGeom prst="roundRect">
            <a:avLst>
              <a:gd name="adj" fmla="val 4412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646066" y="2487168"/>
            <a:ext cx="329184" cy="329184"/>
          </a:xfrm>
          <a:prstGeom prst="ellipse">
            <a:avLst/>
          </a:prstGeom>
          <a:solidFill>
            <a:srgbClr val="DC00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646066" y="2487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5066690" y="2487168"/>
            <a:ext cx="24789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Risco e resiliência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646066" y="2889504"/>
            <a:ext cx="289956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Fenómenos climáticos, pragas e volatilidade de preços interrompem os fluxos previstos.</a:t>
            </a:r>
            <a:endParaRPr lang="en-US" sz="1020" dirty="0"/>
          </a:p>
        </p:txBody>
      </p:sp>
      <p:sp>
        <p:nvSpPr>
          <p:cNvPr id="18" name="Shape 14"/>
          <p:cNvSpPr/>
          <p:nvPr/>
        </p:nvSpPr>
        <p:spPr>
          <a:xfrm>
            <a:off x="8130845" y="2249424"/>
            <a:ext cx="3375050" cy="1243584"/>
          </a:xfrm>
          <a:prstGeom prst="roundRect">
            <a:avLst>
              <a:gd name="adj" fmla="val 4412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68589" y="2487168"/>
            <a:ext cx="329184" cy="329184"/>
          </a:xfrm>
          <a:prstGeom prst="ellipse">
            <a:avLst/>
          </a:prstGeom>
          <a:solidFill>
            <a:srgbClr val="DC00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368589" y="2487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8789213" y="2487168"/>
            <a:ext cx="24789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Mercados e escoamento</a:t>
            </a:r>
            <a:endParaRPr lang="en-US" sz="1250" dirty="0"/>
          </a:p>
        </p:txBody>
      </p:sp>
      <p:sp>
        <p:nvSpPr>
          <p:cNvPr id="22" name="Text 18"/>
          <p:cNvSpPr txBox="1"/>
          <p:nvPr/>
        </p:nvSpPr>
        <p:spPr>
          <a:xfrm>
            <a:off x="8368589" y="2889504"/>
            <a:ext cx="289956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 fragmentação das cadeias dificulta o acesso a insumos, a compradores e a preços justos.</a:t>
            </a:r>
            <a:endParaRPr lang="en-US" sz="1020" dirty="0"/>
          </a:p>
        </p:txBody>
      </p:sp>
      <p:sp>
        <p:nvSpPr>
          <p:cNvPr id="23" name="Shape 19"/>
          <p:cNvSpPr/>
          <p:nvPr/>
        </p:nvSpPr>
        <p:spPr>
          <a:xfrm>
            <a:off x="685800" y="3730752"/>
            <a:ext cx="3375050" cy="1243584"/>
          </a:xfrm>
          <a:prstGeom prst="roundRect">
            <a:avLst>
              <a:gd name="adj" fmla="val 4412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923544" y="3968496"/>
            <a:ext cx="329184" cy="329184"/>
          </a:xfrm>
          <a:prstGeom prst="ellipse">
            <a:avLst/>
          </a:prstGeom>
          <a:solidFill>
            <a:srgbClr val="DC00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923544" y="3968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1344168" y="3968496"/>
            <a:ext cx="24789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Circulação de numerário</a:t>
            </a:r>
            <a:endParaRPr lang="en-US" sz="1250" dirty="0"/>
          </a:p>
        </p:txBody>
      </p:sp>
      <p:sp>
        <p:nvSpPr>
          <p:cNvPr id="27" name="Text 23"/>
          <p:cNvSpPr txBox="1"/>
          <p:nvPr/>
        </p:nvSpPr>
        <p:spPr>
          <a:xfrm>
            <a:off x="923544" y="4370832"/>
            <a:ext cx="289956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As campanhas de comercialização continuam a ser liquidadas sobretudo em numerário.</a:t>
            </a:r>
            <a:endParaRPr lang="en-US" sz="1020" dirty="0"/>
          </a:p>
        </p:txBody>
      </p:sp>
      <p:sp>
        <p:nvSpPr>
          <p:cNvPr id="28" name="Shape 24"/>
          <p:cNvSpPr/>
          <p:nvPr/>
        </p:nvSpPr>
        <p:spPr>
          <a:xfrm>
            <a:off x="4408322" y="3730752"/>
            <a:ext cx="3375050" cy="1243584"/>
          </a:xfrm>
          <a:prstGeom prst="roundRect">
            <a:avLst>
              <a:gd name="adj" fmla="val 4412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4646066" y="3968496"/>
            <a:ext cx="329184" cy="329184"/>
          </a:xfrm>
          <a:prstGeom prst="ellipse">
            <a:avLst/>
          </a:prstGeom>
          <a:solidFill>
            <a:srgbClr val="DC00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4646066" y="3968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05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5066690" y="3968496"/>
            <a:ext cx="24789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Registo e visibilidade</a:t>
            </a:r>
            <a:endParaRPr lang="en-US" sz="1250" dirty="0"/>
          </a:p>
        </p:txBody>
      </p:sp>
      <p:sp>
        <p:nvSpPr>
          <p:cNvPr id="32" name="Text 28"/>
          <p:cNvSpPr txBox="1"/>
          <p:nvPr/>
        </p:nvSpPr>
        <p:spPr>
          <a:xfrm>
            <a:off x="4646066" y="4370832"/>
            <a:ext cx="289956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Produtores solventes permanecem invisíveis à avaliação de crédito por falta de historial.</a:t>
            </a:r>
            <a:endParaRPr lang="en-US" sz="1020" dirty="0"/>
          </a:p>
        </p:txBody>
      </p:sp>
      <p:sp>
        <p:nvSpPr>
          <p:cNvPr id="33" name="Shape 29"/>
          <p:cNvSpPr/>
          <p:nvPr/>
        </p:nvSpPr>
        <p:spPr>
          <a:xfrm>
            <a:off x="8130845" y="3730752"/>
            <a:ext cx="3375050" cy="1243584"/>
          </a:xfrm>
          <a:prstGeom prst="roundRect">
            <a:avLst>
              <a:gd name="adj" fmla="val 4412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8368589" y="3968496"/>
            <a:ext cx="329184" cy="329184"/>
          </a:xfrm>
          <a:prstGeom prst="ellipse">
            <a:avLst/>
          </a:prstGeom>
          <a:solidFill>
            <a:srgbClr val="DC00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8368589" y="3968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06</a:t>
            </a:r>
            <a:endParaRPr lang="en-US" sz="1000" dirty="0"/>
          </a:p>
        </p:txBody>
      </p:sp>
      <p:sp>
        <p:nvSpPr>
          <p:cNvPr id="36" name="Text 32"/>
          <p:cNvSpPr txBox="1"/>
          <p:nvPr/>
        </p:nvSpPr>
        <p:spPr>
          <a:xfrm>
            <a:off x="8789213" y="3968496"/>
            <a:ext cx="24789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Infra-estruturas</a:t>
            </a:r>
            <a:endParaRPr lang="en-US" sz="1250" dirty="0"/>
          </a:p>
        </p:txBody>
      </p:sp>
      <p:sp>
        <p:nvSpPr>
          <p:cNvPr id="37" name="Text 33"/>
          <p:cNvSpPr txBox="1"/>
          <p:nvPr/>
        </p:nvSpPr>
        <p:spPr>
          <a:xfrm>
            <a:off x="8368589" y="4370832"/>
            <a:ext cx="289956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Transporte, armazenagem e energia consomem margem depois de concluída a colheita.</a:t>
            </a:r>
            <a:endParaRPr lang="en-US" sz="1020" dirty="0"/>
          </a:p>
        </p:txBody>
      </p:sp>
      <p:sp>
        <p:nvSpPr>
          <p:cNvPr id="38" name="Shape 34"/>
          <p:cNvSpPr/>
          <p:nvPr/>
        </p:nvSpPr>
        <p:spPr>
          <a:xfrm>
            <a:off x="685800" y="5376672"/>
            <a:ext cx="10820095" cy="530352"/>
          </a:xfrm>
          <a:prstGeom prst="roundRect">
            <a:avLst>
              <a:gd name="adj" fmla="val 10345"/>
            </a:avLst>
          </a:prstGeom>
          <a:solidFill>
            <a:srgbClr val="3A3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1014984" y="5376672"/>
            <a:ext cx="101617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 resposta consiste em substituir a venda avulsa de produtos por um plano de campanha que articula financiamento, pagamentos, protecção de risco e acesso ao mercado.</a:t>
            </a:r>
            <a:endParaRPr lang="en-US" sz="1300" dirty="0"/>
          </a:p>
        </p:txBody>
      </p:sp>
    </p:spTree>
  </p:cSld>
  <p:clrMapOvr>
    <a:masterClrMapping/>
  </p:clrMapOvr>
  <p:transition spd="slow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2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2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2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4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4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2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4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4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presetID="2" presetClass="entr" presetSubtype="0" fill="hold" grpId="0" nodeType="withEffect">
                                  <p:stCondLst>
                                    <p:cond delay="174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4" presetID="2" presetClass="entr" presetSubtype="0" fill="hold" grpId="0" nodeType="withEffect">
                                  <p:stCondLst>
                                    <p:cond delay="174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" presetID="2" presetClass="entr" presetSubtype="0" fill="hold" grpId="0" nodeType="withEffect">
                                  <p:stCondLst>
                                    <p:cond delay="174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2" presetClass="entr" presetSubtype="0" fill="hold" grpId="0" nodeType="withEffect">
                                  <p:stCondLst>
                                    <p:cond delay="174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4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4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2" presetID="2" presetClass="entr" presetSubtype="0" fill="hold" grpId="0" nodeType="withEffect">
                                  <p:stCondLst>
                                    <p:cond delay="174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4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5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2" presetClass="entr" presetSubtype="0" fill="hold" grpId="0" nodeType="withEffect">
                                  <p:stCondLst>
                                    <p:cond delay="174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0" dur="4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1" dur="4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4" presetID="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6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7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grpId="0" nodeType="withEffect">
                                  <p:stCondLst>
                                    <p:cond delay="218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46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46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C00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omo/176296df-944e-550c-879f-516f4be80ca0/scratchpad/unpacked/ppt/media/image4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0"/>
            <a:ext cx="615665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675120" cy="6858000"/>
          </a:xfrm>
          <a:prstGeom prst="rect">
            <a:avLst/>
          </a:prstGeom>
          <a:solidFill>
            <a:srgbClr val="DC00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" y="54864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14984" y="54864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344168" y="54864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673352" y="548640"/>
            <a:ext cx="182880" cy="182880"/>
          </a:xfrm>
          <a:prstGeom prst="ellipse">
            <a:avLst/>
          </a:prstGeom>
          <a:solidFill>
            <a:srgbClr val="9E1B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002536" y="548640"/>
            <a:ext cx="182880" cy="182880"/>
          </a:xfrm>
          <a:prstGeom prst="ellipse">
            <a:avLst/>
          </a:prstGeom>
          <a:solidFill>
            <a:srgbClr val="9E1B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331720" y="548640"/>
            <a:ext cx="182880" cy="182880"/>
          </a:xfrm>
          <a:prstGeom prst="ellipse">
            <a:avLst/>
          </a:prstGeom>
          <a:solidFill>
            <a:srgbClr val="9E1B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660904" y="548640"/>
            <a:ext cx="182880" cy="182880"/>
          </a:xfrm>
          <a:prstGeom prst="ellipse">
            <a:avLst/>
          </a:prstGeom>
          <a:solidFill>
            <a:srgbClr val="9E1B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96926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FFF1F3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PERGUNTA 3 DE 7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1316736"/>
            <a:ext cx="5760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Quais são os segmentos e cadeias de valor mais relevantes?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3310128"/>
            <a:ext cx="5394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FFF1F3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Nove fileiras produtivas e trinta e quatro contrapartes identificadas, da produção à exportação.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515721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~380 mil t/ano</a:t>
            </a:r>
            <a:endParaRPr lang="en-US" sz="155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542239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B9C4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Açúcar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3520440" y="515721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258,3 M US$</a:t>
            </a:r>
            <a:endParaRPr lang="en-US" sz="1550" dirty="0"/>
          </a:p>
        </p:txBody>
      </p:sp>
      <p:sp>
        <p:nvSpPr>
          <p:cNvPr id="17" name="Text 14"/>
          <p:cNvSpPr txBox="1"/>
          <p:nvPr/>
        </p:nvSpPr>
        <p:spPr>
          <a:xfrm>
            <a:off x="3520440" y="542239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B9C4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Tabaco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85800" y="570585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~50 mil t/ano</a:t>
            </a:r>
            <a:endParaRPr lang="en-US" sz="155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59710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B9C4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Algodão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3520440" y="570585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~135 mil t/ano</a:t>
            </a:r>
            <a:endParaRPr lang="en-US" sz="1550" dirty="0"/>
          </a:p>
        </p:txBody>
      </p:sp>
      <p:sp>
        <p:nvSpPr>
          <p:cNvPr id="21" name="Text 18"/>
          <p:cNvSpPr txBox="1"/>
          <p:nvPr/>
        </p:nvSpPr>
        <p:spPr>
          <a:xfrm>
            <a:off x="3520440" y="59710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B9C4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Avicultura</a:t>
            </a:r>
            <a:endParaRPr lang="en-US" sz="1000" dirty="0"/>
          </a:p>
        </p:txBody>
      </p:sp>
      <p:pic>
        <p:nvPicPr>
          <p:cNvPr id="22" name="Image 1" descr="/tmp/claude-0/-home-user-momo/176296df-944e-550c-879f-516f4be80ca0/scratchpad/unpacked/ppt/media/image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5111" y="6035040"/>
            <a:ext cx="1700784" cy="493776"/>
          </a:xfrm>
          <a:prstGeom prst="rect">
            <a:avLst/>
          </a:prstGeom>
        </p:spPr>
      </p:pic>
    </p:spTree>
  </p:cSld>
  <p:clrMapOvr>
    <a:masterClrMapping/>
  </p:clrMapOvr>
  <p:transition spd="slow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0" fill="hold" grpId="0" nodeType="withEffect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0" fill="hold" grpId="0" nodeType="withEffect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0" fill="hold" grpId="0" nodeType="withEffect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" presetClass="entr" presetSubtype="0" fill="hold" grpId="0" nodeType="withEffect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02336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AÇÚCAR · QUATRO UNIDADES INDUSTRIAIS · CAPACIDADE COMBINADA APROXIMADA DE 380 MIL TONELADAS POR ANO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94944"/>
            <a:ext cx="1082009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Um sector integralmente em transição accionista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64208"/>
            <a:ext cx="108200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 alienação de Xinavane e de Mafambisse e a suspensão da Maragra abrem a maior janela de refinanciamento do agronegócio moçambicano.</a:t>
            </a:r>
            <a:endParaRPr lang="en-US" sz="1300" dirty="0"/>
          </a:p>
        </p:txBody>
      </p:sp>
      <p:pic>
        <p:nvPicPr>
          <p:cNvPr id="5" name="Image 0" descr="/tmp/claude-0/-home-user-momo/176296df-944e-550c-879f-516f4be80ca0/scratchpad/unpacked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272784"/>
            <a:ext cx="1024128" cy="3017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57255" y="634593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94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85800" y="2249424"/>
            <a:ext cx="2513000" cy="3273552"/>
          </a:xfrm>
          <a:prstGeom prst="roundRect">
            <a:avLst>
              <a:gd name="adj" fmla="val 2183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23544" y="2414016"/>
            <a:ext cx="1078992" cy="237744"/>
          </a:xfrm>
          <a:prstGeom prst="roundRect">
            <a:avLst>
              <a:gd name="adj" fmla="val 50000"/>
            </a:avLst>
          </a:prstGeom>
          <a:solidFill>
            <a:srgbClr val="DC00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23544" y="241401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SEGMENTO 1</a:t>
            </a:r>
            <a:endParaRPr lang="en-US" sz="740" dirty="0"/>
          </a:p>
        </p:txBody>
      </p:sp>
      <p:sp>
        <p:nvSpPr>
          <p:cNvPr id="10" name="Text 7"/>
          <p:cNvSpPr txBox="1"/>
          <p:nvPr/>
        </p:nvSpPr>
        <p:spPr>
          <a:xfrm>
            <a:off x="923544" y="2688336"/>
            <a:ext cx="2037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Açucareira de Xinavane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923544" y="3218688"/>
            <a:ext cx="2037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Vision Sugar Holdings, 88% · Estado, através do IGEPE, 12%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923544" y="3621024"/>
            <a:ext cx="2037512" cy="10973"/>
          </a:xfrm>
          <a:prstGeom prst="rect">
            <a:avLst/>
          </a:prstGeom>
          <a:solidFill>
            <a:srgbClr val="E6E6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23544" y="3721608"/>
            <a:ext cx="203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250.000 t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923544" y="4087368"/>
            <a:ext cx="2037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de capacidade instalada; é o maior produtor nacional</a:t>
            </a:r>
            <a:endParaRPr lang="en-US" sz="980" dirty="0"/>
          </a:p>
        </p:txBody>
      </p:sp>
      <p:sp>
        <p:nvSpPr>
          <p:cNvPr id="15" name="Text 12"/>
          <p:cNvSpPr txBox="1"/>
          <p:nvPr/>
        </p:nvSpPr>
        <p:spPr>
          <a:xfrm>
            <a:off x="923544" y="4572000"/>
            <a:ext cx="2037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i="1" dirty="0">
                <a:solidFill>
                  <a:srgbClr val="8E878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Manhiça, província de Maputo</a:t>
            </a:r>
            <a:endParaRPr lang="en-US" sz="920" dirty="0"/>
          </a:p>
        </p:txBody>
      </p:sp>
      <p:sp>
        <p:nvSpPr>
          <p:cNvPr id="16" name="Text 13"/>
          <p:cNvSpPr txBox="1"/>
          <p:nvPr/>
        </p:nvSpPr>
        <p:spPr>
          <a:xfrm>
            <a:off x="923544" y="4791456"/>
            <a:ext cx="2037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80" kern="0" dirty="0">
                <a:solidFill>
                  <a:srgbClr val="A89F9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OPORTUNIDADE PARA O BANCO</a:t>
            </a:r>
            <a:endParaRPr lang="en-US" sz="680" dirty="0"/>
          </a:p>
        </p:txBody>
      </p:sp>
      <p:sp>
        <p:nvSpPr>
          <p:cNvPr id="17" name="Text 14"/>
          <p:cNvSpPr txBox="1"/>
          <p:nvPr/>
        </p:nvSpPr>
        <p:spPr>
          <a:xfrm>
            <a:off x="923544" y="4956048"/>
            <a:ext cx="2037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8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Refinanciamento pós-aquisição · investimento fabril</a:t>
            </a:r>
            <a:endParaRPr lang="en-US" sz="980" dirty="0"/>
          </a:p>
        </p:txBody>
      </p:sp>
      <p:sp>
        <p:nvSpPr>
          <p:cNvPr id="18" name="Shape 15"/>
          <p:cNvSpPr/>
          <p:nvPr/>
        </p:nvSpPr>
        <p:spPr>
          <a:xfrm>
            <a:off x="3454832" y="2249424"/>
            <a:ext cx="2513000" cy="3273552"/>
          </a:xfrm>
          <a:prstGeom prst="roundRect">
            <a:avLst>
              <a:gd name="adj" fmla="val 2183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692576" y="2414016"/>
            <a:ext cx="1078992" cy="237744"/>
          </a:xfrm>
          <a:prstGeom prst="roundRect">
            <a:avLst>
              <a:gd name="adj" fmla="val 50000"/>
            </a:avLst>
          </a:prstGeom>
          <a:solidFill>
            <a:srgbClr val="DC00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692576" y="241401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SEGMENTO 1</a:t>
            </a:r>
            <a:endParaRPr lang="en-US" sz="740" dirty="0"/>
          </a:p>
        </p:txBody>
      </p:sp>
      <p:sp>
        <p:nvSpPr>
          <p:cNvPr id="21" name="Text 18"/>
          <p:cNvSpPr txBox="1"/>
          <p:nvPr/>
        </p:nvSpPr>
        <p:spPr>
          <a:xfrm>
            <a:off x="3692576" y="2688336"/>
            <a:ext cx="2037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Açucareira de Mafambisse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3692576" y="3218688"/>
            <a:ext cx="2037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Vision Sugar Holdings, 85% · IGEPE, 15%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92576" y="3621024"/>
            <a:ext cx="2037512" cy="10973"/>
          </a:xfrm>
          <a:prstGeom prst="rect">
            <a:avLst/>
          </a:prstGeom>
          <a:solidFill>
            <a:srgbClr val="E6E6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692576" y="3721608"/>
            <a:ext cx="203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39.166 t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3692576" y="4087368"/>
            <a:ext cx="2037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produzidas em 2024/25, para 92.000 t de capacidade</a:t>
            </a:r>
            <a:endParaRPr lang="en-US" sz="980" dirty="0"/>
          </a:p>
        </p:txBody>
      </p:sp>
      <p:sp>
        <p:nvSpPr>
          <p:cNvPr id="26" name="Text 23"/>
          <p:cNvSpPr txBox="1"/>
          <p:nvPr/>
        </p:nvSpPr>
        <p:spPr>
          <a:xfrm>
            <a:off x="3692576" y="4572000"/>
            <a:ext cx="2037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i="1" dirty="0">
                <a:solidFill>
                  <a:srgbClr val="8E878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Dondo, província de Sofala</a:t>
            </a:r>
            <a:endParaRPr lang="en-US" sz="920" dirty="0"/>
          </a:p>
        </p:txBody>
      </p:sp>
      <p:sp>
        <p:nvSpPr>
          <p:cNvPr id="27" name="Text 24"/>
          <p:cNvSpPr txBox="1"/>
          <p:nvPr/>
        </p:nvSpPr>
        <p:spPr>
          <a:xfrm>
            <a:off x="3692576" y="4791456"/>
            <a:ext cx="2037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80" kern="0" dirty="0">
                <a:solidFill>
                  <a:srgbClr val="A89F9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OPORTUNIDADE PARA O BANCO</a:t>
            </a:r>
            <a:endParaRPr lang="en-US" sz="680" dirty="0"/>
          </a:p>
        </p:txBody>
      </p:sp>
      <p:sp>
        <p:nvSpPr>
          <p:cNvPr id="28" name="Text 25"/>
          <p:cNvSpPr txBox="1"/>
          <p:nvPr/>
        </p:nvSpPr>
        <p:spPr>
          <a:xfrm>
            <a:off x="3692576" y="4956048"/>
            <a:ext cx="2037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8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Recuperação de capacidade · cogeração a partir do bagaço</a:t>
            </a:r>
            <a:endParaRPr lang="en-US" sz="980" dirty="0"/>
          </a:p>
        </p:txBody>
      </p:sp>
      <p:sp>
        <p:nvSpPr>
          <p:cNvPr id="29" name="Shape 26"/>
          <p:cNvSpPr/>
          <p:nvPr/>
        </p:nvSpPr>
        <p:spPr>
          <a:xfrm>
            <a:off x="6223864" y="2249424"/>
            <a:ext cx="2513000" cy="3273552"/>
          </a:xfrm>
          <a:prstGeom prst="roundRect">
            <a:avLst>
              <a:gd name="adj" fmla="val 2183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461608" y="2414016"/>
            <a:ext cx="1078992" cy="237744"/>
          </a:xfrm>
          <a:prstGeom prst="roundRect">
            <a:avLst>
              <a:gd name="adj" fmla="val 50000"/>
            </a:avLst>
          </a:prstGeom>
          <a:solidFill>
            <a:srgbClr val="DC00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461608" y="241401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SEGMENTO 1</a:t>
            </a:r>
            <a:endParaRPr lang="en-US" sz="740" dirty="0"/>
          </a:p>
        </p:txBody>
      </p:sp>
      <p:sp>
        <p:nvSpPr>
          <p:cNvPr id="32" name="Text 29"/>
          <p:cNvSpPr txBox="1"/>
          <p:nvPr/>
        </p:nvSpPr>
        <p:spPr>
          <a:xfrm>
            <a:off x="6461608" y="2688336"/>
            <a:ext cx="2037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Companhia de Sena</a:t>
            </a:r>
            <a:endParaRPr lang="en-US" sz="1250" dirty="0"/>
          </a:p>
        </p:txBody>
      </p:sp>
      <p:sp>
        <p:nvSpPr>
          <p:cNvPr id="33" name="Text 30"/>
          <p:cNvSpPr txBox="1"/>
          <p:nvPr/>
        </p:nvSpPr>
        <p:spPr>
          <a:xfrm>
            <a:off x="6461608" y="3218688"/>
            <a:ext cx="2037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Sena Holdings e Royal Group, 75%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6461608" y="3621024"/>
            <a:ext cx="2037512" cy="10973"/>
          </a:xfrm>
          <a:prstGeom prst="rect">
            <a:avLst/>
          </a:prstGeom>
          <a:solidFill>
            <a:srgbClr val="E6E6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61608" y="3721608"/>
            <a:ext cx="203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60.000 t</a:t>
            </a:r>
            <a:endParaRPr lang="en-US" sz="1900" dirty="0"/>
          </a:p>
        </p:txBody>
      </p:sp>
      <p:sp>
        <p:nvSpPr>
          <p:cNvPr id="36" name="Text 33"/>
          <p:cNvSpPr txBox="1"/>
          <p:nvPr/>
        </p:nvSpPr>
        <p:spPr>
          <a:xfrm>
            <a:off x="6461608" y="4087368"/>
            <a:ext cx="2037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de açúcar por ano; 4.500 t de cana moídas por dia</a:t>
            </a:r>
            <a:endParaRPr lang="en-US" sz="980" dirty="0"/>
          </a:p>
        </p:txBody>
      </p:sp>
      <p:sp>
        <p:nvSpPr>
          <p:cNvPr id="37" name="Text 34"/>
          <p:cNvSpPr txBox="1"/>
          <p:nvPr/>
        </p:nvSpPr>
        <p:spPr>
          <a:xfrm>
            <a:off x="6461608" y="4572000"/>
            <a:ext cx="2037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i="1" dirty="0">
                <a:solidFill>
                  <a:srgbClr val="8E878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Marromeu, província de Sofala</a:t>
            </a:r>
            <a:endParaRPr lang="en-US" sz="920" dirty="0"/>
          </a:p>
        </p:txBody>
      </p:sp>
      <p:sp>
        <p:nvSpPr>
          <p:cNvPr id="38" name="Text 35"/>
          <p:cNvSpPr txBox="1"/>
          <p:nvPr/>
        </p:nvSpPr>
        <p:spPr>
          <a:xfrm>
            <a:off x="6461608" y="4791456"/>
            <a:ext cx="2037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80" kern="0" dirty="0">
                <a:solidFill>
                  <a:srgbClr val="A89F9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OPORTUNIDADE PARA O BANCO</a:t>
            </a:r>
            <a:endParaRPr lang="en-US" sz="680" dirty="0"/>
          </a:p>
        </p:txBody>
      </p:sp>
      <p:sp>
        <p:nvSpPr>
          <p:cNvPr id="39" name="Text 36"/>
          <p:cNvSpPr txBox="1"/>
          <p:nvPr/>
        </p:nvSpPr>
        <p:spPr>
          <a:xfrm>
            <a:off x="6461608" y="4956048"/>
            <a:ext cx="2037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8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Capital de campanha · logística até à Beira</a:t>
            </a:r>
            <a:endParaRPr lang="en-US" sz="980" dirty="0"/>
          </a:p>
        </p:txBody>
      </p:sp>
      <p:sp>
        <p:nvSpPr>
          <p:cNvPr id="40" name="Shape 37"/>
          <p:cNvSpPr/>
          <p:nvPr/>
        </p:nvSpPr>
        <p:spPr>
          <a:xfrm>
            <a:off x="8992895" y="2249424"/>
            <a:ext cx="2513000" cy="3273552"/>
          </a:xfrm>
          <a:prstGeom prst="roundRect">
            <a:avLst>
              <a:gd name="adj" fmla="val 2183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9230639" y="2414016"/>
            <a:ext cx="1078992" cy="237744"/>
          </a:xfrm>
          <a:prstGeom prst="roundRect">
            <a:avLst>
              <a:gd name="adj" fmla="val 50000"/>
            </a:avLst>
          </a:prstGeom>
          <a:solidFill>
            <a:srgbClr val="DC00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9230639" y="241401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SEGMENTO 1</a:t>
            </a:r>
            <a:endParaRPr lang="en-US" sz="740" dirty="0"/>
          </a:p>
        </p:txBody>
      </p:sp>
      <p:sp>
        <p:nvSpPr>
          <p:cNvPr id="43" name="Text 40"/>
          <p:cNvSpPr txBox="1"/>
          <p:nvPr/>
        </p:nvSpPr>
        <p:spPr>
          <a:xfrm>
            <a:off x="9230639" y="2688336"/>
            <a:ext cx="2037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Maragra Açúcar</a:t>
            </a:r>
            <a:endParaRPr lang="en-US" sz="1250" dirty="0"/>
          </a:p>
        </p:txBody>
      </p:sp>
      <p:sp>
        <p:nvSpPr>
          <p:cNvPr id="44" name="Text 41"/>
          <p:cNvSpPr txBox="1"/>
          <p:nvPr/>
        </p:nvSpPr>
        <p:spPr>
          <a:xfrm>
            <a:off x="9230639" y="3218688"/>
            <a:ext cx="2037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Illovo Sugar e Associated British Foods, 99%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9230639" y="3621024"/>
            <a:ext cx="2037512" cy="10973"/>
          </a:xfrm>
          <a:prstGeom prst="rect">
            <a:avLst/>
          </a:prstGeom>
          <a:solidFill>
            <a:srgbClr val="E6E6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230639" y="3721608"/>
            <a:ext cx="203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2026</a:t>
            </a:r>
            <a:endParaRPr lang="en-US" sz="1900" dirty="0"/>
          </a:p>
        </p:txBody>
      </p:sp>
      <p:sp>
        <p:nvSpPr>
          <p:cNvPr id="47" name="Text 44"/>
          <p:cNvSpPr txBox="1"/>
          <p:nvPr/>
        </p:nvSpPr>
        <p:spPr>
          <a:xfrm>
            <a:off x="9230639" y="4087368"/>
            <a:ext cx="2037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ano previsto de retoma; 80.000 t de capacidade parada</a:t>
            </a:r>
            <a:endParaRPr lang="en-US" sz="980" dirty="0"/>
          </a:p>
        </p:txBody>
      </p:sp>
      <p:sp>
        <p:nvSpPr>
          <p:cNvPr id="48" name="Text 45"/>
          <p:cNvSpPr txBox="1"/>
          <p:nvPr/>
        </p:nvSpPr>
        <p:spPr>
          <a:xfrm>
            <a:off x="9230639" y="4572000"/>
            <a:ext cx="2037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i="1" dirty="0">
                <a:solidFill>
                  <a:srgbClr val="8E878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Manhiça, província de Maputo</a:t>
            </a:r>
            <a:endParaRPr lang="en-US" sz="920" dirty="0"/>
          </a:p>
        </p:txBody>
      </p:sp>
      <p:sp>
        <p:nvSpPr>
          <p:cNvPr id="49" name="Text 46"/>
          <p:cNvSpPr txBox="1"/>
          <p:nvPr/>
        </p:nvSpPr>
        <p:spPr>
          <a:xfrm>
            <a:off x="9230639" y="4791456"/>
            <a:ext cx="2037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80" kern="0" dirty="0">
                <a:solidFill>
                  <a:srgbClr val="A89F9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OPORTUNIDADE PARA O BANCO</a:t>
            </a:r>
            <a:endParaRPr lang="en-US" sz="680" dirty="0"/>
          </a:p>
        </p:txBody>
      </p:sp>
      <p:sp>
        <p:nvSpPr>
          <p:cNvPr id="50" name="Text 47"/>
          <p:cNvSpPr txBox="1"/>
          <p:nvPr/>
        </p:nvSpPr>
        <p:spPr>
          <a:xfrm>
            <a:off x="9230639" y="4956048"/>
            <a:ext cx="2037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8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Financiamento da retoma · capital paciente</a:t>
            </a:r>
            <a:endParaRPr lang="en-US" sz="980" dirty="0"/>
          </a:p>
        </p:txBody>
      </p:sp>
      <p:sp>
        <p:nvSpPr>
          <p:cNvPr id="51" name="Shape 48"/>
          <p:cNvSpPr/>
          <p:nvPr/>
        </p:nvSpPr>
        <p:spPr>
          <a:xfrm>
            <a:off x="685800" y="5669280"/>
            <a:ext cx="10820095" cy="530352"/>
          </a:xfrm>
          <a:prstGeom prst="roundRect">
            <a:avLst>
              <a:gd name="adj" fmla="val 10345"/>
            </a:avLst>
          </a:prstGeom>
          <a:solidFill>
            <a:srgbClr val="3A3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960120" y="5669280"/>
            <a:ext cx="102714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b="1" dirty="0">
                <a:solidFill>
                  <a:srgbClr val="FF8FA3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Nota de risco: </a:t>
            </a:r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E4DEDE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Em 2025 a Autoridade Reguladora da Concorrência aplicou aos quatro produtores e à Distribuidora Nacional de Açúcar coimas no valor de 69,5 milhões de meticais por práticas de cartel. Impõe-se diligência acrescida em matéria de conduta; a liberalização das vendas altera, ainda, os fluxos de recebimento.</a:t>
            </a:r>
            <a:endParaRPr lang="en-US" sz="960" dirty="0"/>
          </a:p>
        </p:txBody>
      </p:sp>
      <p:sp>
        <p:nvSpPr>
          <p:cNvPr id="53" name="Text 50"/>
          <p:cNvSpPr txBox="1"/>
          <p:nvPr/>
        </p:nvSpPr>
        <p:spPr>
          <a:xfrm>
            <a:off x="1892808" y="6291072"/>
            <a:ext cx="8808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494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Fontes: Sugaronline e Agência de Informação de Moçambique · Tongaat Hulett · Illovo Sugar Africa · MIGA · Lusa.</a:t>
            </a:r>
            <a:endParaRPr lang="en-US" sz="850" dirty="0"/>
          </a:p>
        </p:txBody>
      </p:sp>
    </p:spTree>
  </p:cSld>
  <p:clrMapOvr>
    <a:masterClrMapping/>
  </p:clrMapOvr>
  <p:transition spd="slow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4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4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" dur="4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4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4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2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4" dur="4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5" dur="4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0" dur="4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1" dur="4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4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6" dur="4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7" dur="4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0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2" dur="4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3" dur="4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6" presetID="2" presetClass="entr" presetSubtype="0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8" dur="4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9" dur="4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2" presetID="2" presetClass="entr" presetSubtype="0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4" dur="4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5" dur="4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8" presetID="2" presetClass="entr" presetSubtype="0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0" dur="4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1" dur="4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4" presetID="2" presetClass="entr" presetSubtype="0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6" dur="4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7" dur="4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2" presetClass="entr" presetSubtype="0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2" dur="4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3" dur="4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6" presetID="2" presetClass="entr" presetSubtype="0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8" dur="4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9" dur="4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2" presetID="2" presetClass="entr" presetSubtype="0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4" dur="4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5" dur="4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8" presetID="2" presetClass="entr" presetSubtype="0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0" dur="4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1" dur="4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4" presetID="2" presetClass="entr" presetSubtype="0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6" dur="4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7" dur="4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0" presetID="2" presetClass="entr" presetSubtype="0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2" dur="4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3" dur="4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6" presetID="2" presetClass="entr" presetSubtype="0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8" dur="4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9" dur="4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2" presetID="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4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5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8" presetID="10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0" dur="46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4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6" dur="46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0" presetID="10" presetClass="entr" presetSubtype="0" fill="hold" grpId="0" nodeType="withEffect">
                                  <p:stCondLst>
                                    <p:cond delay="202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2" dur="46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02336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TABACO · PRINCIPAL RUBRICA DE EXPORTAÇÃO AGRÍCOLA, COM 258,3 MILHÕES DE DÓLARES EM 2025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94944"/>
            <a:ext cx="1082009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O maior mandato de pagamentos agrícolas do país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64208"/>
            <a:ext cx="108200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Uma única contraparte liquida pagamentos a mais de 120 mil produtores por campanha, ainda hoje em larga medida através de numerário.</a:t>
            </a:r>
            <a:endParaRPr lang="en-US" sz="1300" dirty="0"/>
          </a:p>
        </p:txBody>
      </p:sp>
      <p:pic>
        <p:nvPicPr>
          <p:cNvPr id="5" name="Image 0" descr="/tmp/claude-0/-home-user-momo/176296df-944e-550c-879f-516f4be80ca0/scratchpad/unpacked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272784"/>
            <a:ext cx="1024128" cy="3017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57255" y="634593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94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85800" y="2249424"/>
            <a:ext cx="6583680" cy="2980944"/>
          </a:xfrm>
          <a:prstGeom prst="roundRect">
            <a:avLst>
              <a:gd name="adj" fmla="val 1840"/>
            </a:avLst>
          </a:prstGeom>
          <a:solidFill>
            <a:srgbClr val="3A353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96696" y="2432304"/>
            <a:ext cx="1078992" cy="237744"/>
          </a:xfrm>
          <a:prstGeom prst="roundRect">
            <a:avLst>
              <a:gd name="adj" fmla="val 50000"/>
            </a:avLst>
          </a:prstGeom>
          <a:solidFill>
            <a:srgbClr val="DC00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96696" y="2432304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SEGMENTO 1</a:t>
            </a:r>
            <a:endParaRPr lang="en-US" sz="740" dirty="0"/>
          </a:p>
        </p:txBody>
      </p:sp>
      <p:sp>
        <p:nvSpPr>
          <p:cNvPr id="10" name="Text 7"/>
          <p:cNvSpPr txBox="1"/>
          <p:nvPr/>
        </p:nvSpPr>
        <p:spPr>
          <a:xfrm>
            <a:off x="996696" y="274320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Mozambique Leaf Tobacco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996696" y="3401568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C4BCBC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Universal Corporation, dos Estados Unidos. É a maior empresa agrícola de Moçambique e o seu maior exportador do sector.</a:t>
            </a:r>
            <a:endParaRPr lang="en-US" sz="1020" dirty="0"/>
          </a:p>
        </p:txBody>
      </p:sp>
      <p:sp>
        <p:nvSpPr>
          <p:cNvPr id="12" name="Text 9"/>
          <p:cNvSpPr txBox="1"/>
          <p:nvPr/>
        </p:nvSpPr>
        <p:spPr>
          <a:xfrm>
            <a:off x="996696" y="395020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8FA3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120.000</a:t>
            </a:r>
            <a:endParaRPr lang="en-US" sz="3800" dirty="0"/>
          </a:p>
        </p:txBody>
      </p:sp>
      <p:sp>
        <p:nvSpPr>
          <p:cNvPr id="13" name="Text 10"/>
          <p:cNvSpPr txBox="1"/>
          <p:nvPr/>
        </p:nvSpPr>
        <p:spPr>
          <a:xfrm>
            <a:off x="996696" y="460857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020" dirty="0">
                <a:solidFill>
                  <a:srgbClr val="D8CFC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produtores sob contrato nas províncias de Tete, Niassa, Zambézia e Manica</a:t>
            </a:r>
            <a:endParaRPr lang="en-US" sz="1020" dirty="0"/>
          </a:p>
        </p:txBody>
      </p:sp>
      <p:pic>
        <p:nvPicPr>
          <p:cNvPr id="14" name="Image 1" descr="/tmp/claude-0/-home-user-momo/176296df-944e-550c-879f-516f4be80ca0/scratchpad/unpacked/ppt/media/image6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92040" y="2432304"/>
            <a:ext cx="2139696" cy="259689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616952" y="2249424"/>
            <a:ext cx="3888943" cy="713232"/>
          </a:xfrm>
          <a:prstGeom prst="roundRect">
            <a:avLst>
              <a:gd name="adj" fmla="val 7692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7836408" y="2322576"/>
            <a:ext cx="34500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Digitalização da campanha</a:t>
            </a:r>
            <a:endParaRPr lang="en-US" sz="1120" dirty="0"/>
          </a:p>
        </p:txBody>
      </p:sp>
      <p:sp>
        <p:nvSpPr>
          <p:cNvPr id="17" name="Text 13"/>
          <p:cNvSpPr txBox="1"/>
          <p:nvPr/>
        </p:nvSpPr>
        <p:spPr>
          <a:xfrm>
            <a:off x="7836408" y="2560320"/>
            <a:ext cx="34500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Levar a canal digital o pagamento a 120 mil produtores retira do terreno muito numerário.</a:t>
            </a:r>
            <a:endParaRPr lang="en-US" sz="880" dirty="0"/>
          </a:p>
        </p:txBody>
      </p:sp>
      <p:sp>
        <p:nvSpPr>
          <p:cNvPr id="18" name="Shape 14"/>
          <p:cNvSpPr/>
          <p:nvPr/>
        </p:nvSpPr>
        <p:spPr>
          <a:xfrm>
            <a:off x="7616952" y="3035808"/>
            <a:ext cx="3888943" cy="713232"/>
          </a:xfrm>
          <a:prstGeom prst="roundRect">
            <a:avLst>
              <a:gd name="adj" fmla="val 7692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7836408" y="3108960"/>
            <a:ext cx="34500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Crédito de insumos</a:t>
            </a:r>
            <a:endParaRPr lang="en-US" sz="1120" dirty="0"/>
          </a:p>
        </p:txBody>
      </p:sp>
      <p:sp>
        <p:nvSpPr>
          <p:cNvPr id="20" name="Text 16"/>
          <p:cNvSpPr txBox="1"/>
          <p:nvPr/>
        </p:nvSpPr>
        <p:spPr>
          <a:xfrm>
            <a:off x="7836408" y="3346704"/>
            <a:ext cx="34500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Garantido pelo contrato de compra. O mecanismo de fomento já existe; falta o instrumento financeiro.</a:t>
            </a:r>
            <a:endParaRPr lang="en-US" sz="880" dirty="0"/>
          </a:p>
        </p:txBody>
      </p:sp>
      <p:sp>
        <p:nvSpPr>
          <p:cNvPr id="21" name="Shape 17"/>
          <p:cNvSpPr/>
          <p:nvPr/>
        </p:nvSpPr>
        <p:spPr>
          <a:xfrm>
            <a:off x="7616952" y="3822192"/>
            <a:ext cx="3888943" cy="713232"/>
          </a:xfrm>
          <a:prstGeom prst="roundRect">
            <a:avLst>
              <a:gd name="adj" fmla="val 7692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18"/>
          <p:cNvSpPr txBox="1"/>
          <p:nvPr/>
        </p:nvSpPr>
        <p:spPr>
          <a:xfrm>
            <a:off x="7836408" y="3895344"/>
            <a:ext cx="34500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Comércio internacional e câmbio</a:t>
            </a:r>
            <a:endParaRPr lang="en-US" sz="1120" dirty="0"/>
          </a:p>
        </p:txBody>
      </p:sp>
      <p:sp>
        <p:nvSpPr>
          <p:cNvPr id="23" name="Text 19"/>
          <p:cNvSpPr txBox="1"/>
          <p:nvPr/>
        </p:nvSpPr>
        <p:spPr>
          <a:xfrm>
            <a:off x="7836408" y="4133088"/>
            <a:ext cx="34500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 unidade de Tete dispõe de 50.000 t por ano de capacidade, integralmente destinada a exportação.</a:t>
            </a:r>
            <a:endParaRPr lang="en-US" sz="880" dirty="0"/>
          </a:p>
        </p:txBody>
      </p:sp>
      <p:sp>
        <p:nvSpPr>
          <p:cNvPr id="24" name="Shape 20"/>
          <p:cNvSpPr/>
          <p:nvPr/>
        </p:nvSpPr>
        <p:spPr>
          <a:xfrm>
            <a:off x="7616952" y="4608576"/>
            <a:ext cx="3888943" cy="713232"/>
          </a:xfrm>
          <a:prstGeom prst="roundRect">
            <a:avLst>
              <a:gd name="adj" fmla="val 7692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Text 21"/>
          <p:cNvSpPr txBox="1"/>
          <p:nvPr/>
        </p:nvSpPr>
        <p:spPr>
          <a:xfrm>
            <a:off x="7836408" y="4681728"/>
            <a:ext cx="34500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Processamento salarial sazonal</a:t>
            </a:r>
            <a:endParaRPr lang="en-US" sz="1120" dirty="0"/>
          </a:p>
        </p:txBody>
      </p:sp>
      <p:sp>
        <p:nvSpPr>
          <p:cNvPr id="26" name="Text 22"/>
          <p:cNvSpPr txBox="1"/>
          <p:nvPr/>
        </p:nvSpPr>
        <p:spPr>
          <a:xfrm>
            <a:off x="7836408" y="4919472"/>
            <a:ext cx="34500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Milhares de trabalhadores temporários por campanha, hoje fora do sistema bancário formal.</a:t>
            </a:r>
            <a:endParaRPr lang="en-US" sz="880" dirty="0"/>
          </a:p>
        </p:txBody>
      </p:sp>
      <p:sp>
        <p:nvSpPr>
          <p:cNvPr id="27" name="Shape 23"/>
          <p:cNvSpPr/>
          <p:nvPr/>
        </p:nvSpPr>
        <p:spPr>
          <a:xfrm>
            <a:off x="685800" y="5376672"/>
            <a:ext cx="10820095" cy="512064"/>
          </a:xfrm>
          <a:prstGeom prst="roundRect">
            <a:avLst>
              <a:gd name="adj" fmla="val 10714"/>
            </a:avLst>
          </a:prstGeom>
          <a:solidFill>
            <a:srgbClr val="3A3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1014984" y="5376672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Campanha de 2024/25: mais de 54.000 t em Tete, cerca de 15.500 t no Niassa e cerca de 10.000 t na Zambézia. Os comerciantes de folha completam a fileira.</a:t>
            </a:r>
            <a:endParaRPr 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1892808" y="6291072"/>
            <a:ext cx="8808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494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Fontes: Banco de Moçambique, exportações de tabaco em 2025 · Universal Corporation · Mozambique Leaf Tobacco.</a:t>
            </a:r>
            <a:endParaRPr lang="en-US" sz="850" dirty="0"/>
          </a:p>
        </p:txBody>
      </p:sp>
    </p:spTree>
  </p:cSld>
  <p:clrMapOvr>
    <a:masterClrMapping/>
  </p:clrMapOvr>
  <p:transition spd="slow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3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5" dur="420" fill="hold"/>
                                        <p:tgtEl>
                                          <p:spTgt spid="12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58" presetID="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0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2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46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46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46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023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ALGODÃO · CERCA DE 50 MIL TONELADAS ANUAIS E 150 MIL PRODUTORES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94944"/>
            <a:ext cx="7772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Cinco concessionárias, um mesmo mecanismo de fomento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6420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O insumo é adiantado ao produtor e recuperado no momento da compra. É uma estrutura de crédito já existente no terreno, que ao Banco cabe formalizar.</a:t>
            </a:r>
            <a:endParaRPr lang="en-US" sz="1300" dirty="0"/>
          </a:p>
        </p:txBody>
      </p:sp>
      <p:pic>
        <p:nvPicPr>
          <p:cNvPr id="5" name="Image 0" descr="/tmp/claude-0/-home-user-momo/176296df-944e-550c-879f-516f4be80ca0/scratchpad/unpacked/ppt/media/image1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705088" y="402336"/>
            <a:ext cx="2798064" cy="1572768"/>
          </a:xfrm>
          <a:prstGeom prst="rect">
            <a:avLst/>
          </a:prstGeom>
        </p:spPr>
      </p:pic>
      <p:pic>
        <p:nvPicPr>
          <p:cNvPr id="6" name="Image 1" descr="/tmp/claude-0/-home-user-momo/176296df-944e-550c-879f-516f4be80ca0/scratchpad/unpacked/ppt/media/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272784"/>
            <a:ext cx="1024128" cy="30175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957255" y="634593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94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685800" y="2249424"/>
            <a:ext cx="1988454" cy="3858768"/>
          </a:xfrm>
          <a:prstGeom prst="roundRect">
            <a:avLst>
              <a:gd name="adj" fmla="val 2759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868680" y="2414016"/>
            <a:ext cx="1078992" cy="237744"/>
          </a:xfrm>
          <a:prstGeom prst="roundRect">
            <a:avLst>
              <a:gd name="adj" fmla="val 50000"/>
            </a:avLst>
          </a:prstGeom>
          <a:solidFill>
            <a:srgbClr val="3A3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68680" y="241401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SEGMENTO 2</a:t>
            </a:r>
            <a:endParaRPr lang="en-US" sz="74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2688336"/>
            <a:ext cx="16226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SANAM, de Namialo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3218688"/>
            <a:ext cx="16226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4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Concessão nacional, em articulação com a Olam</a:t>
            </a:r>
            <a:endParaRPr lang="en-US" sz="840" dirty="0"/>
          </a:p>
        </p:txBody>
      </p:sp>
      <p:sp>
        <p:nvSpPr>
          <p:cNvPr id="13" name="Shape 9"/>
          <p:cNvSpPr/>
          <p:nvPr/>
        </p:nvSpPr>
        <p:spPr>
          <a:xfrm>
            <a:off x="868680" y="3621024"/>
            <a:ext cx="1622694" cy="10973"/>
          </a:xfrm>
          <a:prstGeom prst="rect">
            <a:avLst/>
          </a:prstGeom>
          <a:solidFill>
            <a:srgbClr val="E6E6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68680" y="3721608"/>
            <a:ext cx="16226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80.000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868680" y="4087368"/>
            <a:ext cx="16226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pequenos produtores, em cerca de 56.000 hectares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868680" y="4572000"/>
            <a:ext cx="16226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i="1" dirty="0">
                <a:solidFill>
                  <a:srgbClr val="8E878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Nampula</a:t>
            </a:r>
            <a:endParaRPr lang="en-US" sz="840" dirty="0"/>
          </a:p>
        </p:txBody>
      </p:sp>
      <p:sp>
        <p:nvSpPr>
          <p:cNvPr id="17" name="Text 13"/>
          <p:cNvSpPr txBox="1"/>
          <p:nvPr/>
        </p:nvSpPr>
        <p:spPr>
          <a:xfrm>
            <a:off x="868680" y="4791456"/>
            <a:ext cx="162269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80" kern="0" dirty="0">
                <a:solidFill>
                  <a:srgbClr val="A89F9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OPORTUNIDADE PARA O BANCO</a:t>
            </a:r>
            <a:endParaRPr lang="en-US" sz="680" dirty="0"/>
          </a:p>
        </p:txBody>
      </p:sp>
      <p:sp>
        <p:nvSpPr>
          <p:cNvPr id="18" name="Text 14"/>
          <p:cNvSpPr txBox="1"/>
          <p:nvPr/>
        </p:nvSpPr>
        <p:spPr>
          <a:xfrm>
            <a:off x="868680" y="4956048"/>
            <a:ext cx="162269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Fomento agrícola · descaroçamento · antecipação de recebimentos de exportação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2893710" y="2249424"/>
            <a:ext cx="1988454" cy="3858768"/>
          </a:xfrm>
          <a:prstGeom prst="roundRect">
            <a:avLst>
              <a:gd name="adj" fmla="val 2759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076590" y="2414016"/>
            <a:ext cx="1078992" cy="237744"/>
          </a:xfrm>
          <a:prstGeom prst="roundRect">
            <a:avLst>
              <a:gd name="adj" fmla="val 50000"/>
            </a:avLst>
          </a:prstGeom>
          <a:solidFill>
            <a:srgbClr val="3A3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3076590" y="241401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SEGMENTO 2</a:t>
            </a:r>
            <a:endParaRPr lang="en-US" sz="740" dirty="0"/>
          </a:p>
        </p:txBody>
      </p:sp>
      <p:sp>
        <p:nvSpPr>
          <p:cNvPr id="22" name="Text 18"/>
          <p:cNvSpPr txBox="1"/>
          <p:nvPr/>
        </p:nvSpPr>
        <p:spPr>
          <a:xfrm>
            <a:off x="3076590" y="2688336"/>
            <a:ext cx="16226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SAN, do Niassa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3076590" y="3218688"/>
            <a:ext cx="16226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4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Grupo João Ferreira dos Santos</a:t>
            </a:r>
            <a:endParaRPr lang="en-US" sz="840" dirty="0"/>
          </a:p>
        </p:txBody>
      </p:sp>
      <p:sp>
        <p:nvSpPr>
          <p:cNvPr id="24" name="Shape 20"/>
          <p:cNvSpPr/>
          <p:nvPr/>
        </p:nvSpPr>
        <p:spPr>
          <a:xfrm>
            <a:off x="3076590" y="3621024"/>
            <a:ext cx="1622694" cy="10973"/>
          </a:xfrm>
          <a:prstGeom prst="rect">
            <a:avLst/>
          </a:prstGeom>
          <a:solidFill>
            <a:srgbClr val="E6E6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3076590" y="3721608"/>
            <a:ext cx="16226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60.000</a:t>
            </a:r>
            <a:endParaRPr lang="en-US" sz="1700" dirty="0"/>
          </a:p>
        </p:txBody>
      </p:sp>
      <p:sp>
        <p:nvSpPr>
          <p:cNvPr id="26" name="Text 22"/>
          <p:cNvSpPr txBox="1"/>
          <p:nvPr/>
        </p:nvSpPr>
        <p:spPr>
          <a:xfrm>
            <a:off x="3076590" y="4087368"/>
            <a:ext cx="16226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produtores; das maiores exportadoras nacionais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3076590" y="4572000"/>
            <a:ext cx="16226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i="1" dirty="0">
                <a:solidFill>
                  <a:srgbClr val="8E878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Niassa e Nampula</a:t>
            </a:r>
            <a:endParaRPr lang="en-US" sz="840" dirty="0"/>
          </a:p>
        </p:txBody>
      </p:sp>
      <p:sp>
        <p:nvSpPr>
          <p:cNvPr id="28" name="Text 24"/>
          <p:cNvSpPr txBox="1"/>
          <p:nvPr/>
        </p:nvSpPr>
        <p:spPr>
          <a:xfrm>
            <a:off x="3076590" y="4791456"/>
            <a:ext cx="162269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80" kern="0" dirty="0">
                <a:solidFill>
                  <a:srgbClr val="A89F9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OPORTUNIDADE PARA O BANCO</a:t>
            </a:r>
            <a:endParaRPr lang="en-US" sz="680" dirty="0"/>
          </a:p>
        </p:txBody>
      </p:sp>
      <p:sp>
        <p:nvSpPr>
          <p:cNvPr id="29" name="Text 25"/>
          <p:cNvSpPr txBox="1"/>
          <p:nvPr/>
        </p:nvSpPr>
        <p:spPr>
          <a:xfrm>
            <a:off x="3076590" y="4956048"/>
            <a:ext cx="162269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Fomento agrícola · financiamento de activos · tesouraria multiprovincial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5101620" y="2249424"/>
            <a:ext cx="1988454" cy="3858768"/>
          </a:xfrm>
          <a:prstGeom prst="roundRect">
            <a:avLst>
              <a:gd name="adj" fmla="val 2759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5284500" y="2414016"/>
            <a:ext cx="1078992" cy="237744"/>
          </a:xfrm>
          <a:prstGeom prst="roundRect">
            <a:avLst>
              <a:gd name="adj" fmla="val 50000"/>
            </a:avLst>
          </a:prstGeom>
          <a:solidFill>
            <a:srgbClr val="3A3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5284500" y="241401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SEGMENTO 2</a:t>
            </a:r>
            <a:endParaRPr lang="en-US" sz="740" dirty="0"/>
          </a:p>
        </p:txBody>
      </p:sp>
      <p:sp>
        <p:nvSpPr>
          <p:cNvPr id="33" name="Text 29"/>
          <p:cNvSpPr txBox="1"/>
          <p:nvPr/>
        </p:nvSpPr>
        <p:spPr>
          <a:xfrm>
            <a:off x="5284500" y="2688336"/>
            <a:ext cx="16226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SAM, de Mutuali</a:t>
            </a:r>
            <a:endParaRPr lang="en-US" sz="1150" dirty="0"/>
          </a:p>
        </p:txBody>
      </p:sp>
      <p:sp>
        <p:nvSpPr>
          <p:cNvPr id="34" name="Text 30"/>
          <p:cNvSpPr txBox="1"/>
          <p:nvPr/>
        </p:nvSpPr>
        <p:spPr>
          <a:xfrm>
            <a:off x="5284500" y="3218688"/>
            <a:ext cx="16226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4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Concessão nacional</a:t>
            </a:r>
            <a:endParaRPr lang="en-US" sz="840" dirty="0"/>
          </a:p>
        </p:txBody>
      </p:sp>
      <p:sp>
        <p:nvSpPr>
          <p:cNvPr id="35" name="Shape 31"/>
          <p:cNvSpPr/>
          <p:nvPr/>
        </p:nvSpPr>
        <p:spPr>
          <a:xfrm>
            <a:off x="5284500" y="3621024"/>
            <a:ext cx="1622694" cy="10973"/>
          </a:xfrm>
          <a:prstGeom prst="rect">
            <a:avLst/>
          </a:prstGeom>
          <a:solidFill>
            <a:srgbClr val="E6E6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5284500" y="3721608"/>
            <a:ext cx="16226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Armazéns</a:t>
            </a:r>
            <a:endParaRPr lang="en-US" sz="1700" dirty="0"/>
          </a:p>
        </p:txBody>
      </p:sp>
      <p:sp>
        <p:nvSpPr>
          <p:cNvPr id="37" name="Text 33"/>
          <p:cNvSpPr txBox="1"/>
          <p:nvPr/>
        </p:nvSpPr>
        <p:spPr>
          <a:xfrm>
            <a:off x="5284500" y="4087368"/>
            <a:ext cx="16226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novas unidades de armazenagem em construção</a:t>
            </a:r>
            <a:endParaRPr lang="en-US" sz="900" dirty="0"/>
          </a:p>
        </p:txBody>
      </p:sp>
      <p:sp>
        <p:nvSpPr>
          <p:cNvPr id="38" name="Text 34"/>
          <p:cNvSpPr txBox="1"/>
          <p:nvPr/>
        </p:nvSpPr>
        <p:spPr>
          <a:xfrm>
            <a:off x="5284500" y="4572000"/>
            <a:ext cx="16226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i="1" dirty="0">
                <a:solidFill>
                  <a:srgbClr val="8E878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Malema, Nampula</a:t>
            </a:r>
            <a:endParaRPr lang="en-US" sz="840" dirty="0"/>
          </a:p>
        </p:txBody>
      </p:sp>
      <p:sp>
        <p:nvSpPr>
          <p:cNvPr id="39" name="Text 35"/>
          <p:cNvSpPr txBox="1"/>
          <p:nvPr/>
        </p:nvSpPr>
        <p:spPr>
          <a:xfrm>
            <a:off x="5284500" y="4791456"/>
            <a:ext cx="162269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80" kern="0" dirty="0">
                <a:solidFill>
                  <a:srgbClr val="A89F9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OPORTUNIDADE PARA O BANCO</a:t>
            </a:r>
            <a:endParaRPr lang="en-US" sz="680" dirty="0"/>
          </a:p>
        </p:txBody>
      </p:sp>
      <p:sp>
        <p:nvSpPr>
          <p:cNvPr id="40" name="Text 36"/>
          <p:cNvSpPr txBox="1"/>
          <p:nvPr/>
        </p:nvSpPr>
        <p:spPr>
          <a:xfrm>
            <a:off x="5284500" y="4956048"/>
            <a:ext cx="162269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Crédito sobre mercadoria armazenada · investimento fabril · capital de exploração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7309531" y="2249424"/>
            <a:ext cx="1988454" cy="3858768"/>
          </a:xfrm>
          <a:prstGeom prst="roundRect">
            <a:avLst>
              <a:gd name="adj" fmla="val 2759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42" name="Shape 38"/>
          <p:cNvSpPr/>
          <p:nvPr/>
        </p:nvSpPr>
        <p:spPr>
          <a:xfrm>
            <a:off x="7492411" y="2414016"/>
            <a:ext cx="1078992" cy="237744"/>
          </a:xfrm>
          <a:prstGeom prst="roundRect">
            <a:avLst>
              <a:gd name="adj" fmla="val 50000"/>
            </a:avLst>
          </a:prstGeom>
          <a:solidFill>
            <a:srgbClr val="DC00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7492411" y="241401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SEGMENTO 1</a:t>
            </a:r>
            <a:endParaRPr lang="en-US" sz="740" dirty="0"/>
          </a:p>
        </p:txBody>
      </p:sp>
      <p:sp>
        <p:nvSpPr>
          <p:cNvPr id="44" name="Text 40"/>
          <p:cNvSpPr txBox="1"/>
          <p:nvPr/>
        </p:nvSpPr>
        <p:spPr>
          <a:xfrm>
            <a:off x="7492411" y="2688336"/>
            <a:ext cx="16226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Olam Agri Moçambique</a:t>
            </a:r>
            <a:endParaRPr lang="en-US" sz="1150" dirty="0"/>
          </a:p>
        </p:txBody>
      </p:sp>
      <p:sp>
        <p:nvSpPr>
          <p:cNvPr id="45" name="Text 41"/>
          <p:cNvSpPr txBox="1"/>
          <p:nvPr/>
        </p:nvSpPr>
        <p:spPr>
          <a:xfrm>
            <a:off x="7492411" y="3218688"/>
            <a:ext cx="16226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4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Olam, grupo multinacional</a:t>
            </a:r>
            <a:endParaRPr lang="en-US" sz="840" dirty="0"/>
          </a:p>
        </p:txBody>
      </p:sp>
      <p:sp>
        <p:nvSpPr>
          <p:cNvPr id="46" name="Shape 42"/>
          <p:cNvSpPr/>
          <p:nvPr/>
        </p:nvSpPr>
        <p:spPr>
          <a:xfrm>
            <a:off x="7492411" y="3621024"/>
            <a:ext cx="1622694" cy="10973"/>
          </a:xfrm>
          <a:prstGeom prst="rect">
            <a:avLst/>
          </a:prstGeom>
          <a:solidFill>
            <a:srgbClr val="E6E6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7492411" y="3721608"/>
            <a:ext cx="16226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Três fileiras</a:t>
            </a:r>
            <a:endParaRPr lang="en-US" sz="1700" dirty="0"/>
          </a:p>
        </p:txBody>
      </p:sp>
      <p:sp>
        <p:nvSpPr>
          <p:cNvPr id="48" name="Text 44"/>
          <p:cNvSpPr txBox="1"/>
          <p:nvPr/>
        </p:nvSpPr>
        <p:spPr>
          <a:xfrm>
            <a:off x="7492411" y="4087368"/>
            <a:ext cx="16226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algodão, sésamo e castanha de caju</a:t>
            </a:r>
            <a:endParaRPr lang="en-US" sz="900" dirty="0"/>
          </a:p>
        </p:txBody>
      </p:sp>
      <p:sp>
        <p:nvSpPr>
          <p:cNvPr id="49" name="Text 45"/>
          <p:cNvSpPr txBox="1"/>
          <p:nvPr/>
        </p:nvSpPr>
        <p:spPr>
          <a:xfrm>
            <a:off x="7492411" y="4572000"/>
            <a:ext cx="16226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i="1" dirty="0">
                <a:solidFill>
                  <a:srgbClr val="8E878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Nampula e Cabo Delgado</a:t>
            </a:r>
            <a:endParaRPr lang="en-US" sz="840" dirty="0"/>
          </a:p>
        </p:txBody>
      </p:sp>
      <p:sp>
        <p:nvSpPr>
          <p:cNvPr id="50" name="Text 46"/>
          <p:cNvSpPr txBox="1"/>
          <p:nvPr/>
        </p:nvSpPr>
        <p:spPr>
          <a:xfrm>
            <a:off x="7492411" y="4791456"/>
            <a:ext cx="162269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80" kern="0" dirty="0">
                <a:solidFill>
                  <a:srgbClr val="A89F9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OPORTUNIDADE PARA O BANCO</a:t>
            </a:r>
            <a:endParaRPr lang="en-US" sz="680" dirty="0"/>
          </a:p>
        </p:txBody>
      </p:sp>
      <p:sp>
        <p:nvSpPr>
          <p:cNvPr id="51" name="Text 47"/>
          <p:cNvSpPr txBox="1"/>
          <p:nvPr/>
        </p:nvSpPr>
        <p:spPr>
          <a:xfrm>
            <a:off x="7492411" y="4956048"/>
            <a:ext cx="162269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Financiamento pré-exportação · câmbio · pagamento a agregadores no terreno</a:t>
            </a:r>
            <a:endParaRPr lang="en-US" sz="900" dirty="0"/>
          </a:p>
        </p:txBody>
      </p:sp>
      <p:sp>
        <p:nvSpPr>
          <p:cNvPr id="52" name="Shape 48"/>
          <p:cNvSpPr/>
          <p:nvPr/>
        </p:nvSpPr>
        <p:spPr>
          <a:xfrm>
            <a:off x="9517441" y="2249424"/>
            <a:ext cx="1988454" cy="3858768"/>
          </a:xfrm>
          <a:prstGeom prst="roundRect">
            <a:avLst>
              <a:gd name="adj" fmla="val 2759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53" name="Shape 49"/>
          <p:cNvSpPr/>
          <p:nvPr/>
        </p:nvSpPr>
        <p:spPr>
          <a:xfrm>
            <a:off x="9700321" y="2414016"/>
            <a:ext cx="1078992" cy="237744"/>
          </a:xfrm>
          <a:prstGeom prst="roundRect">
            <a:avLst>
              <a:gd name="adj" fmla="val 50000"/>
            </a:avLst>
          </a:prstGeom>
          <a:solidFill>
            <a:srgbClr val="3A3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9700321" y="241401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SEGMENTO 2</a:t>
            </a:r>
            <a:endParaRPr lang="en-US" sz="740" dirty="0"/>
          </a:p>
        </p:txBody>
      </p:sp>
      <p:sp>
        <p:nvSpPr>
          <p:cNvPr id="55" name="Text 51"/>
          <p:cNvSpPr txBox="1"/>
          <p:nvPr/>
        </p:nvSpPr>
        <p:spPr>
          <a:xfrm>
            <a:off x="9700321" y="2688336"/>
            <a:ext cx="16226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Plexus Mozambique</a:t>
            </a:r>
            <a:endParaRPr lang="en-US" sz="1150" dirty="0"/>
          </a:p>
        </p:txBody>
      </p:sp>
      <p:sp>
        <p:nvSpPr>
          <p:cNvPr id="56" name="Text 52"/>
          <p:cNvSpPr txBox="1"/>
          <p:nvPr/>
        </p:nvSpPr>
        <p:spPr>
          <a:xfrm>
            <a:off x="9700321" y="3218688"/>
            <a:ext cx="16226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4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Capital internacional</a:t>
            </a:r>
            <a:endParaRPr lang="en-US" sz="840" dirty="0"/>
          </a:p>
        </p:txBody>
      </p:sp>
      <p:sp>
        <p:nvSpPr>
          <p:cNvPr id="57" name="Shape 53"/>
          <p:cNvSpPr/>
          <p:nvPr/>
        </p:nvSpPr>
        <p:spPr>
          <a:xfrm>
            <a:off x="9700321" y="3621024"/>
            <a:ext cx="1622694" cy="10973"/>
          </a:xfrm>
          <a:prstGeom prst="rect">
            <a:avLst/>
          </a:prstGeom>
          <a:solidFill>
            <a:srgbClr val="E6E6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4"/>
          <p:cNvSpPr txBox="1"/>
          <p:nvPr/>
        </p:nvSpPr>
        <p:spPr>
          <a:xfrm>
            <a:off x="9700321" y="3721608"/>
            <a:ext cx="16226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Fibra</a:t>
            </a:r>
            <a:endParaRPr lang="en-US" sz="1700" dirty="0"/>
          </a:p>
        </p:txBody>
      </p:sp>
      <p:sp>
        <p:nvSpPr>
          <p:cNvPr id="59" name="Text 55"/>
          <p:cNvSpPr txBox="1"/>
          <p:nvPr/>
        </p:nvSpPr>
        <p:spPr>
          <a:xfrm>
            <a:off x="9700321" y="4087368"/>
            <a:ext cx="16226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descaroçamento e exportação de fibra de algodão</a:t>
            </a:r>
            <a:endParaRPr lang="en-US" sz="900" dirty="0"/>
          </a:p>
        </p:txBody>
      </p:sp>
      <p:sp>
        <p:nvSpPr>
          <p:cNvPr id="60" name="Text 56"/>
          <p:cNvSpPr txBox="1"/>
          <p:nvPr/>
        </p:nvSpPr>
        <p:spPr>
          <a:xfrm>
            <a:off x="9700321" y="4572000"/>
            <a:ext cx="16226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i="1" dirty="0">
                <a:solidFill>
                  <a:srgbClr val="8E878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Nampula</a:t>
            </a:r>
            <a:endParaRPr lang="en-US" sz="840" dirty="0"/>
          </a:p>
        </p:txBody>
      </p:sp>
      <p:sp>
        <p:nvSpPr>
          <p:cNvPr id="61" name="Text 57"/>
          <p:cNvSpPr txBox="1"/>
          <p:nvPr/>
        </p:nvSpPr>
        <p:spPr>
          <a:xfrm>
            <a:off x="9700321" y="4791456"/>
            <a:ext cx="162269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80" kern="0" dirty="0">
                <a:solidFill>
                  <a:srgbClr val="A89F9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OPORTUNIDADE PARA O BANCO</a:t>
            </a:r>
            <a:endParaRPr lang="en-US" sz="680" dirty="0"/>
          </a:p>
        </p:txBody>
      </p:sp>
      <p:sp>
        <p:nvSpPr>
          <p:cNvPr id="62" name="Text 58"/>
          <p:cNvSpPr txBox="1"/>
          <p:nvPr/>
        </p:nvSpPr>
        <p:spPr>
          <a:xfrm>
            <a:off x="9700321" y="4956048"/>
            <a:ext cx="162269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Capital de campanha · financiamento ao comércio internacional</a:t>
            </a:r>
            <a:endParaRPr lang="en-US" sz="900" dirty="0"/>
          </a:p>
        </p:txBody>
      </p:sp>
      <p:sp>
        <p:nvSpPr>
          <p:cNvPr id="63" name="Text 59"/>
          <p:cNvSpPr txBox="1"/>
          <p:nvPr/>
        </p:nvSpPr>
        <p:spPr>
          <a:xfrm>
            <a:off x="1892808" y="6291072"/>
            <a:ext cx="8808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494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Fontes: Instituto do Algodão e Oleaginosas · Associação Algodoeira de Moçambique · Better Cotton · Ministério da Agricultura, Ambiente e Pescas.</a:t>
            </a:r>
            <a:endParaRPr lang="en-US" sz="850" dirty="0"/>
          </a:p>
        </p:txBody>
      </p:sp>
    </p:spTree>
  </p:cSld>
  <p:clrMapOvr>
    <a:masterClrMapping/>
  </p:clrMapOvr>
  <p:transition spd="slow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4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4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" dur="4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4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4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2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4" dur="4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5" dur="4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0" dur="4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1" dur="4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4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6" dur="4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7" dur="4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0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2" dur="4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3" dur="4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6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8" dur="4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9" dur="4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2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4" dur="4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5" dur="4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8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0" dur="4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1" dur="4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4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6" dur="4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7" dur="4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2" dur="4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3" dur="4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6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8" dur="4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9" dur="4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2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4" dur="4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5" dur="4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8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0" dur="4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1" dur="4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4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6" dur="4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7" dur="4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0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2" dur="4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3" dur="4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6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8" dur="4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9" dur="4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2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4" dur="4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5" dur="4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8" presetID="2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0" dur="4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1" dur="4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4" presetID="2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6" dur="4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7" dur="4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0" presetID="2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2" dur="4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3" dur="4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6" presetID="2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8" dur="4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9" dur="4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2" presetID="2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4" dur="4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5" dur="4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8" presetID="2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0" dur="4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1" dur="4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4" presetID="2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6" dur="4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7" dur="4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0" presetID="2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2" dur="4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3" dur="4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6" presetID="2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8" dur="42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9" dur="42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2" presetID="2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4" dur="42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5" dur="42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8" presetID="2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0" dur="42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1" dur="42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4" presetID="2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6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7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0" presetID="10" presetClass="entr" presetSubtype="0" fill="hold" grpId="0" nodeType="withEffect">
                                  <p:stCondLst>
                                    <p:cond delay="174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2" dur="46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023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PROTEÍNA ANIMAL E GRUPOS DIVERSIFICADOS · CERCA DE 135 MIL TONELADAS DE FRANGO POR ANO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94944"/>
            <a:ext cx="7772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Três líderes regionais integrados e dois grupos de fileira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6420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Todos adquirem milho e soja em moeda estrangeira, todos investem em cadeia de frio e abate, e todos remuneram criadores integrados.</a:t>
            </a:r>
            <a:endParaRPr lang="en-US" sz="1300" dirty="0"/>
          </a:p>
        </p:txBody>
      </p:sp>
      <p:pic>
        <p:nvPicPr>
          <p:cNvPr id="5" name="Image 0" descr="/tmp/claude-0/-home-user-momo/176296df-944e-550c-879f-516f4be80ca0/scratchpad/unpacked/ppt/media/image1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705088" y="402336"/>
            <a:ext cx="2798064" cy="1572768"/>
          </a:xfrm>
          <a:prstGeom prst="rect">
            <a:avLst/>
          </a:prstGeom>
        </p:spPr>
      </p:pic>
      <p:pic>
        <p:nvPicPr>
          <p:cNvPr id="6" name="Image 1" descr="/tmp/claude-0/-home-user-momo/176296df-944e-550c-879f-516f4be80ca0/scratchpad/unpacked/ppt/media/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272784"/>
            <a:ext cx="1024128" cy="30175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957255" y="634593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94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685800" y="2249424"/>
            <a:ext cx="1988454" cy="3858768"/>
          </a:xfrm>
          <a:prstGeom prst="roundRect">
            <a:avLst>
              <a:gd name="adj" fmla="val 2759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868680" y="2414016"/>
            <a:ext cx="1078992" cy="237744"/>
          </a:xfrm>
          <a:prstGeom prst="roundRect">
            <a:avLst>
              <a:gd name="adj" fmla="val 50000"/>
            </a:avLst>
          </a:prstGeom>
          <a:solidFill>
            <a:srgbClr val="3A3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68680" y="241401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SEGMENTO 2</a:t>
            </a:r>
            <a:endParaRPr lang="en-US" sz="74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2688336"/>
            <a:ext cx="16226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Higest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3218688"/>
            <a:ext cx="16226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4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Capital moçambicano e português, desde há 25 anos</a:t>
            </a:r>
            <a:endParaRPr lang="en-US" sz="840" dirty="0"/>
          </a:p>
        </p:txBody>
      </p:sp>
      <p:sp>
        <p:nvSpPr>
          <p:cNvPr id="13" name="Shape 9"/>
          <p:cNvSpPr/>
          <p:nvPr/>
        </p:nvSpPr>
        <p:spPr>
          <a:xfrm>
            <a:off x="868680" y="3621024"/>
            <a:ext cx="1622694" cy="10973"/>
          </a:xfrm>
          <a:prstGeom prst="rect">
            <a:avLst/>
          </a:prstGeom>
          <a:solidFill>
            <a:srgbClr val="E6E6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68680" y="3721608"/>
            <a:ext cx="16226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Sul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868680" y="4087368"/>
            <a:ext cx="16226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líder integrado: ração, pintos do dia e frango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868680" y="4572000"/>
            <a:ext cx="16226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i="1" dirty="0">
                <a:solidFill>
                  <a:srgbClr val="8E878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Maputo e região sul</a:t>
            </a:r>
            <a:endParaRPr lang="en-US" sz="840" dirty="0"/>
          </a:p>
        </p:txBody>
      </p:sp>
      <p:sp>
        <p:nvSpPr>
          <p:cNvPr id="17" name="Text 13"/>
          <p:cNvSpPr txBox="1"/>
          <p:nvPr/>
        </p:nvSpPr>
        <p:spPr>
          <a:xfrm>
            <a:off x="868680" y="4791456"/>
            <a:ext cx="162269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80" kern="0" dirty="0">
                <a:solidFill>
                  <a:srgbClr val="A89F9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OPORTUNIDADE PARA O BANCO</a:t>
            </a:r>
            <a:endParaRPr lang="en-US" sz="680" dirty="0"/>
          </a:p>
        </p:txBody>
      </p:sp>
      <p:sp>
        <p:nvSpPr>
          <p:cNvPr id="18" name="Text 14"/>
          <p:cNvSpPr txBox="1"/>
          <p:nvPr/>
        </p:nvSpPr>
        <p:spPr>
          <a:xfrm>
            <a:off x="868680" y="4956048"/>
            <a:ext cx="162269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Crédito documentário e câmbio · investimento em abate · crédito a distribuidores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2893710" y="2249424"/>
            <a:ext cx="1988454" cy="3858768"/>
          </a:xfrm>
          <a:prstGeom prst="roundRect">
            <a:avLst>
              <a:gd name="adj" fmla="val 2759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076590" y="2414016"/>
            <a:ext cx="1078992" cy="237744"/>
          </a:xfrm>
          <a:prstGeom prst="roundRect">
            <a:avLst>
              <a:gd name="adj" fmla="val 50000"/>
            </a:avLst>
          </a:prstGeom>
          <a:solidFill>
            <a:srgbClr val="3A3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3076590" y="241401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SEGMENTO 2</a:t>
            </a:r>
            <a:endParaRPr lang="en-US" sz="740" dirty="0"/>
          </a:p>
        </p:txBody>
      </p:sp>
      <p:sp>
        <p:nvSpPr>
          <p:cNvPr id="22" name="Text 18"/>
          <p:cNvSpPr txBox="1"/>
          <p:nvPr/>
        </p:nvSpPr>
        <p:spPr>
          <a:xfrm>
            <a:off x="3076590" y="2688336"/>
            <a:ext cx="16226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Abílio Antunes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3076590" y="3218688"/>
            <a:ext cx="16226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4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Capital moçambicano</a:t>
            </a:r>
            <a:endParaRPr lang="en-US" sz="840" dirty="0"/>
          </a:p>
        </p:txBody>
      </p:sp>
      <p:sp>
        <p:nvSpPr>
          <p:cNvPr id="24" name="Shape 20"/>
          <p:cNvSpPr/>
          <p:nvPr/>
        </p:nvSpPr>
        <p:spPr>
          <a:xfrm>
            <a:off x="3076590" y="3621024"/>
            <a:ext cx="1622694" cy="10973"/>
          </a:xfrm>
          <a:prstGeom prst="rect">
            <a:avLst/>
          </a:prstGeom>
          <a:solidFill>
            <a:srgbClr val="E6E6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3076590" y="3721608"/>
            <a:ext cx="16226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Centro</a:t>
            </a:r>
            <a:endParaRPr lang="en-US" sz="1700" dirty="0"/>
          </a:p>
        </p:txBody>
      </p:sp>
      <p:sp>
        <p:nvSpPr>
          <p:cNvPr id="26" name="Text 22"/>
          <p:cNvSpPr txBox="1"/>
          <p:nvPr/>
        </p:nvSpPr>
        <p:spPr>
          <a:xfrm>
            <a:off x="3076590" y="4087368"/>
            <a:ext cx="16226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integração vertical, com extracção de óleo de soja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3076590" y="4572000"/>
            <a:ext cx="16226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i="1" dirty="0">
                <a:solidFill>
                  <a:srgbClr val="8E878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Chimoio, Manica</a:t>
            </a:r>
            <a:endParaRPr lang="en-US" sz="840" dirty="0"/>
          </a:p>
        </p:txBody>
      </p:sp>
      <p:sp>
        <p:nvSpPr>
          <p:cNvPr id="28" name="Text 24"/>
          <p:cNvSpPr txBox="1"/>
          <p:nvPr/>
        </p:nvSpPr>
        <p:spPr>
          <a:xfrm>
            <a:off x="3076590" y="4791456"/>
            <a:ext cx="162269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80" kern="0" dirty="0">
                <a:solidFill>
                  <a:srgbClr val="A89F9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OPORTUNIDADE PARA O BANCO</a:t>
            </a:r>
            <a:endParaRPr lang="en-US" sz="680" dirty="0"/>
          </a:p>
        </p:txBody>
      </p:sp>
      <p:sp>
        <p:nvSpPr>
          <p:cNvPr id="29" name="Text 25"/>
          <p:cNvSpPr txBox="1"/>
          <p:nvPr/>
        </p:nvSpPr>
        <p:spPr>
          <a:xfrm>
            <a:off x="3076590" y="4956048"/>
            <a:ext cx="162269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Investimento em esmagamento e frio · financiamento de produtores de soja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5101620" y="2249424"/>
            <a:ext cx="1988454" cy="3858768"/>
          </a:xfrm>
          <a:prstGeom prst="roundRect">
            <a:avLst>
              <a:gd name="adj" fmla="val 2759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5284500" y="2414016"/>
            <a:ext cx="1078992" cy="237744"/>
          </a:xfrm>
          <a:prstGeom prst="roundRect">
            <a:avLst>
              <a:gd name="adj" fmla="val 50000"/>
            </a:avLst>
          </a:prstGeom>
          <a:solidFill>
            <a:srgbClr val="3A3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5284500" y="241401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SEGMENTO 2</a:t>
            </a:r>
            <a:endParaRPr lang="en-US" sz="740" dirty="0"/>
          </a:p>
        </p:txBody>
      </p:sp>
      <p:sp>
        <p:nvSpPr>
          <p:cNvPr id="33" name="Text 29"/>
          <p:cNvSpPr txBox="1"/>
          <p:nvPr/>
        </p:nvSpPr>
        <p:spPr>
          <a:xfrm>
            <a:off x="5284500" y="2688336"/>
            <a:ext cx="16226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Novos Horizontes e Frango King</a:t>
            </a:r>
            <a:endParaRPr lang="en-US" sz="1150" dirty="0"/>
          </a:p>
        </p:txBody>
      </p:sp>
      <p:sp>
        <p:nvSpPr>
          <p:cNvPr id="34" name="Text 30"/>
          <p:cNvSpPr txBox="1"/>
          <p:nvPr/>
        </p:nvSpPr>
        <p:spPr>
          <a:xfrm>
            <a:off x="5284500" y="3218688"/>
            <a:ext cx="16226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4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Capital internacional</a:t>
            </a:r>
            <a:endParaRPr lang="en-US" sz="840" dirty="0"/>
          </a:p>
        </p:txBody>
      </p:sp>
      <p:sp>
        <p:nvSpPr>
          <p:cNvPr id="35" name="Shape 31"/>
          <p:cNvSpPr/>
          <p:nvPr/>
        </p:nvSpPr>
        <p:spPr>
          <a:xfrm>
            <a:off x="5284500" y="3621024"/>
            <a:ext cx="1622694" cy="10973"/>
          </a:xfrm>
          <a:prstGeom prst="rect">
            <a:avLst/>
          </a:prstGeom>
          <a:solidFill>
            <a:srgbClr val="E6E6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5284500" y="3721608"/>
            <a:ext cx="16226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Norte</a:t>
            </a:r>
            <a:endParaRPr lang="en-US" sz="1700" dirty="0"/>
          </a:p>
        </p:txBody>
      </p:sp>
      <p:sp>
        <p:nvSpPr>
          <p:cNvPr id="37" name="Text 33"/>
          <p:cNvSpPr txBox="1"/>
          <p:nvPr/>
        </p:nvSpPr>
        <p:spPr>
          <a:xfrm>
            <a:off x="5284500" y="4087368"/>
            <a:ext cx="16226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líder integrado, consolidado sob accionista único</a:t>
            </a:r>
            <a:endParaRPr lang="en-US" sz="900" dirty="0"/>
          </a:p>
        </p:txBody>
      </p:sp>
      <p:sp>
        <p:nvSpPr>
          <p:cNvPr id="38" name="Text 34"/>
          <p:cNvSpPr txBox="1"/>
          <p:nvPr/>
        </p:nvSpPr>
        <p:spPr>
          <a:xfrm>
            <a:off x="5284500" y="4572000"/>
            <a:ext cx="16226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i="1" dirty="0">
                <a:solidFill>
                  <a:srgbClr val="8E878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Nampula</a:t>
            </a:r>
            <a:endParaRPr lang="en-US" sz="840" dirty="0"/>
          </a:p>
        </p:txBody>
      </p:sp>
      <p:sp>
        <p:nvSpPr>
          <p:cNvPr id="39" name="Text 35"/>
          <p:cNvSpPr txBox="1"/>
          <p:nvPr/>
        </p:nvSpPr>
        <p:spPr>
          <a:xfrm>
            <a:off x="5284500" y="4791456"/>
            <a:ext cx="162269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80" kern="0" dirty="0">
                <a:solidFill>
                  <a:srgbClr val="A89F9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OPORTUNIDADE PARA O BANCO</a:t>
            </a:r>
            <a:endParaRPr lang="en-US" sz="680" dirty="0"/>
          </a:p>
        </p:txBody>
      </p:sp>
      <p:sp>
        <p:nvSpPr>
          <p:cNvPr id="40" name="Text 36"/>
          <p:cNvSpPr txBox="1"/>
          <p:nvPr/>
        </p:nvSpPr>
        <p:spPr>
          <a:xfrm>
            <a:off x="5284500" y="4956048"/>
            <a:ext cx="162269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Financiamento de consolidação · abate e certificação · pagamento a criadores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7309531" y="2249424"/>
            <a:ext cx="1988454" cy="3858768"/>
          </a:xfrm>
          <a:prstGeom prst="roundRect">
            <a:avLst>
              <a:gd name="adj" fmla="val 2759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42" name="Shape 38"/>
          <p:cNvSpPr/>
          <p:nvPr/>
        </p:nvSpPr>
        <p:spPr>
          <a:xfrm>
            <a:off x="7492411" y="2414016"/>
            <a:ext cx="1078992" cy="237744"/>
          </a:xfrm>
          <a:prstGeom prst="roundRect">
            <a:avLst>
              <a:gd name="adj" fmla="val 50000"/>
            </a:avLst>
          </a:prstGeom>
          <a:solidFill>
            <a:srgbClr val="3A3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7492411" y="241401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SEGMENTO 2</a:t>
            </a:r>
            <a:endParaRPr lang="en-US" sz="740" dirty="0"/>
          </a:p>
        </p:txBody>
      </p:sp>
      <p:sp>
        <p:nvSpPr>
          <p:cNvPr id="44" name="Text 40"/>
          <p:cNvSpPr txBox="1"/>
          <p:nvPr/>
        </p:nvSpPr>
        <p:spPr>
          <a:xfrm>
            <a:off x="7492411" y="2688336"/>
            <a:ext cx="16226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JFS Holding</a:t>
            </a:r>
            <a:endParaRPr lang="en-US" sz="1150" dirty="0"/>
          </a:p>
        </p:txBody>
      </p:sp>
      <p:sp>
        <p:nvSpPr>
          <p:cNvPr id="45" name="Text 41"/>
          <p:cNvSpPr txBox="1"/>
          <p:nvPr/>
        </p:nvSpPr>
        <p:spPr>
          <a:xfrm>
            <a:off x="7492411" y="3218688"/>
            <a:ext cx="16226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4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Capital português e moçambicano</a:t>
            </a:r>
            <a:endParaRPr lang="en-US" sz="840" dirty="0"/>
          </a:p>
        </p:txBody>
      </p:sp>
      <p:sp>
        <p:nvSpPr>
          <p:cNvPr id="46" name="Shape 42"/>
          <p:cNvSpPr/>
          <p:nvPr/>
        </p:nvSpPr>
        <p:spPr>
          <a:xfrm>
            <a:off x="7492411" y="3621024"/>
            <a:ext cx="1622694" cy="10973"/>
          </a:xfrm>
          <a:prstGeom prst="rect">
            <a:avLst/>
          </a:prstGeom>
          <a:solidFill>
            <a:srgbClr val="E6E6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7492411" y="3721608"/>
            <a:ext cx="16226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40 M US$</a:t>
            </a:r>
            <a:endParaRPr lang="en-US" sz="1700" dirty="0"/>
          </a:p>
        </p:txBody>
      </p:sp>
      <p:sp>
        <p:nvSpPr>
          <p:cNvPr id="48" name="Text 44"/>
          <p:cNvSpPr txBox="1"/>
          <p:nvPr/>
        </p:nvSpPr>
        <p:spPr>
          <a:xfrm>
            <a:off x="7492411" y="4087368"/>
            <a:ext cx="16226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de facturação anual, em seis unidades de negócio</a:t>
            </a:r>
            <a:endParaRPr lang="en-US" sz="900" dirty="0"/>
          </a:p>
        </p:txBody>
      </p:sp>
      <p:sp>
        <p:nvSpPr>
          <p:cNvPr id="49" name="Text 45"/>
          <p:cNvSpPr txBox="1"/>
          <p:nvPr/>
        </p:nvSpPr>
        <p:spPr>
          <a:xfrm>
            <a:off x="7492411" y="4572000"/>
            <a:ext cx="16226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i="1" dirty="0">
                <a:solidFill>
                  <a:srgbClr val="8E878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Nampula e Niassa</a:t>
            </a:r>
            <a:endParaRPr lang="en-US" sz="840" dirty="0"/>
          </a:p>
        </p:txBody>
      </p:sp>
      <p:sp>
        <p:nvSpPr>
          <p:cNvPr id="50" name="Text 46"/>
          <p:cNvSpPr txBox="1"/>
          <p:nvPr/>
        </p:nvSpPr>
        <p:spPr>
          <a:xfrm>
            <a:off x="7492411" y="4791456"/>
            <a:ext cx="162269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80" kern="0" dirty="0">
                <a:solidFill>
                  <a:srgbClr val="A89F9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OPORTUNIDADE PARA O BANCO</a:t>
            </a:r>
            <a:endParaRPr lang="en-US" sz="680" dirty="0"/>
          </a:p>
        </p:txBody>
      </p:sp>
      <p:sp>
        <p:nvSpPr>
          <p:cNvPr id="51" name="Text 47"/>
          <p:cNvSpPr txBox="1"/>
          <p:nvPr/>
        </p:nvSpPr>
        <p:spPr>
          <a:xfrm>
            <a:off x="7492411" y="4956048"/>
            <a:ext cx="162269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Relação de grupo · tesouraria centralizada · financiamento de frota</a:t>
            </a:r>
            <a:endParaRPr lang="en-US" sz="900" dirty="0"/>
          </a:p>
        </p:txBody>
      </p:sp>
      <p:sp>
        <p:nvSpPr>
          <p:cNvPr id="52" name="Shape 48"/>
          <p:cNvSpPr/>
          <p:nvPr/>
        </p:nvSpPr>
        <p:spPr>
          <a:xfrm>
            <a:off x="9517441" y="2249424"/>
            <a:ext cx="1988454" cy="3858768"/>
          </a:xfrm>
          <a:prstGeom prst="roundRect">
            <a:avLst>
              <a:gd name="adj" fmla="val 2759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53" name="Shape 49"/>
          <p:cNvSpPr/>
          <p:nvPr/>
        </p:nvSpPr>
        <p:spPr>
          <a:xfrm>
            <a:off x="9700321" y="2414016"/>
            <a:ext cx="1078992" cy="237744"/>
          </a:xfrm>
          <a:prstGeom prst="roundRect">
            <a:avLst>
              <a:gd name="adj" fmla="val 50000"/>
            </a:avLst>
          </a:prstGeom>
          <a:solidFill>
            <a:srgbClr val="3A3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9700321" y="241401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SEGMENTO 2</a:t>
            </a:r>
            <a:endParaRPr lang="en-US" sz="740" dirty="0"/>
          </a:p>
        </p:txBody>
      </p:sp>
      <p:sp>
        <p:nvSpPr>
          <p:cNvPr id="55" name="Text 51"/>
          <p:cNvSpPr txBox="1"/>
          <p:nvPr/>
        </p:nvSpPr>
        <p:spPr>
          <a:xfrm>
            <a:off x="9700321" y="2688336"/>
            <a:ext cx="16226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Mozaco</a:t>
            </a:r>
            <a:endParaRPr lang="en-US" sz="1150" dirty="0"/>
          </a:p>
        </p:txBody>
      </p:sp>
      <p:sp>
        <p:nvSpPr>
          <p:cNvPr id="56" name="Text 52"/>
          <p:cNvSpPr txBox="1"/>
          <p:nvPr/>
        </p:nvSpPr>
        <p:spPr>
          <a:xfrm>
            <a:off x="9700321" y="3218688"/>
            <a:ext cx="16226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4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Empreendimento conjunto entre a Rioforte e a JFS</a:t>
            </a:r>
            <a:endParaRPr lang="en-US" sz="840" dirty="0"/>
          </a:p>
        </p:txBody>
      </p:sp>
      <p:sp>
        <p:nvSpPr>
          <p:cNvPr id="57" name="Shape 53"/>
          <p:cNvSpPr/>
          <p:nvPr/>
        </p:nvSpPr>
        <p:spPr>
          <a:xfrm>
            <a:off x="9700321" y="3621024"/>
            <a:ext cx="1622694" cy="10973"/>
          </a:xfrm>
          <a:prstGeom prst="rect">
            <a:avLst/>
          </a:prstGeom>
          <a:solidFill>
            <a:srgbClr val="E6E6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4"/>
          <p:cNvSpPr txBox="1"/>
          <p:nvPr/>
        </p:nvSpPr>
        <p:spPr>
          <a:xfrm>
            <a:off x="9700321" y="3721608"/>
            <a:ext cx="16226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20.000 ha</a:t>
            </a:r>
            <a:endParaRPr lang="en-US" sz="1700" dirty="0"/>
          </a:p>
        </p:txBody>
      </p:sp>
      <p:sp>
        <p:nvSpPr>
          <p:cNvPr id="59" name="Text 55"/>
          <p:cNvSpPr txBox="1"/>
          <p:nvPr/>
        </p:nvSpPr>
        <p:spPr>
          <a:xfrm>
            <a:off x="9700321" y="4087368"/>
            <a:ext cx="16226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meta de expansão de área; soja e algodão</a:t>
            </a:r>
            <a:endParaRPr lang="en-US" sz="900" dirty="0"/>
          </a:p>
        </p:txBody>
      </p:sp>
      <p:sp>
        <p:nvSpPr>
          <p:cNvPr id="60" name="Text 56"/>
          <p:cNvSpPr txBox="1"/>
          <p:nvPr/>
        </p:nvSpPr>
        <p:spPr>
          <a:xfrm>
            <a:off x="9700321" y="4572000"/>
            <a:ext cx="16226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i="1" dirty="0">
                <a:solidFill>
                  <a:srgbClr val="8E878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Malema, Nampula</a:t>
            </a:r>
            <a:endParaRPr lang="en-US" sz="840" dirty="0"/>
          </a:p>
        </p:txBody>
      </p:sp>
      <p:sp>
        <p:nvSpPr>
          <p:cNvPr id="61" name="Text 57"/>
          <p:cNvSpPr txBox="1"/>
          <p:nvPr/>
        </p:nvSpPr>
        <p:spPr>
          <a:xfrm>
            <a:off x="9700321" y="4791456"/>
            <a:ext cx="162269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80" kern="0" dirty="0">
                <a:solidFill>
                  <a:srgbClr val="A89F9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OPORTUNIDADE PARA O BANCO</a:t>
            </a:r>
            <a:endParaRPr lang="en-US" sz="680" dirty="0"/>
          </a:p>
        </p:txBody>
      </p:sp>
      <p:sp>
        <p:nvSpPr>
          <p:cNvPr id="62" name="Text 58"/>
          <p:cNvSpPr txBox="1"/>
          <p:nvPr/>
        </p:nvSpPr>
        <p:spPr>
          <a:xfrm>
            <a:off x="9700321" y="4956048"/>
            <a:ext cx="162269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Expansão de área · mecanização · produção contratada destinada a ração</a:t>
            </a:r>
            <a:endParaRPr lang="en-US" sz="900" dirty="0"/>
          </a:p>
        </p:txBody>
      </p:sp>
      <p:sp>
        <p:nvSpPr>
          <p:cNvPr id="63" name="Text 59"/>
          <p:cNvSpPr txBox="1"/>
          <p:nvPr/>
        </p:nvSpPr>
        <p:spPr>
          <a:xfrm>
            <a:off x="1892808" y="6291072"/>
            <a:ext cx="8808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494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Fontes: Agência de Informação de Moçambique · International Growth Centre e Ministério da Economia e Finanças · JFS Holding · Agence Ecofin.</a:t>
            </a:r>
            <a:endParaRPr lang="en-US" sz="850" dirty="0"/>
          </a:p>
        </p:txBody>
      </p:sp>
    </p:spTree>
  </p:cSld>
  <p:clrMapOvr>
    <a:masterClrMapping/>
  </p:clrMapOvr>
  <p:transition spd="slow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4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4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" dur="4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4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4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2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4" dur="4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5" dur="4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0" dur="4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1" dur="4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4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6" dur="4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7" dur="4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0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2" dur="4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3" dur="4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6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8" dur="4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9" dur="4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2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4" dur="4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5" dur="4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8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0" dur="4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1" dur="4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4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6" dur="4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7" dur="4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2" dur="4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3" dur="4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6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8" dur="4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9" dur="4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2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4" dur="4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5" dur="4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8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0" dur="4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1" dur="4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4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6" dur="4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7" dur="4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0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2" dur="4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3" dur="4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6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8" dur="4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9" dur="4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2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4" dur="4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5" dur="4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8" presetID="2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0" dur="4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1" dur="4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4" presetID="2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6" dur="4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7" dur="4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0" presetID="2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2" dur="4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3" dur="4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6" presetID="2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8" dur="4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9" dur="4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2" presetID="2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4" dur="4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5" dur="4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8" presetID="2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0" dur="4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1" dur="4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4" presetID="2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6" dur="4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7" dur="4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0" presetID="2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2" dur="4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3" dur="4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6" presetID="2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8" dur="42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9" dur="42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2" presetID="2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4" dur="42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5" dur="42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8" presetID="2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0" dur="42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1" dur="42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4" presetID="2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6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7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0" presetID="10" presetClass="entr" presetSubtype="0" fill="hold" grpId="0" nodeType="withEffect">
                                  <p:stCondLst>
                                    <p:cond delay="174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2" dur="46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023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BANANA, FRUTA E PRODUTOS HORTÍCOLAS DE EXPORTAÇÃO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94944"/>
            <a:ext cx="7772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Receita em divisas, cadeia de frio e risco fitossanitário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6420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É nesta fileira que o Banco encontra recebimentos em moeda forte, folhas salariais de centenas de trabalhadores e o risco que obriga a estruturar seguro.</a:t>
            </a:r>
            <a:endParaRPr lang="en-US" sz="1300" dirty="0"/>
          </a:p>
        </p:txBody>
      </p:sp>
      <p:pic>
        <p:nvPicPr>
          <p:cNvPr id="5" name="Image 0" descr="/tmp/claude-0/-home-user-momo/176296df-944e-550c-879f-516f4be80ca0/scratchpad/unpacked/ppt/media/image1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705088" y="402336"/>
            <a:ext cx="2798064" cy="1572768"/>
          </a:xfrm>
          <a:prstGeom prst="rect">
            <a:avLst/>
          </a:prstGeom>
        </p:spPr>
      </p:pic>
      <p:pic>
        <p:nvPicPr>
          <p:cNvPr id="6" name="Image 1" descr="/tmp/claude-0/-home-user-momo/176296df-944e-550c-879f-516f4be80ca0/scratchpad/unpacked/ppt/media/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272784"/>
            <a:ext cx="1024128" cy="30175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957255" y="634593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94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685800" y="2249424"/>
            <a:ext cx="2513000" cy="3858768"/>
          </a:xfrm>
          <a:prstGeom prst="roundRect">
            <a:avLst>
              <a:gd name="adj" fmla="val 2183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923544" y="2414016"/>
            <a:ext cx="1078992" cy="237744"/>
          </a:xfrm>
          <a:prstGeom prst="roundRect">
            <a:avLst>
              <a:gd name="adj" fmla="val 50000"/>
            </a:avLst>
          </a:prstGeom>
          <a:solidFill>
            <a:srgbClr val="3A3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923544" y="241401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SEGMENTO 2</a:t>
            </a:r>
            <a:endParaRPr lang="en-US" sz="740" dirty="0"/>
          </a:p>
        </p:txBody>
      </p:sp>
      <p:sp>
        <p:nvSpPr>
          <p:cNvPr id="11" name="Text 7"/>
          <p:cNvSpPr txBox="1"/>
          <p:nvPr/>
        </p:nvSpPr>
        <p:spPr>
          <a:xfrm>
            <a:off x="923544" y="2688336"/>
            <a:ext cx="2037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Bananalândia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923544" y="3218688"/>
            <a:ext cx="2037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Capital moçambicano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923544" y="3621024"/>
            <a:ext cx="2037512" cy="10973"/>
          </a:xfrm>
          <a:prstGeom prst="rect">
            <a:avLst/>
          </a:prstGeom>
          <a:solidFill>
            <a:srgbClr val="E6E6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923544" y="3721608"/>
            <a:ext cx="203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3,5 M caixas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923544" y="4087368"/>
            <a:ext cx="2037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exportadas por ano a partir de 900 hectares; cerca de mil trabalhadores</a:t>
            </a:r>
            <a:endParaRPr lang="en-US" sz="980" dirty="0"/>
          </a:p>
        </p:txBody>
      </p:sp>
      <p:sp>
        <p:nvSpPr>
          <p:cNvPr id="16" name="Text 12"/>
          <p:cNvSpPr txBox="1"/>
          <p:nvPr/>
        </p:nvSpPr>
        <p:spPr>
          <a:xfrm>
            <a:off x="923544" y="4572000"/>
            <a:ext cx="2037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i="1" dirty="0">
                <a:solidFill>
                  <a:srgbClr val="8E878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Moamba, província de Maputo</a:t>
            </a:r>
            <a:endParaRPr lang="en-US" sz="920" dirty="0"/>
          </a:p>
        </p:txBody>
      </p:sp>
      <p:sp>
        <p:nvSpPr>
          <p:cNvPr id="17" name="Text 13"/>
          <p:cNvSpPr txBox="1"/>
          <p:nvPr/>
        </p:nvSpPr>
        <p:spPr>
          <a:xfrm>
            <a:off x="923544" y="4791456"/>
            <a:ext cx="2037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80" kern="0" dirty="0">
                <a:solidFill>
                  <a:srgbClr val="A89F9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OPORTUNIDADE PARA O BANCO</a:t>
            </a:r>
            <a:endParaRPr lang="en-US" sz="680" dirty="0"/>
          </a:p>
        </p:txBody>
      </p:sp>
      <p:sp>
        <p:nvSpPr>
          <p:cNvPr id="18" name="Text 14"/>
          <p:cNvSpPr txBox="1"/>
          <p:nvPr/>
        </p:nvSpPr>
        <p:spPr>
          <a:xfrm>
            <a:off x="923544" y="4956048"/>
            <a:ext cx="20375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8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Investimento na unidade de processamento · cadeia de frio · processamento salarial</a:t>
            </a:r>
            <a:endParaRPr lang="en-US" sz="980" dirty="0"/>
          </a:p>
        </p:txBody>
      </p:sp>
      <p:sp>
        <p:nvSpPr>
          <p:cNvPr id="19" name="Shape 15"/>
          <p:cNvSpPr/>
          <p:nvPr/>
        </p:nvSpPr>
        <p:spPr>
          <a:xfrm>
            <a:off x="3454832" y="2249424"/>
            <a:ext cx="2513000" cy="3858768"/>
          </a:xfrm>
          <a:prstGeom prst="roundRect">
            <a:avLst>
              <a:gd name="adj" fmla="val 2183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692576" y="2414016"/>
            <a:ext cx="1078992" cy="237744"/>
          </a:xfrm>
          <a:prstGeom prst="roundRect">
            <a:avLst>
              <a:gd name="adj" fmla="val 50000"/>
            </a:avLst>
          </a:prstGeom>
          <a:solidFill>
            <a:srgbClr val="3A3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3692576" y="241401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SEGMENTO 2</a:t>
            </a:r>
            <a:endParaRPr lang="en-US" sz="740" dirty="0"/>
          </a:p>
        </p:txBody>
      </p:sp>
      <p:sp>
        <p:nvSpPr>
          <p:cNvPr id="22" name="Text 18"/>
          <p:cNvSpPr txBox="1"/>
          <p:nvPr/>
        </p:nvSpPr>
        <p:spPr>
          <a:xfrm>
            <a:off x="3692576" y="2688336"/>
            <a:ext cx="2037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Jacaranda Agricultura</a:t>
            </a:r>
            <a:endParaRPr lang="en-US" sz="1250" dirty="0"/>
          </a:p>
        </p:txBody>
      </p:sp>
      <p:sp>
        <p:nvSpPr>
          <p:cNvPr id="23" name="Text 19"/>
          <p:cNvSpPr txBox="1"/>
          <p:nvPr/>
        </p:nvSpPr>
        <p:spPr>
          <a:xfrm>
            <a:off x="3692576" y="3218688"/>
            <a:ext cx="2037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Investidor privado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3692576" y="3621024"/>
            <a:ext cx="2037512" cy="10973"/>
          </a:xfrm>
          <a:prstGeom prst="rect">
            <a:avLst/>
          </a:prstGeom>
          <a:solidFill>
            <a:srgbClr val="E6E6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3692576" y="3721608"/>
            <a:ext cx="203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Metocheria</a:t>
            </a:r>
            <a:endParaRPr lang="en-US" sz="1900" dirty="0"/>
          </a:p>
        </p:txBody>
      </p:sp>
      <p:sp>
        <p:nvSpPr>
          <p:cNvPr id="26" name="Text 22"/>
          <p:cNvSpPr txBox="1"/>
          <p:nvPr/>
        </p:nvSpPr>
        <p:spPr>
          <a:xfrm>
            <a:off x="3692576" y="4087368"/>
            <a:ext cx="2037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recuperou os activos da Matanuska após surto da doença do Panamá</a:t>
            </a:r>
            <a:endParaRPr lang="en-US" sz="980" dirty="0"/>
          </a:p>
        </p:txBody>
      </p:sp>
      <p:sp>
        <p:nvSpPr>
          <p:cNvPr id="27" name="Text 23"/>
          <p:cNvSpPr txBox="1"/>
          <p:nvPr/>
        </p:nvSpPr>
        <p:spPr>
          <a:xfrm>
            <a:off x="3692576" y="4572000"/>
            <a:ext cx="2037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i="1" dirty="0">
                <a:solidFill>
                  <a:srgbClr val="8E878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Monapo, província de Nampula</a:t>
            </a:r>
            <a:endParaRPr lang="en-US" sz="920" dirty="0"/>
          </a:p>
        </p:txBody>
      </p:sp>
      <p:sp>
        <p:nvSpPr>
          <p:cNvPr id="28" name="Text 24"/>
          <p:cNvSpPr txBox="1"/>
          <p:nvPr/>
        </p:nvSpPr>
        <p:spPr>
          <a:xfrm>
            <a:off x="3692576" y="4791456"/>
            <a:ext cx="2037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80" kern="0" dirty="0">
                <a:solidFill>
                  <a:srgbClr val="A89F9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OPORTUNIDADE PARA O BANCO</a:t>
            </a:r>
            <a:endParaRPr lang="en-US" sz="680" dirty="0"/>
          </a:p>
        </p:txBody>
      </p:sp>
      <p:sp>
        <p:nvSpPr>
          <p:cNvPr id="29" name="Text 25"/>
          <p:cNvSpPr txBox="1"/>
          <p:nvPr/>
        </p:nvSpPr>
        <p:spPr>
          <a:xfrm>
            <a:off x="3692576" y="4956048"/>
            <a:ext cx="20375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8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Replantação · biossegurança · logística até Nacala · seguro obrigatório</a:t>
            </a:r>
            <a:endParaRPr lang="en-US" sz="980" dirty="0"/>
          </a:p>
        </p:txBody>
      </p:sp>
      <p:sp>
        <p:nvSpPr>
          <p:cNvPr id="30" name="Shape 26"/>
          <p:cNvSpPr/>
          <p:nvPr/>
        </p:nvSpPr>
        <p:spPr>
          <a:xfrm>
            <a:off x="6223864" y="2249424"/>
            <a:ext cx="2513000" cy="3858768"/>
          </a:xfrm>
          <a:prstGeom prst="roundRect">
            <a:avLst>
              <a:gd name="adj" fmla="val 2183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6461608" y="2414016"/>
            <a:ext cx="1078992" cy="237744"/>
          </a:xfrm>
          <a:prstGeom prst="roundRect">
            <a:avLst>
              <a:gd name="adj" fmla="val 50000"/>
            </a:avLst>
          </a:prstGeom>
          <a:solidFill>
            <a:srgbClr val="3A3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6461608" y="241401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SEGMENTO 2</a:t>
            </a:r>
            <a:endParaRPr lang="en-US" sz="740" dirty="0"/>
          </a:p>
        </p:txBody>
      </p:sp>
      <p:sp>
        <p:nvSpPr>
          <p:cNvPr id="33" name="Text 29"/>
          <p:cNvSpPr txBox="1"/>
          <p:nvPr/>
        </p:nvSpPr>
        <p:spPr>
          <a:xfrm>
            <a:off x="6461608" y="2688336"/>
            <a:ext cx="2037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Companhia do Vanduzi</a:t>
            </a:r>
            <a:endParaRPr lang="en-US" sz="1250" dirty="0"/>
          </a:p>
        </p:txBody>
      </p:sp>
      <p:sp>
        <p:nvSpPr>
          <p:cNvPr id="34" name="Text 30"/>
          <p:cNvSpPr txBox="1"/>
          <p:nvPr/>
        </p:nvSpPr>
        <p:spPr>
          <a:xfrm>
            <a:off x="6461608" y="3218688"/>
            <a:ext cx="2037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Capital britânico, constituída em 2004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6461608" y="3621024"/>
            <a:ext cx="2037512" cy="10973"/>
          </a:xfrm>
          <a:prstGeom prst="rect">
            <a:avLst/>
          </a:prstGeom>
          <a:solidFill>
            <a:srgbClr val="E6E6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6461608" y="3721608"/>
            <a:ext cx="203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Todo o ano</a:t>
            </a:r>
            <a:endParaRPr lang="en-US" sz="1900" dirty="0"/>
          </a:p>
        </p:txBody>
      </p:sp>
      <p:sp>
        <p:nvSpPr>
          <p:cNvPr id="37" name="Text 33"/>
          <p:cNvSpPr txBox="1"/>
          <p:nvPr/>
        </p:nvSpPr>
        <p:spPr>
          <a:xfrm>
            <a:off x="6461608" y="4087368"/>
            <a:ext cx="2037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milho-bebé e malagueta para o Reino Unido e para a Europa</a:t>
            </a:r>
            <a:endParaRPr lang="en-US" sz="980" dirty="0"/>
          </a:p>
        </p:txBody>
      </p:sp>
      <p:sp>
        <p:nvSpPr>
          <p:cNvPr id="38" name="Text 34"/>
          <p:cNvSpPr txBox="1"/>
          <p:nvPr/>
        </p:nvSpPr>
        <p:spPr>
          <a:xfrm>
            <a:off x="6461608" y="4572000"/>
            <a:ext cx="2037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i="1" dirty="0">
                <a:solidFill>
                  <a:srgbClr val="8E878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Vanduzi, província de Manica</a:t>
            </a:r>
            <a:endParaRPr lang="en-US" sz="920" dirty="0"/>
          </a:p>
        </p:txBody>
      </p:sp>
      <p:sp>
        <p:nvSpPr>
          <p:cNvPr id="39" name="Text 35"/>
          <p:cNvSpPr txBox="1"/>
          <p:nvPr/>
        </p:nvSpPr>
        <p:spPr>
          <a:xfrm>
            <a:off x="6461608" y="4791456"/>
            <a:ext cx="2037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80" kern="0" dirty="0">
                <a:solidFill>
                  <a:srgbClr val="A89F9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OPORTUNIDADE PARA O BANCO</a:t>
            </a:r>
            <a:endParaRPr lang="en-US" sz="680" dirty="0"/>
          </a:p>
        </p:txBody>
      </p:sp>
      <p:sp>
        <p:nvSpPr>
          <p:cNvPr id="40" name="Text 36"/>
          <p:cNvSpPr txBox="1"/>
          <p:nvPr/>
        </p:nvSpPr>
        <p:spPr>
          <a:xfrm>
            <a:off x="6461608" y="4956048"/>
            <a:ext cx="20375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8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Fluxo cambial contínuo · antecipação de recebimentos · rega e centro de embalagem</a:t>
            </a:r>
            <a:endParaRPr lang="en-US" sz="980" dirty="0"/>
          </a:p>
        </p:txBody>
      </p:sp>
      <p:sp>
        <p:nvSpPr>
          <p:cNvPr id="41" name="Shape 37"/>
          <p:cNvSpPr/>
          <p:nvPr/>
        </p:nvSpPr>
        <p:spPr>
          <a:xfrm>
            <a:off x="8992895" y="2249424"/>
            <a:ext cx="2513000" cy="3858768"/>
          </a:xfrm>
          <a:prstGeom prst="roundRect">
            <a:avLst>
              <a:gd name="adj" fmla="val 2183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42" name="Shape 38"/>
          <p:cNvSpPr/>
          <p:nvPr/>
        </p:nvSpPr>
        <p:spPr>
          <a:xfrm>
            <a:off x="9230639" y="2414016"/>
            <a:ext cx="1078992" cy="237744"/>
          </a:xfrm>
          <a:prstGeom prst="roundRect">
            <a:avLst>
              <a:gd name="adj" fmla="val 50000"/>
            </a:avLst>
          </a:prstGeom>
          <a:solidFill>
            <a:srgbClr val="3A3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9230639" y="241401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SEGMENTO 3</a:t>
            </a:r>
            <a:endParaRPr lang="en-US" sz="740" dirty="0"/>
          </a:p>
        </p:txBody>
      </p:sp>
      <p:sp>
        <p:nvSpPr>
          <p:cNvPr id="44" name="Text 40"/>
          <p:cNvSpPr txBox="1"/>
          <p:nvPr/>
        </p:nvSpPr>
        <p:spPr>
          <a:xfrm>
            <a:off x="9230639" y="2688336"/>
            <a:ext cx="2037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Produtores de macadâmia</a:t>
            </a:r>
            <a:endParaRPr lang="en-US" sz="1250" dirty="0"/>
          </a:p>
        </p:txBody>
      </p:sp>
      <p:sp>
        <p:nvSpPr>
          <p:cNvPr id="45" name="Text 41"/>
          <p:cNvSpPr txBox="1"/>
          <p:nvPr/>
        </p:nvSpPr>
        <p:spPr>
          <a:xfrm>
            <a:off x="9230639" y="3218688"/>
            <a:ext cx="2037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Investidores sul-africanos e zimbabweanos</a:t>
            </a:r>
            <a:endParaRPr lang="en-US" sz="900" dirty="0"/>
          </a:p>
        </p:txBody>
      </p:sp>
      <p:sp>
        <p:nvSpPr>
          <p:cNvPr id="46" name="Shape 42"/>
          <p:cNvSpPr/>
          <p:nvPr/>
        </p:nvSpPr>
        <p:spPr>
          <a:xfrm>
            <a:off x="9230639" y="3621024"/>
            <a:ext cx="2037512" cy="10973"/>
          </a:xfrm>
          <a:prstGeom prst="rect">
            <a:avLst/>
          </a:prstGeom>
          <a:solidFill>
            <a:srgbClr val="E6E6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9230639" y="3721608"/>
            <a:ext cx="203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7 a 10 anos</a:t>
            </a:r>
            <a:endParaRPr lang="en-US" sz="1900" dirty="0"/>
          </a:p>
        </p:txBody>
      </p:sp>
      <p:sp>
        <p:nvSpPr>
          <p:cNvPr id="48" name="Text 44"/>
          <p:cNvSpPr txBox="1"/>
          <p:nvPr/>
        </p:nvSpPr>
        <p:spPr>
          <a:xfrm>
            <a:off x="9230639" y="4087368"/>
            <a:ext cx="2037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período de implantação do pomar até à plena produção</a:t>
            </a:r>
            <a:endParaRPr lang="en-US" sz="980" dirty="0"/>
          </a:p>
        </p:txBody>
      </p:sp>
      <p:sp>
        <p:nvSpPr>
          <p:cNvPr id="49" name="Text 45"/>
          <p:cNvSpPr txBox="1"/>
          <p:nvPr/>
        </p:nvSpPr>
        <p:spPr>
          <a:xfrm>
            <a:off x="9230639" y="4572000"/>
            <a:ext cx="2037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i="1" dirty="0">
                <a:solidFill>
                  <a:srgbClr val="8E878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Manica e Nampula</a:t>
            </a:r>
            <a:endParaRPr lang="en-US" sz="920" dirty="0"/>
          </a:p>
        </p:txBody>
      </p:sp>
      <p:sp>
        <p:nvSpPr>
          <p:cNvPr id="50" name="Text 46"/>
          <p:cNvSpPr txBox="1"/>
          <p:nvPr/>
        </p:nvSpPr>
        <p:spPr>
          <a:xfrm>
            <a:off x="9230639" y="4791456"/>
            <a:ext cx="2037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80" kern="0" dirty="0">
                <a:solidFill>
                  <a:srgbClr val="A89F9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OPORTUNIDADE PARA O BANCO</a:t>
            </a:r>
            <a:endParaRPr lang="en-US" sz="680" dirty="0"/>
          </a:p>
        </p:txBody>
      </p:sp>
      <p:sp>
        <p:nvSpPr>
          <p:cNvPr id="51" name="Text 47"/>
          <p:cNvSpPr txBox="1"/>
          <p:nvPr/>
        </p:nvSpPr>
        <p:spPr>
          <a:xfrm>
            <a:off x="9230639" y="4956048"/>
            <a:ext cx="20375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8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Crédito de longo prazo para implantação · descasque e secagem · câmbio</a:t>
            </a:r>
            <a:endParaRPr lang="en-US" sz="980" dirty="0"/>
          </a:p>
        </p:txBody>
      </p:sp>
      <p:sp>
        <p:nvSpPr>
          <p:cNvPr id="52" name="Text 48"/>
          <p:cNvSpPr txBox="1"/>
          <p:nvPr/>
        </p:nvSpPr>
        <p:spPr>
          <a:xfrm>
            <a:off x="1892808" y="6291072"/>
            <a:ext cx="8808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494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Fontes: Food Business Africa e Club of Mozambique · Companhia do Vanduzi · The Macadamia South Africa.</a:t>
            </a:r>
            <a:endParaRPr lang="en-US" sz="850" dirty="0"/>
          </a:p>
        </p:txBody>
      </p:sp>
    </p:spTree>
  </p:cSld>
  <p:clrMapOvr>
    <a:masterClrMapping/>
  </p:clrMapOvr>
  <p:transition spd="slow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4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4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" dur="4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4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4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2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4" dur="4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5" dur="4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0" dur="4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1" dur="4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4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6" dur="4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7" dur="4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0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2" dur="4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3" dur="4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6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8" dur="4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9" dur="4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2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4" dur="4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5" dur="4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8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0" dur="4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1" dur="4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4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6" dur="4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7" dur="4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2" dur="4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3" dur="4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6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8" dur="4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9" dur="4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2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4" dur="4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5" dur="4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8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0" dur="4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1" dur="4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4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6" dur="4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7" dur="4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0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2" dur="4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3" dur="4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6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8" dur="4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9" dur="4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2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4" dur="4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5" dur="4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8" presetID="2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0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1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4" presetID="10" presetClass="entr" presetSubtype="0" fill="hold" grpId="0" nodeType="withEffect">
                                  <p:stCondLst>
                                    <p:cond delay="174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6" dur="46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02336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CASTANHA DE CAJU · ENTRE 157 E 160 MIL TONELADAS DE CASTANHA EM BRUTO POR ANO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94944"/>
            <a:ext cx="1082009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O maior processador de África e o terceiro do mundo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64208"/>
            <a:ext cx="108200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 compra concentra-se em três a quatro meses e a venda distribui-se pelo ano inteiro. É o caso de aplicação por excelência do crédito sobre mercadoria armazenada.</a:t>
            </a:r>
            <a:endParaRPr lang="en-US" sz="1300" dirty="0"/>
          </a:p>
        </p:txBody>
      </p:sp>
      <p:pic>
        <p:nvPicPr>
          <p:cNvPr id="5" name="Image 0" descr="/tmp/claude-0/-home-user-momo/176296df-944e-550c-879f-516f4be80ca0/scratchpad/unpacked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272784"/>
            <a:ext cx="1024128" cy="3017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57255" y="634593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94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15</a:t>
            </a:r>
            <a:endParaRPr lang="en-US" sz="1000" dirty="0"/>
          </a:p>
        </p:txBody>
      </p:sp>
      <p:pic>
        <p:nvPicPr>
          <p:cNvPr id="7" name="Image 1" descr="/tmp/claude-0/-home-user-momo/176296df-944e-550c-879f-516f4be80ca0/scratchpad/unpacked/ppt/media/image14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85800" y="2267712"/>
            <a:ext cx="4846320" cy="29809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897880" y="2267712"/>
            <a:ext cx="5608015" cy="1444752"/>
          </a:xfrm>
          <a:prstGeom prst="roundRect">
            <a:avLst>
              <a:gd name="adj" fmla="val 3797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6153912" y="2432304"/>
            <a:ext cx="1078992" cy="237744"/>
          </a:xfrm>
          <a:prstGeom prst="roundRect">
            <a:avLst>
              <a:gd name="adj" fmla="val 50000"/>
            </a:avLst>
          </a:prstGeom>
          <a:solidFill>
            <a:srgbClr val="3A3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153912" y="2432304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SEGMENTO 2</a:t>
            </a:r>
            <a:endParaRPr lang="en-US" sz="740" dirty="0"/>
          </a:p>
        </p:txBody>
      </p:sp>
      <p:sp>
        <p:nvSpPr>
          <p:cNvPr id="11" name="Text 7"/>
          <p:cNvSpPr txBox="1"/>
          <p:nvPr/>
        </p:nvSpPr>
        <p:spPr>
          <a:xfrm>
            <a:off x="7324344" y="2359152"/>
            <a:ext cx="392551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Condor Nuts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6153912" y="2779776"/>
            <a:ext cx="509595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Capital privado · província de Nampula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6153912" y="303580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70.000 t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7982712" y="3017520"/>
            <a:ext cx="326715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processadas anualmente no país; é uma das maiores unidades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6153912" y="3346704"/>
            <a:ext cx="50959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4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Crédito sobre mercadoria · antecipação de recebimentos · linhas de descasque</a:t>
            </a:r>
            <a:endParaRPr lang="en-US" sz="940" dirty="0"/>
          </a:p>
        </p:txBody>
      </p:sp>
      <p:sp>
        <p:nvSpPr>
          <p:cNvPr id="16" name="Shape 12"/>
          <p:cNvSpPr/>
          <p:nvPr/>
        </p:nvSpPr>
        <p:spPr>
          <a:xfrm>
            <a:off x="5897880" y="3858768"/>
            <a:ext cx="5608015" cy="1444752"/>
          </a:xfrm>
          <a:prstGeom prst="roundRect">
            <a:avLst>
              <a:gd name="adj" fmla="val 3797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53912" y="4023360"/>
            <a:ext cx="1078992" cy="237744"/>
          </a:xfrm>
          <a:prstGeom prst="roundRect">
            <a:avLst>
              <a:gd name="adj" fmla="val 50000"/>
            </a:avLst>
          </a:prstGeom>
          <a:solidFill>
            <a:srgbClr val="3A3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153912" y="4023360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SEGMENTO 3</a:t>
            </a:r>
            <a:endParaRPr lang="en-US" sz="740" dirty="0"/>
          </a:p>
        </p:txBody>
      </p:sp>
      <p:sp>
        <p:nvSpPr>
          <p:cNvPr id="19" name="Text 15"/>
          <p:cNvSpPr txBox="1"/>
          <p:nvPr/>
        </p:nvSpPr>
        <p:spPr>
          <a:xfrm>
            <a:off x="7324344" y="3950208"/>
            <a:ext cx="392551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Processadoras de Nampula e Cabo Delgado</a:t>
            </a:r>
            <a:endParaRPr lang="en-US" sz="1350" dirty="0"/>
          </a:p>
        </p:txBody>
      </p:sp>
      <p:sp>
        <p:nvSpPr>
          <p:cNvPr id="20" name="Text 16"/>
          <p:cNvSpPr txBox="1"/>
          <p:nvPr/>
        </p:nvSpPr>
        <p:spPr>
          <a:xfrm>
            <a:off x="6153912" y="4370832"/>
            <a:ext cx="509595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Diversas · nova unidade inaugurada em Palma, em 2024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6153912" y="462686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De 37 para 6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7982712" y="4608576"/>
            <a:ext cx="326715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unidades activas em Nampula, num parque de 15 milhões de plantas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6153912" y="4937760"/>
            <a:ext cx="50959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4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Crédito de reestruturação · investimento · financiamento a agregadores registados</a:t>
            </a:r>
            <a:endParaRPr lang="en-US" sz="940" dirty="0"/>
          </a:p>
        </p:txBody>
      </p:sp>
      <p:sp>
        <p:nvSpPr>
          <p:cNvPr id="24" name="Shape 20"/>
          <p:cNvSpPr/>
          <p:nvPr/>
        </p:nvSpPr>
        <p:spPr>
          <a:xfrm>
            <a:off x="685800" y="5394960"/>
            <a:ext cx="10820095" cy="493776"/>
          </a:xfrm>
          <a:prstGeom prst="roundRect">
            <a:avLst>
              <a:gd name="adj" fmla="val 11111"/>
            </a:avLst>
          </a:prstGeom>
          <a:solidFill>
            <a:srgbClr val="3A3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1014984" y="5394960"/>
            <a:ext cx="1016172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Nampula reduziu-se de 37 para 6 unidades activas: quem subsistiu tenderá a consolidar, e a consolidação requer crédito.</a:t>
            </a:r>
            <a:endParaRPr lang="en-US" sz="1250" dirty="0"/>
          </a:p>
        </p:txBody>
      </p:sp>
      <p:sp>
        <p:nvSpPr>
          <p:cNvPr id="26" name="Text 22"/>
          <p:cNvSpPr txBox="1"/>
          <p:nvPr/>
        </p:nvSpPr>
        <p:spPr>
          <a:xfrm>
            <a:off x="1892808" y="6291072"/>
            <a:ext cx="8808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494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Fontes: Ministério da Agricultura, Ambiente e Pescas · Diário Económico · Agência de Informação de Moçambique.</a:t>
            </a:r>
            <a:endParaRPr lang="en-US" sz="850" dirty="0"/>
          </a:p>
        </p:txBody>
      </p:sp>
    </p:spTree>
  </p:cSld>
  <p:clrMapOvr>
    <a:masterClrMapping/>
  </p:clrMapOvr>
  <p:transition spd="slow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0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46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46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46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023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CEREAIS, ARROZ E MOAGEM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94944"/>
            <a:ext cx="7772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Trigo importado, milho nacional e uma rede de distribuição por bancarizar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6420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 moagem conjuga duas necessidades permanentes: crédito documentário em divisas e cobrança junto de centenas de distribuidores.</a:t>
            </a:r>
            <a:endParaRPr lang="en-US" sz="1300" dirty="0"/>
          </a:p>
        </p:txBody>
      </p:sp>
      <p:pic>
        <p:nvPicPr>
          <p:cNvPr id="5" name="Image 0" descr="/tmp/claude-0/-home-user-momo/176296df-944e-550c-879f-516f4be80ca0/scratchpad/unpacked/ppt/media/image1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705088" y="402336"/>
            <a:ext cx="2798064" cy="1572768"/>
          </a:xfrm>
          <a:prstGeom prst="rect">
            <a:avLst/>
          </a:prstGeom>
        </p:spPr>
      </p:pic>
      <p:pic>
        <p:nvPicPr>
          <p:cNvPr id="6" name="Image 1" descr="/tmp/claude-0/-home-user-momo/176296df-944e-550c-879f-516f4be80ca0/scratchpad/unpacked/ppt/media/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272784"/>
            <a:ext cx="1024128" cy="30175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957255" y="634593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94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16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685800" y="2249424"/>
            <a:ext cx="2513000" cy="3858768"/>
          </a:xfrm>
          <a:prstGeom prst="roundRect">
            <a:avLst>
              <a:gd name="adj" fmla="val 2183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923544" y="2414016"/>
            <a:ext cx="1078992" cy="237744"/>
          </a:xfrm>
          <a:prstGeom prst="roundRect">
            <a:avLst>
              <a:gd name="adj" fmla="val 50000"/>
            </a:avLst>
          </a:prstGeom>
          <a:solidFill>
            <a:srgbClr val="DC00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923544" y="241401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SEGMENTO 1</a:t>
            </a:r>
            <a:endParaRPr lang="en-US" sz="740" dirty="0"/>
          </a:p>
        </p:txBody>
      </p:sp>
      <p:sp>
        <p:nvSpPr>
          <p:cNvPr id="11" name="Text 7"/>
          <p:cNvSpPr txBox="1"/>
          <p:nvPr/>
        </p:nvSpPr>
        <p:spPr>
          <a:xfrm>
            <a:off x="923544" y="2688336"/>
            <a:ext cx="2037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Merec Industries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923544" y="3218688"/>
            <a:ext cx="2037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Capital moçambicano, constituída em 1998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923544" y="3621024"/>
            <a:ext cx="2037512" cy="10973"/>
          </a:xfrm>
          <a:prstGeom prst="rect">
            <a:avLst/>
          </a:prstGeom>
          <a:solidFill>
            <a:srgbClr val="E6E6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923544" y="3721608"/>
            <a:ext cx="203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12 unidades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923544" y="4087368"/>
            <a:ext cx="2037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farinha de milho e de trigo, massas, bolachas e rações</a:t>
            </a:r>
            <a:endParaRPr lang="en-US" sz="980" dirty="0"/>
          </a:p>
        </p:txBody>
      </p:sp>
      <p:sp>
        <p:nvSpPr>
          <p:cNvPr id="16" name="Text 12"/>
          <p:cNvSpPr txBox="1"/>
          <p:nvPr/>
        </p:nvSpPr>
        <p:spPr>
          <a:xfrm>
            <a:off x="923544" y="4572000"/>
            <a:ext cx="2037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i="1" dirty="0">
                <a:solidFill>
                  <a:srgbClr val="8E878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Matola, Beira e Nacala</a:t>
            </a:r>
            <a:endParaRPr lang="en-US" sz="920" dirty="0"/>
          </a:p>
        </p:txBody>
      </p:sp>
      <p:sp>
        <p:nvSpPr>
          <p:cNvPr id="17" name="Text 13"/>
          <p:cNvSpPr txBox="1"/>
          <p:nvPr/>
        </p:nvSpPr>
        <p:spPr>
          <a:xfrm>
            <a:off x="923544" y="4791456"/>
            <a:ext cx="2037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80" kern="0" dirty="0">
                <a:solidFill>
                  <a:srgbClr val="A89F9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OPORTUNIDADE PARA O BANCO</a:t>
            </a:r>
            <a:endParaRPr lang="en-US" sz="680" dirty="0"/>
          </a:p>
        </p:txBody>
      </p:sp>
      <p:sp>
        <p:nvSpPr>
          <p:cNvPr id="18" name="Text 14"/>
          <p:cNvSpPr txBox="1"/>
          <p:nvPr/>
        </p:nvSpPr>
        <p:spPr>
          <a:xfrm>
            <a:off x="923544" y="4956048"/>
            <a:ext cx="20375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8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Crédito documentário e câmbio · digitalização da cobrança na rede nacional</a:t>
            </a:r>
            <a:endParaRPr lang="en-US" sz="980" dirty="0"/>
          </a:p>
        </p:txBody>
      </p:sp>
      <p:sp>
        <p:nvSpPr>
          <p:cNvPr id="19" name="Shape 15"/>
          <p:cNvSpPr/>
          <p:nvPr/>
        </p:nvSpPr>
        <p:spPr>
          <a:xfrm>
            <a:off x="3454832" y="2249424"/>
            <a:ext cx="2513000" cy="3858768"/>
          </a:xfrm>
          <a:prstGeom prst="roundRect">
            <a:avLst>
              <a:gd name="adj" fmla="val 2183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692576" y="2414016"/>
            <a:ext cx="1078992" cy="237744"/>
          </a:xfrm>
          <a:prstGeom prst="roundRect">
            <a:avLst>
              <a:gd name="adj" fmla="val 50000"/>
            </a:avLst>
          </a:prstGeom>
          <a:solidFill>
            <a:srgbClr val="DC00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3692576" y="241401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SEGMENTO 1</a:t>
            </a:r>
            <a:endParaRPr lang="en-US" sz="740" dirty="0"/>
          </a:p>
        </p:txBody>
      </p:sp>
      <p:sp>
        <p:nvSpPr>
          <p:cNvPr id="22" name="Text 18"/>
          <p:cNvSpPr txBox="1"/>
          <p:nvPr/>
        </p:nvSpPr>
        <p:spPr>
          <a:xfrm>
            <a:off x="3692576" y="2688336"/>
            <a:ext cx="2037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Companhia Industrial da Matola</a:t>
            </a:r>
            <a:endParaRPr lang="en-US" sz="1250" dirty="0"/>
          </a:p>
        </p:txBody>
      </p:sp>
      <p:sp>
        <p:nvSpPr>
          <p:cNvPr id="23" name="Text 19"/>
          <p:cNvSpPr txBox="1"/>
          <p:nvPr/>
        </p:nvSpPr>
        <p:spPr>
          <a:xfrm>
            <a:off x="3692576" y="3218688"/>
            <a:ext cx="2037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Grupo DECA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3692576" y="3621024"/>
            <a:ext cx="2037512" cy="10973"/>
          </a:xfrm>
          <a:prstGeom prst="rect">
            <a:avLst/>
          </a:prstGeom>
          <a:solidFill>
            <a:srgbClr val="E6E6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3692576" y="3721608"/>
            <a:ext cx="203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Farinha</a:t>
            </a:r>
            <a:endParaRPr lang="en-US" sz="1900" dirty="0"/>
          </a:p>
        </p:txBody>
      </p:sp>
      <p:sp>
        <p:nvSpPr>
          <p:cNvPr id="26" name="Text 22"/>
          <p:cNvSpPr txBox="1"/>
          <p:nvPr/>
        </p:nvSpPr>
        <p:spPr>
          <a:xfrm>
            <a:off x="3692576" y="4087368"/>
            <a:ext cx="2037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um dos principais fornecedores do mercado de Maputo</a:t>
            </a:r>
            <a:endParaRPr lang="en-US" sz="980" dirty="0"/>
          </a:p>
        </p:txBody>
      </p:sp>
      <p:sp>
        <p:nvSpPr>
          <p:cNvPr id="27" name="Text 23"/>
          <p:cNvSpPr txBox="1"/>
          <p:nvPr/>
        </p:nvSpPr>
        <p:spPr>
          <a:xfrm>
            <a:off x="3692576" y="4572000"/>
            <a:ext cx="2037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i="1" dirty="0">
                <a:solidFill>
                  <a:srgbClr val="8E878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Matola, província de Maputo</a:t>
            </a:r>
            <a:endParaRPr lang="en-US" sz="920" dirty="0"/>
          </a:p>
        </p:txBody>
      </p:sp>
      <p:sp>
        <p:nvSpPr>
          <p:cNvPr id="28" name="Text 24"/>
          <p:cNvSpPr txBox="1"/>
          <p:nvPr/>
        </p:nvSpPr>
        <p:spPr>
          <a:xfrm>
            <a:off x="3692576" y="4791456"/>
            <a:ext cx="2037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80" kern="0" dirty="0">
                <a:solidFill>
                  <a:srgbClr val="A89F9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OPORTUNIDADE PARA O BANCO</a:t>
            </a:r>
            <a:endParaRPr lang="en-US" sz="680" dirty="0"/>
          </a:p>
        </p:txBody>
      </p:sp>
      <p:sp>
        <p:nvSpPr>
          <p:cNvPr id="29" name="Text 25"/>
          <p:cNvSpPr txBox="1"/>
          <p:nvPr/>
        </p:nvSpPr>
        <p:spPr>
          <a:xfrm>
            <a:off x="3692576" y="4956048"/>
            <a:ext cx="20375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8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Financiamento da importação de trigo · cobertura cambial · tesouraria</a:t>
            </a:r>
            <a:endParaRPr lang="en-US" sz="980" dirty="0"/>
          </a:p>
        </p:txBody>
      </p:sp>
      <p:sp>
        <p:nvSpPr>
          <p:cNvPr id="30" name="Shape 26"/>
          <p:cNvSpPr/>
          <p:nvPr/>
        </p:nvSpPr>
        <p:spPr>
          <a:xfrm>
            <a:off x="6223864" y="2249424"/>
            <a:ext cx="2513000" cy="3858768"/>
          </a:xfrm>
          <a:prstGeom prst="roundRect">
            <a:avLst>
              <a:gd name="adj" fmla="val 2183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6461608" y="2414016"/>
            <a:ext cx="1078992" cy="237744"/>
          </a:xfrm>
          <a:prstGeom prst="roundRect">
            <a:avLst>
              <a:gd name="adj" fmla="val 50000"/>
            </a:avLst>
          </a:prstGeom>
          <a:solidFill>
            <a:srgbClr val="3A3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6461608" y="241401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SEGMENTO 2</a:t>
            </a:r>
            <a:endParaRPr lang="en-US" sz="740" dirty="0"/>
          </a:p>
        </p:txBody>
      </p:sp>
      <p:sp>
        <p:nvSpPr>
          <p:cNvPr id="33" name="Text 29"/>
          <p:cNvSpPr txBox="1"/>
          <p:nvPr/>
        </p:nvSpPr>
        <p:spPr>
          <a:xfrm>
            <a:off x="6461608" y="2688336"/>
            <a:ext cx="2037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Pembe Moçambique</a:t>
            </a:r>
            <a:endParaRPr lang="en-US" sz="1250" dirty="0"/>
          </a:p>
        </p:txBody>
      </p:sp>
      <p:sp>
        <p:nvSpPr>
          <p:cNvPr id="34" name="Text 30"/>
          <p:cNvSpPr txBox="1"/>
          <p:nvPr/>
        </p:nvSpPr>
        <p:spPr>
          <a:xfrm>
            <a:off x="6461608" y="3218688"/>
            <a:ext cx="2037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Capital privado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6461608" y="3621024"/>
            <a:ext cx="2037512" cy="10973"/>
          </a:xfrm>
          <a:prstGeom prst="rect">
            <a:avLst/>
          </a:prstGeom>
          <a:solidFill>
            <a:srgbClr val="E6E6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6461608" y="3721608"/>
            <a:ext cx="203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Milho</a:t>
            </a:r>
            <a:endParaRPr lang="en-US" sz="1900" dirty="0"/>
          </a:p>
        </p:txBody>
      </p:sp>
      <p:sp>
        <p:nvSpPr>
          <p:cNvPr id="37" name="Text 33"/>
          <p:cNvSpPr txBox="1"/>
          <p:nvPr/>
        </p:nvSpPr>
        <p:spPr>
          <a:xfrm>
            <a:off x="6461608" y="4087368"/>
            <a:ext cx="2037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unidade de moagem de referência no abastecimento de Maputo</a:t>
            </a:r>
            <a:endParaRPr lang="en-US" sz="980" dirty="0"/>
          </a:p>
        </p:txBody>
      </p:sp>
      <p:sp>
        <p:nvSpPr>
          <p:cNvPr id="38" name="Text 34"/>
          <p:cNvSpPr txBox="1"/>
          <p:nvPr/>
        </p:nvSpPr>
        <p:spPr>
          <a:xfrm>
            <a:off x="6461608" y="4572000"/>
            <a:ext cx="2037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i="1" dirty="0">
                <a:solidFill>
                  <a:srgbClr val="8E878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Maputo</a:t>
            </a:r>
            <a:endParaRPr lang="en-US" sz="920" dirty="0"/>
          </a:p>
        </p:txBody>
      </p:sp>
      <p:sp>
        <p:nvSpPr>
          <p:cNvPr id="39" name="Text 35"/>
          <p:cNvSpPr txBox="1"/>
          <p:nvPr/>
        </p:nvSpPr>
        <p:spPr>
          <a:xfrm>
            <a:off x="6461608" y="4791456"/>
            <a:ext cx="2037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80" kern="0" dirty="0">
                <a:solidFill>
                  <a:srgbClr val="A89F9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OPORTUNIDADE PARA O BANCO</a:t>
            </a:r>
            <a:endParaRPr lang="en-US" sz="680" dirty="0"/>
          </a:p>
        </p:txBody>
      </p:sp>
      <p:sp>
        <p:nvSpPr>
          <p:cNvPr id="40" name="Text 36"/>
          <p:cNvSpPr txBox="1"/>
          <p:nvPr/>
        </p:nvSpPr>
        <p:spPr>
          <a:xfrm>
            <a:off x="6461608" y="4956048"/>
            <a:ext cx="20375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8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Capital de exploração · aquisição de milho nacional no pico da colheita</a:t>
            </a:r>
            <a:endParaRPr lang="en-US" sz="980" dirty="0"/>
          </a:p>
        </p:txBody>
      </p:sp>
      <p:sp>
        <p:nvSpPr>
          <p:cNvPr id="41" name="Shape 37"/>
          <p:cNvSpPr/>
          <p:nvPr/>
        </p:nvSpPr>
        <p:spPr>
          <a:xfrm>
            <a:off x="8992895" y="2249424"/>
            <a:ext cx="2513000" cy="3858768"/>
          </a:xfrm>
          <a:prstGeom prst="roundRect">
            <a:avLst>
              <a:gd name="adj" fmla="val 2183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42" name="Shape 38"/>
          <p:cNvSpPr/>
          <p:nvPr/>
        </p:nvSpPr>
        <p:spPr>
          <a:xfrm>
            <a:off x="9230639" y="2414016"/>
            <a:ext cx="1078992" cy="237744"/>
          </a:xfrm>
          <a:prstGeom prst="roundRect">
            <a:avLst>
              <a:gd name="adj" fmla="val 50000"/>
            </a:avLst>
          </a:prstGeom>
          <a:solidFill>
            <a:srgbClr val="3A3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9230639" y="241401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SEGMENTO 2</a:t>
            </a:r>
            <a:endParaRPr lang="en-US" sz="740" dirty="0"/>
          </a:p>
        </p:txBody>
      </p:sp>
      <p:sp>
        <p:nvSpPr>
          <p:cNvPr id="44" name="Text 40"/>
          <p:cNvSpPr txBox="1"/>
          <p:nvPr/>
        </p:nvSpPr>
        <p:spPr>
          <a:xfrm>
            <a:off x="9230639" y="2688336"/>
            <a:ext cx="2037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Wanbao Africa Agriculture</a:t>
            </a:r>
            <a:endParaRPr lang="en-US" sz="1250" dirty="0"/>
          </a:p>
        </p:txBody>
      </p:sp>
      <p:sp>
        <p:nvSpPr>
          <p:cNvPr id="45" name="Text 41"/>
          <p:cNvSpPr txBox="1"/>
          <p:nvPr/>
        </p:nvSpPr>
        <p:spPr>
          <a:xfrm>
            <a:off x="9230639" y="3218688"/>
            <a:ext cx="2037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Fundo de Desenvolvimento China-África</a:t>
            </a:r>
            <a:endParaRPr lang="en-US" sz="900" dirty="0"/>
          </a:p>
        </p:txBody>
      </p:sp>
      <p:sp>
        <p:nvSpPr>
          <p:cNvPr id="46" name="Shape 42"/>
          <p:cNvSpPr/>
          <p:nvPr/>
        </p:nvSpPr>
        <p:spPr>
          <a:xfrm>
            <a:off x="9230639" y="3621024"/>
            <a:ext cx="2037512" cy="10973"/>
          </a:xfrm>
          <a:prstGeom prst="rect">
            <a:avLst/>
          </a:prstGeom>
          <a:solidFill>
            <a:srgbClr val="E6E6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9230639" y="3721608"/>
            <a:ext cx="203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16.000 t</a:t>
            </a:r>
            <a:endParaRPr lang="en-US" sz="1900" dirty="0"/>
          </a:p>
        </p:txBody>
      </p:sp>
      <p:sp>
        <p:nvSpPr>
          <p:cNvPr id="48" name="Text 44"/>
          <p:cNvSpPr txBox="1"/>
          <p:nvPr/>
        </p:nvSpPr>
        <p:spPr>
          <a:xfrm>
            <a:off x="9230639" y="4087368"/>
            <a:ext cx="2037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de arroz por ano; 353 famílias produtoras integradas</a:t>
            </a:r>
            <a:endParaRPr lang="en-US" sz="980" dirty="0"/>
          </a:p>
        </p:txBody>
      </p:sp>
      <p:sp>
        <p:nvSpPr>
          <p:cNvPr id="49" name="Text 45"/>
          <p:cNvSpPr txBox="1"/>
          <p:nvPr/>
        </p:nvSpPr>
        <p:spPr>
          <a:xfrm>
            <a:off x="9230639" y="4572000"/>
            <a:ext cx="2037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i="1" dirty="0">
                <a:solidFill>
                  <a:srgbClr val="8E878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Xai-Xai, província de Gaza</a:t>
            </a:r>
            <a:endParaRPr lang="en-US" sz="920" dirty="0"/>
          </a:p>
        </p:txBody>
      </p:sp>
      <p:sp>
        <p:nvSpPr>
          <p:cNvPr id="50" name="Text 46"/>
          <p:cNvSpPr txBox="1"/>
          <p:nvPr/>
        </p:nvSpPr>
        <p:spPr>
          <a:xfrm>
            <a:off x="9230639" y="4791456"/>
            <a:ext cx="2037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80" kern="0" dirty="0">
                <a:solidFill>
                  <a:srgbClr val="A89F9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OPORTUNIDADE PARA O BANCO</a:t>
            </a:r>
            <a:endParaRPr lang="en-US" sz="680" dirty="0"/>
          </a:p>
        </p:txBody>
      </p:sp>
      <p:sp>
        <p:nvSpPr>
          <p:cNvPr id="51" name="Text 47"/>
          <p:cNvSpPr txBox="1"/>
          <p:nvPr/>
        </p:nvSpPr>
        <p:spPr>
          <a:xfrm>
            <a:off x="9230639" y="4956048"/>
            <a:ext cx="20375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8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Mecanização e rega · crédito ao abrigo de contrato · seguro contra cheias</a:t>
            </a:r>
            <a:endParaRPr lang="en-US" sz="980" dirty="0"/>
          </a:p>
        </p:txBody>
      </p:sp>
      <p:sp>
        <p:nvSpPr>
          <p:cNvPr id="52" name="Text 48"/>
          <p:cNvSpPr txBox="1"/>
          <p:nvPr/>
        </p:nvSpPr>
        <p:spPr>
          <a:xfrm>
            <a:off x="1892808" y="6291072"/>
            <a:ext cx="8808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494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Fontes: Merec Industries · Observatório do Meio Rural · SAIS-CARI e agência Xinhua.</a:t>
            </a:r>
            <a:endParaRPr lang="en-US" sz="850" dirty="0"/>
          </a:p>
        </p:txBody>
      </p:sp>
    </p:spTree>
  </p:cSld>
  <p:clrMapOvr>
    <a:masterClrMapping/>
  </p:clrMapOvr>
  <p:transition spd="slow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4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4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" dur="4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4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4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2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4" dur="4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5" dur="4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0" dur="4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1" dur="4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4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6" dur="4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7" dur="4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0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2" dur="4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3" dur="4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6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8" dur="4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9" dur="4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2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4" dur="4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5" dur="4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8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0" dur="4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1" dur="4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4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6" dur="4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7" dur="4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2" dur="4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3" dur="4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6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8" dur="4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9" dur="4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2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4" dur="4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5" dur="4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8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0" dur="4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1" dur="4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4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6" dur="4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7" dur="4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0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2" dur="4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3" dur="4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6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8" dur="4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9" dur="4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2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4" dur="4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5" dur="4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8" presetID="2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0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1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4" presetID="10" presetClass="entr" presetSubtype="0" fill="hold" grpId="0" nodeType="withEffect">
                                  <p:stCondLst>
                                    <p:cond delay="174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6" dur="46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023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FLORESTA, COCO E CHÁ · CULTURAS DE LONGA MATURIDADE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94944"/>
            <a:ext cx="7772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Ciclos longos, com uma cadeia de fornecedores desde já financiável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6420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Enquanto o activo principal amadurece ao longo de sete a vinte anos, os empreiteiros, transportadores e prestadores de serviços locais necessitam de crédito no imediato.</a:t>
            </a:r>
            <a:endParaRPr lang="en-US" sz="1300" dirty="0"/>
          </a:p>
        </p:txBody>
      </p:sp>
      <p:pic>
        <p:nvPicPr>
          <p:cNvPr id="5" name="Image 0" descr="/tmp/claude-0/-home-user-momo/176296df-944e-550c-879f-516f4be80ca0/scratchpad/unpacked/ppt/media/image5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705088" y="402336"/>
            <a:ext cx="2798064" cy="1572768"/>
          </a:xfrm>
          <a:prstGeom prst="rect">
            <a:avLst/>
          </a:prstGeom>
        </p:spPr>
      </p:pic>
      <p:pic>
        <p:nvPicPr>
          <p:cNvPr id="6" name="Image 1" descr="/tmp/claude-0/-home-user-momo/176296df-944e-550c-879f-516f4be80ca0/scratchpad/unpacked/ppt/media/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272784"/>
            <a:ext cx="1024128" cy="30175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957255" y="634593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94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17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685800" y="2249424"/>
            <a:ext cx="1988454" cy="3858768"/>
          </a:xfrm>
          <a:prstGeom prst="roundRect">
            <a:avLst>
              <a:gd name="adj" fmla="val 2759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868680" y="2414016"/>
            <a:ext cx="1078992" cy="237744"/>
          </a:xfrm>
          <a:prstGeom prst="roundRect">
            <a:avLst>
              <a:gd name="adj" fmla="val 50000"/>
            </a:avLst>
          </a:prstGeom>
          <a:solidFill>
            <a:srgbClr val="DC00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68680" y="241401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SEGMENTO 1</a:t>
            </a:r>
            <a:endParaRPr lang="en-US" sz="74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2688336"/>
            <a:ext cx="16226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Portucel Moçambique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3218688"/>
            <a:ext cx="16226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4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The Navigator Company; o IFC detém cerca de 20%</a:t>
            </a:r>
            <a:endParaRPr lang="en-US" sz="840" dirty="0"/>
          </a:p>
        </p:txBody>
      </p:sp>
      <p:sp>
        <p:nvSpPr>
          <p:cNvPr id="13" name="Shape 9"/>
          <p:cNvSpPr/>
          <p:nvPr/>
        </p:nvSpPr>
        <p:spPr>
          <a:xfrm>
            <a:off x="868680" y="3621024"/>
            <a:ext cx="1622694" cy="10973"/>
          </a:xfrm>
          <a:prstGeom prst="rect">
            <a:avLst/>
          </a:prstGeom>
          <a:solidFill>
            <a:srgbClr val="E6E6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68680" y="3721608"/>
            <a:ext cx="16226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356.000 ha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868680" y="4087368"/>
            <a:ext cx="16226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de concessão; 14.000 ha plantados e 120 milhões de dólares investidos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868680" y="4572000"/>
            <a:ext cx="16226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i="1" dirty="0">
                <a:solidFill>
                  <a:srgbClr val="8E878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Manica e Zambézia</a:t>
            </a:r>
            <a:endParaRPr lang="en-US" sz="840" dirty="0"/>
          </a:p>
        </p:txBody>
      </p:sp>
      <p:sp>
        <p:nvSpPr>
          <p:cNvPr id="17" name="Text 13"/>
          <p:cNvSpPr txBox="1"/>
          <p:nvPr/>
        </p:nvSpPr>
        <p:spPr>
          <a:xfrm>
            <a:off x="868680" y="4791456"/>
            <a:ext cx="162269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80" kern="0" dirty="0">
                <a:solidFill>
                  <a:srgbClr val="A89F9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OPORTUNIDADE PARA O BANCO</a:t>
            </a:r>
            <a:endParaRPr lang="en-US" sz="680" dirty="0"/>
          </a:p>
        </p:txBody>
      </p:sp>
      <p:sp>
        <p:nvSpPr>
          <p:cNvPr id="18" name="Text 14"/>
          <p:cNvSpPr txBox="1"/>
          <p:nvPr/>
        </p:nvSpPr>
        <p:spPr>
          <a:xfrm>
            <a:off x="868680" y="4956048"/>
            <a:ext cx="162269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Financiamento de projecto · financiamento de empreiteiros e transportadores locais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2893710" y="2249424"/>
            <a:ext cx="1988454" cy="3858768"/>
          </a:xfrm>
          <a:prstGeom prst="roundRect">
            <a:avLst>
              <a:gd name="adj" fmla="val 2759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076590" y="2414016"/>
            <a:ext cx="1078992" cy="237744"/>
          </a:xfrm>
          <a:prstGeom prst="roundRect">
            <a:avLst>
              <a:gd name="adj" fmla="val 50000"/>
            </a:avLst>
          </a:prstGeom>
          <a:solidFill>
            <a:srgbClr val="3A3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3076590" y="241401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SEGMENTO 2</a:t>
            </a:r>
            <a:endParaRPr lang="en-US" sz="740" dirty="0"/>
          </a:p>
        </p:txBody>
      </p:sp>
      <p:sp>
        <p:nvSpPr>
          <p:cNvPr id="22" name="Text 18"/>
          <p:cNvSpPr txBox="1"/>
          <p:nvPr/>
        </p:nvSpPr>
        <p:spPr>
          <a:xfrm>
            <a:off x="3076590" y="2688336"/>
            <a:ext cx="16226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Green Resources Moçambique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3076590" y="3218688"/>
            <a:ext cx="16226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4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Capital norueguês</a:t>
            </a:r>
            <a:endParaRPr lang="en-US" sz="840" dirty="0"/>
          </a:p>
        </p:txBody>
      </p:sp>
      <p:sp>
        <p:nvSpPr>
          <p:cNvPr id="24" name="Shape 20"/>
          <p:cNvSpPr/>
          <p:nvPr/>
        </p:nvSpPr>
        <p:spPr>
          <a:xfrm>
            <a:off x="3076590" y="3621024"/>
            <a:ext cx="1622694" cy="10973"/>
          </a:xfrm>
          <a:prstGeom prst="rect">
            <a:avLst/>
          </a:prstGeom>
          <a:solidFill>
            <a:srgbClr val="E6E6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3076590" y="3721608"/>
            <a:ext cx="16226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17.000 ha</a:t>
            </a:r>
            <a:endParaRPr lang="en-US" sz="1700" dirty="0"/>
          </a:p>
        </p:txBody>
      </p:sp>
      <p:sp>
        <p:nvSpPr>
          <p:cNvPr id="26" name="Text 22"/>
          <p:cNvSpPr txBox="1"/>
          <p:nvPr/>
        </p:nvSpPr>
        <p:spPr>
          <a:xfrm>
            <a:off x="3076590" y="4087368"/>
            <a:ext cx="16226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plantados em sete distritos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3076590" y="4572000"/>
            <a:ext cx="16226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i="1" dirty="0">
                <a:solidFill>
                  <a:srgbClr val="8E878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Niassa</a:t>
            </a:r>
            <a:endParaRPr lang="en-US" sz="840" dirty="0"/>
          </a:p>
        </p:txBody>
      </p:sp>
      <p:sp>
        <p:nvSpPr>
          <p:cNvPr id="28" name="Text 24"/>
          <p:cNvSpPr txBox="1"/>
          <p:nvPr/>
        </p:nvSpPr>
        <p:spPr>
          <a:xfrm>
            <a:off x="3076590" y="4791456"/>
            <a:ext cx="162269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80" kern="0" dirty="0">
                <a:solidFill>
                  <a:srgbClr val="A89F9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OPORTUNIDADE PARA O BANCO</a:t>
            </a:r>
            <a:endParaRPr lang="en-US" sz="680" dirty="0"/>
          </a:p>
        </p:txBody>
      </p:sp>
      <p:sp>
        <p:nvSpPr>
          <p:cNvPr id="29" name="Text 25"/>
          <p:cNvSpPr txBox="1"/>
          <p:nvPr/>
        </p:nvSpPr>
        <p:spPr>
          <a:xfrm>
            <a:off x="3076590" y="4956048"/>
            <a:ext cx="162269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Operações de colheita e serração · financiamento de activos florestais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5101620" y="2249424"/>
            <a:ext cx="1988454" cy="3858768"/>
          </a:xfrm>
          <a:prstGeom prst="roundRect">
            <a:avLst>
              <a:gd name="adj" fmla="val 2759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5284500" y="2414016"/>
            <a:ext cx="1078992" cy="237744"/>
          </a:xfrm>
          <a:prstGeom prst="roundRect">
            <a:avLst>
              <a:gd name="adj" fmla="val 50000"/>
            </a:avLst>
          </a:prstGeom>
          <a:solidFill>
            <a:srgbClr val="3A3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5284500" y="241401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SEGMENTO 2</a:t>
            </a:r>
            <a:endParaRPr lang="en-US" sz="740" dirty="0"/>
          </a:p>
        </p:txBody>
      </p:sp>
      <p:sp>
        <p:nvSpPr>
          <p:cNvPr id="33" name="Text 29"/>
          <p:cNvSpPr txBox="1"/>
          <p:nvPr/>
        </p:nvSpPr>
        <p:spPr>
          <a:xfrm>
            <a:off x="5284500" y="2688336"/>
            <a:ext cx="16226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IFLOMA</a:t>
            </a:r>
            <a:endParaRPr lang="en-US" sz="1150" dirty="0"/>
          </a:p>
        </p:txBody>
      </p:sp>
      <p:sp>
        <p:nvSpPr>
          <p:cNvPr id="34" name="Text 30"/>
          <p:cNvSpPr txBox="1"/>
          <p:nvPr/>
        </p:nvSpPr>
        <p:spPr>
          <a:xfrm>
            <a:off x="5284500" y="3218688"/>
            <a:ext cx="16226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4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SAFCOL, da África do Sul, constituída em 1977</a:t>
            </a:r>
            <a:endParaRPr lang="en-US" sz="840" dirty="0"/>
          </a:p>
        </p:txBody>
      </p:sp>
      <p:sp>
        <p:nvSpPr>
          <p:cNvPr id="35" name="Shape 31"/>
          <p:cNvSpPr/>
          <p:nvPr/>
        </p:nvSpPr>
        <p:spPr>
          <a:xfrm>
            <a:off x="5284500" y="3621024"/>
            <a:ext cx="1622694" cy="10973"/>
          </a:xfrm>
          <a:prstGeom prst="rect">
            <a:avLst/>
          </a:prstGeom>
          <a:solidFill>
            <a:srgbClr val="E6E6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5284500" y="3721608"/>
            <a:ext cx="16226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31.000 ha</a:t>
            </a:r>
            <a:endParaRPr lang="en-US" sz="1700" dirty="0"/>
          </a:p>
        </p:txBody>
      </p:sp>
      <p:sp>
        <p:nvSpPr>
          <p:cNvPr id="37" name="Text 33"/>
          <p:cNvSpPr txBox="1"/>
          <p:nvPr/>
        </p:nvSpPr>
        <p:spPr>
          <a:xfrm>
            <a:off x="5284500" y="4087368"/>
            <a:ext cx="16226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de direito de uso da terra, dos quais 16.275 plantáveis</a:t>
            </a:r>
            <a:endParaRPr lang="en-US" sz="900" dirty="0"/>
          </a:p>
        </p:txBody>
      </p:sp>
      <p:sp>
        <p:nvSpPr>
          <p:cNvPr id="38" name="Text 34"/>
          <p:cNvSpPr txBox="1"/>
          <p:nvPr/>
        </p:nvSpPr>
        <p:spPr>
          <a:xfrm>
            <a:off x="5284500" y="4572000"/>
            <a:ext cx="16226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i="1" dirty="0">
                <a:solidFill>
                  <a:srgbClr val="8E878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Manica</a:t>
            </a:r>
            <a:endParaRPr lang="en-US" sz="840" dirty="0"/>
          </a:p>
        </p:txBody>
      </p:sp>
      <p:sp>
        <p:nvSpPr>
          <p:cNvPr id="39" name="Text 35"/>
          <p:cNvSpPr txBox="1"/>
          <p:nvPr/>
        </p:nvSpPr>
        <p:spPr>
          <a:xfrm>
            <a:off x="5284500" y="4791456"/>
            <a:ext cx="162269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80" kern="0" dirty="0">
                <a:solidFill>
                  <a:srgbClr val="A89F9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OPORTUNIDADE PARA O BANCO</a:t>
            </a:r>
            <a:endParaRPr lang="en-US" sz="680" dirty="0"/>
          </a:p>
        </p:txBody>
      </p:sp>
      <p:sp>
        <p:nvSpPr>
          <p:cNvPr id="40" name="Text 36"/>
          <p:cNvSpPr txBox="1"/>
          <p:nvPr/>
        </p:nvSpPr>
        <p:spPr>
          <a:xfrm>
            <a:off x="5284500" y="4956048"/>
            <a:ext cx="162269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Investimento em serração · capital de exploração · contratos locais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7309531" y="2249424"/>
            <a:ext cx="1988454" cy="3858768"/>
          </a:xfrm>
          <a:prstGeom prst="roundRect">
            <a:avLst>
              <a:gd name="adj" fmla="val 2759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42" name="Shape 38"/>
          <p:cNvSpPr/>
          <p:nvPr/>
        </p:nvSpPr>
        <p:spPr>
          <a:xfrm>
            <a:off x="7492411" y="2414016"/>
            <a:ext cx="1078992" cy="237744"/>
          </a:xfrm>
          <a:prstGeom prst="roundRect">
            <a:avLst>
              <a:gd name="adj" fmla="val 50000"/>
            </a:avLst>
          </a:prstGeom>
          <a:solidFill>
            <a:srgbClr val="3A3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7492411" y="241401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SEGMENTO 2</a:t>
            </a:r>
            <a:endParaRPr lang="en-US" sz="740" dirty="0"/>
          </a:p>
        </p:txBody>
      </p:sp>
      <p:sp>
        <p:nvSpPr>
          <p:cNvPr id="44" name="Text 40"/>
          <p:cNvSpPr txBox="1"/>
          <p:nvPr/>
        </p:nvSpPr>
        <p:spPr>
          <a:xfrm>
            <a:off x="7492411" y="2688336"/>
            <a:ext cx="16226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Grupo Madal</a:t>
            </a:r>
            <a:endParaRPr lang="en-US" sz="1150" dirty="0"/>
          </a:p>
        </p:txBody>
      </p:sp>
      <p:sp>
        <p:nvSpPr>
          <p:cNvPr id="45" name="Text 41"/>
          <p:cNvSpPr txBox="1"/>
          <p:nvPr/>
        </p:nvSpPr>
        <p:spPr>
          <a:xfrm>
            <a:off x="7492411" y="3218688"/>
            <a:ext cx="16226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4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Família Bento, com actividade desde 1903</a:t>
            </a:r>
            <a:endParaRPr lang="en-US" sz="840" dirty="0"/>
          </a:p>
        </p:txBody>
      </p:sp>
      <p:sp>
        <p:nvSpPr>
          <p:cNvPr id="46" name="Shape 42"/>
          <p:cNvSpPr/>
          <p:nvPr/>
        </p:nvSpPr>
        <p:spPr>
          <a:xfrm>
            <a:off x="7492411" y="3621024"/>
            <a:ext cx="1622694" cy="10973"/>
          </a:xfrm>
          <a:prstGeom prst="rect">
            <a:avLst/>
          </a:prstGeom>
          <a:solidFill>
            <a:srgbClr val="E6E6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7492411" y="3721608"/>
            <a:ext cx="16226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Maior</a:t>
            </a:r>
            <a:endParaRPr lang="en-US" sz="1700" dirty="0"/>
          </a:p>
        </p:txBody>
      </p:sp>
      <p:sp>
        <p:nvSpPr>
          <p:cNvPr id="48" name="Text 44"/>
          <p:cNvSpPr txBox="1"/>
          <p:nvPr/>
        </p:nvSpPr>
        <p:spPr>
          <a:xfrm>
            <a:off x="7492411" y="4087368"/>
            <a:ext cx="16226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produtor nacional de coco; actua também em pecuária e hotelaria</a:t>
            </a:r>
            <a:endParaRPr lang="en-US" sz="900" dirty="0"/>
          </a:p>
        </p:txBody>
      </p:sp>
      <p:sp>
        <p:nvSpPr>
          <p:cNvPr id="49" name="Text 45"/>
          <p:cNvSpPr txBox="1"/>
          <p:nvPr/>
        </p:nvSpPr>
        <p:spPr>
          <a:xfrm>
            <a:off x="7492411" y="4572000"/>
            <a:ext cx="16226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i="1" dirty="0">
                <a:solidFill>
                  <a:srgbClr val="8E878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Zambézia</a:t>
            </a:r>
            <a:endParaRPr lang="en-US" sz="840" dirty="0"/>
          </a:p>
        </p:txBody>
      </p:sp>
      <p:sp>
        <p:nvSpPr>
          <p:cNvPr id="50" name="Text 46"/>
          <p:cNvSpPr txBox="1"/>
          <p:nvPr/>
        </p:nvSpPr>
        <p:spPr>
          <a:xfrm>
            <a:off x="7492411" y="4791456"/>
            <a:ext cx="162269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80" kern="0" dirty="0">
                <a:solidFill>
                  <a:srgbClr val="A89F9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OPORTUNIDADE PARA O BANCO</a:t>
            </a:r>
            <a:endParaRPr lang="en-US" sz="680" dirty="0"/>
          </a:p>
        </p:txBody>
      </p:sp>
      <p:sp>
        <p:nvSpPr>
          <p:cNvPr id="51" name="Text 47"/>
          <p:cNvSpPr txBox="1"/>
          <p:nvPr/>
        </p:nvSpPr>
        <p:spPr>
          <a:xfrm>
            <a:off x="7492411" y="4956048"/>
            <a:ext cx="162269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Relação de grupo · replantação de coqueiral · financiamento imobiliário</a:t>
            </a:r>
            <a:endParaRPr lang="en-US" sz="900" dirty="0"/>
          </a:p>
        </p:txBody>
      </p:sp>
      <p:sp>
        <p:nvSpPr>
          <p:cNvPr id="52" name="Shape 48"/>
          <p:cNvSpPr/>
          <p:nvPr/>
        </p:nvSpPr>
        <p:spPr>
          <a:xfrm>
            <a:off x="9517441" y="2249424"/>
            <a:ext cx="1988454" cy="3858768"/>
          </a:xfrm>
          <a:prstGeom prst="roundRect">
            <a:avLst>
              <a:gd name="adj" fmla="val 2759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53" name="Shape 49"/>
          <p:cNvSpPr/>
          <p:nvPr/>
        </p:nvSpPr>
        <p:spPr>
          <a:xfrm>
            <a:off x="9700321" y="2414016"/>
            <a:ext cx="1078992" cy="237744"/>
          </a:xfrm>
          <a:prstGeom prst="roundRect">
            <a:avLst>
              <a:gd name="adj" fmla="val 50000"/>
            </a:avLst>
          </a:prstGeom>
          <a:solidFill>
            <a:srgbClr val="3A3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9700321" y="241401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SEGMENTO 3</a:t>
            </a:r>
            <a:endParaRPr lang="en-US" sz="740" dirty="0"/>
          </a:p>
        </p:txBody>
      </p:sp>
      <p:sp>
        <p:nvSpPr>
          <p:cNvPr id="55" name="Text 51"/>
          <p:cNvSpPr txBox="1"/>
          <p:nvPr/>
        </p:nvSpPr>
        <p:spPr>
          <a:xfrm>
            <a:off x="9700321" y="2688336"/>
            <a:ext cx="16226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Chá do Gurué</a:t>
            </a:r>
            <a:endParaRPr lang="en-US" sz="1150" dirty="0"/>
          </a:p>
        </p:txBody>
      </p:sp>
      <p:sp>
        <p:nvSpPr>
          <p:cNvPr id="56" name="Text 52"/>
          <p:cNvSpPr txBox="1"/>
          <p:nvPr/>
        </p:nvSpPr>
        <p:spPr>
          <a:xfrm>
            <a:off x="9700321" y="3218688"/>
            <a:ext cx="16226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4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SDZ, Chá Magoma e Chazeiras de Moçambique</a:t>
            </a:r>
            <a:endParaRPr lang="en-US" sz="840" dirty="0"/>
          </a:p>
        </p:txBody>
      </p:sp>
      <p:sp>
        <p:nvSpPr>
          <p:cNvPr id="57" name="Shape 53"/>
          <p:cNvSpPr/>
          <p:nvPr/>
        </p:nvSpPr>
        <p:spPr>
          <a:xfrm>
            <a:off x="9700321" y="3621024"/>
            <a:ext cx="1622694" cy="10973"/>
          </a:xfrm>
          <a:prstGeom prst="rect">
            <a:avLst/>
          </a:prstGeom>
          <a:solidFill>
            <a:srgbClr val="E6E6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4"/>
          <p:cNvSpPr txBox="1"/>
          <p:nvPr/>
        </p:nvSpPr>
        <p:spPr>
          <a:xfrm>
            <a:off x="9700321" y="3721608"/>
            <a:ext cx="16226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4.400 t</a:t>
            </a:r>
            <a:endParaRPr lang="en-US" sz="1700" dirty="0"/>
          </a:p>
        </p:txBody>
      </p:sp>
      <p:sp>
        <p:nvSpPr>
          <p:cNvPr id="59" name="Text 55"/>
          <p:cNvSpPr txBox="1"/>
          <p:nvPr/>
        </p:nvSpPr>
        <p:spPr>
          <a:xfrm>
            <a:off x="9700321" y="4087368"/>
            <a:ext cx="16226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de folha verde previstas, em 4.908 hectares</a:t>
            </a:r>
            <a:endParaRPr lang="en-US" sz="900" dirty="0"/>
          </a:p>
        </p:txBody>
      </p:sp>
      <p:sp>
        <p:nvSpPr>
          <p:cNvPr id="60" name="Text 56"/>
          <p:cNvSpPr txBox="1"/>
          <p:nvPr/>
        </p:nvSpPr>
        <p:spPr>
          <a:xfrm>
            <a:off x="9700321" y="4572000"/>
            <a:ext cx="16226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i="1" dirty="0">
                <a:solidFill>
                  <a:srgbClr val="8E878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Gurué, Zambézia</a:t>
            </a:r>
            <a:endParaRPr lang="en-US" sz="840" dirty="0"/>
          </a:p>
        </p:txBody>
      </p:sp>
      <p:sp>
        <p:nvSpPr>
          <p:cNvPr id="61" name="Text 57"/>
          <p:cNvSpPr txBox="1"/>
          <p:nvPr/>
        </p:nvSpPr>
        <p:spPr>
          <a:xfrm>
            <a:off x="9700321" y="4791456"/>
            <a:ext cx="162269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80" kern="0" dirty="0">
                <a:solidFill>
                  <a:srgbClr val="A89F9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OPORTUNIDADE PARA O BANCO</a:t>
            </a:r>
            <a:endParaRPr lang="en-US" sz="680" dirty="0"/>
          </a:p>
        </p:txBody>
      </p:sp>
      <p:sp>
        <p:nvSpPr>
          <p:cNvPr id="62" name="Text 58"/>
          <p:cNvSpPr txBox="1"/>
          <p:nvPr/>
        </p:nvSpPr>
        <p:spPr>
          <a:xfrm>
            <a:off x="9700321" y="4956048"/>
            <a:ext cx="162269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Reabilitação de unidades fabris · capital de campanha · salários sazonais</a:t>
            </a:r>
            <a:endParaRPr lang="en-US" sz="900" dirty="0"/>
          </a:p>
        </p:txBody>
      </p:sp>
      <p:sp>
        <p:nvSpPr>
          <p:cNvPr id="63" name="Text 59"/>
          <p:cNvSpPr txBox="1"/>
          <p:nvPr/>
        </p:nvSpPr>
        <p:spPr>
          <a:xfrm>
            <a:off x="1892808" y="6291072"/>
            <a:ext cx="8808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494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Fontes: The Navigator Company e Portucel Moçambique · Banco Mundial, The Plantation Forestry Sector in Mozambique · Rádio Moçambique.</a:t>
            </a:r>
            <a:endParaRPr lang="en-US" sz="850" dirty="0"/>
          </a:p>
        </p:txBody>
      </p:sp>
    </p:spTree>
  </p:cSld>
  <p:clrMapOvr>
    <a:masterClrMapping/>
  </p:clrMapOvr>
  <p:transition spd="slow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4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4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" dur="4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4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4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2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4" dur="4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5" dur="4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0" dur="4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1" dur="4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4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6" dur="4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7" dur="4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0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2" dur="4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3" dur="4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6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8" dur="4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9" dur="4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2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4" dur="4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5" dur="4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8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0" dur="4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1" dur="4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4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6" dur="4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7" dur="4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2" dur="4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3" dur="4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6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8" dur="4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9" dur="4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2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4" dur="4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5" dur="4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8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0" dur="4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1" dur="4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4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6" dur="4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7" dur="4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0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2" dur="4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3" dur="4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6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8" dur="4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9" dur="4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2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4" dur="4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5" dur="4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8" presetID="2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0" dur="4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1" dur="4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4" presetID="2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6" dur="4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7" dur="4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0" presetID="2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2" dur="4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3" dur="4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6" presetID="2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8" dur="4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9" dur="4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2" presetID="2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4" dur="4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5" dur="4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8" presetID="2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0" dur="4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1" dur="4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4" presetID="2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6" dur="4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7" dur="4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0" presetID="2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2" dur="4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3" dur="4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6" presetID="2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8" dur="42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9" dur="42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2" presetID="2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4" dur="42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5" dur="42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8" presetID="2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0" dur="42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1" dur="42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4" presetID="2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6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7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0" presetID="10" presetClass="entr" presetSubtype="0" fill="hold" grpId="0" nodeType="withEffect">
                                  <p:stCondLst>
                                    <p:cond delay="174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2" dur="46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023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INSUMOS, DISTRIBUIÇÃO E COMERCIALIZAÇÃO INTERNACIONAL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94944"/>
            <a:ext cx="7772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O canal de captação de clientes já instalado no terreno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6420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Estas empresas não são apenas clientes: constituem a infra-estrutura através da qual o Banco alcança milhares de contrapartes do terceiro segmento.</a:t>
            </a:r>
            <a:endParaRPr lang="en-US" sz="1300" dirty="0"/>
          </a:p>
        </p:txBody>
      </p:sp>
      <p:pic>
        <p:nvPicPr>
          <p:cNvPr id="5" name="Image 0" descr="/tmp/claude-0/-home-user-momo/176296df-944e-550c-879f-516f4be80ca0/scratchpad/unpacked/ppt/media/image9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705088" y="402336"/>
            <a:ext cx="2798064" cy="1572768"/>
          </a:xfrm>
          <a:prstGeom prst="rect">
            <a:avLst/>
          </a:prstGeom>
        </p:spPr>
      </p:pic>
      <p:pic>
        <p:nvPicPr>
          <p:cNvPr id="6" name="Image 1" descr="/tmp/claude-0/-home-user-momo/176296df-944e-550c-879f-516f4be80ca0/scratchpad/unpacked/ppt/media/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272784"/>
            <a:ext cx="1024128" cy="30175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957255" y="634593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94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18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685800" y="2249424"/>
            <a:ext cx="3375050" cy="3273552"/>
          </a:xfrm>
          <a:prstGeom prst="roundRect">
            <a:avLst>
              <a:gd name="adj" fmla="val 1676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923544" y="2414016"/>
            <a:ext cx="1078992" cy="237744"/>
          </a:xfrm>
          <a:prstGeom prst="roundRect">
            <a:avLst>
              <a:gd name="adj" fmla="val 50000"/>
            </a:avLst>
          </a:prstGeom>
          <a:solidFill>
            <a:srgbClr val="3A3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923544" y="241401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SEGMENTO 2</a:t>
            </a:r>
            <a:endParaRPr lang="en-US" sz="740" dirty="0"/>
          </a:p>
        </p:txBody>
      </p:sp>
      <p:sp>
        <p:nvSpPr>
          <p:cNvPr id="11" name="Text 7"/>
          <p:cNvSpPr txBox="1"/>
          <p:nvPr/>
        </p:nvSpPr>
        <p:spPr>
          <a:xfrm>
            <a:off x="923544" y="2688336"/>
            <a:ext cx="289956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AQI, anteriormente Casa do Agricultor</a:t>
            </a:r>
            <a:endParaRPr lang="en-US" sz="1450" dirty="0"/>
          </a:p>
        </p:txBody>
      </p:sp>
      <p:sp>
        <p:nvSpPr>
          <p:cNvPr id="12" name="Text 8"/>
          <p:cNvSpPr txBox="1"/>
          <p:nvPr/>
        </p:nvSpPr>
        <p:spPr>
          <a:xfrm>
            <a:off x="923544" y="3218688"/>
            <a:ext cx="28995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Capital privado · 14 lojas e mais de 100 colaboradores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923544" y="3621024"/>
            <a:ext cx="2899562" cy="10973"/>
          </a:xfrm>
          <a:prstGeom prst="rect">
            <a:avLst/>
          </a:prstGeom>
          <a:solidFill>
            <a:srgbClr val="E6E6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923544" y="3721608"/>
            <a:ext cx="28995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250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923544" y="4087368"/>
            <a:ext cx="28995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revendedores de insumos em rede nacional, com expansão para Cabo Delgado</a:t>
            </a:r>
            <a:endParaRPr lang="en-US" sz="980" dirty="0"/>
          </a:p>
        </p:txBody>
      </p:sp>
      <p:sp>
        <p:nvSpPr>
          <p:cNvPr id="16" name="Text 12"/>
          <p:cNvSpPr txBox="1"/>
          <p:nvPr/>
        </p:nvSpPr>
        <p:spPr>
          <a:xfrm>
            <a:off x="923544" y="4572000"/>
            <a:ext cx="289956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i="1" dirty="0">
                <a:solidFill>
                  <a:srgbClr val="8E878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Cobertura nacional</a:t>
            </a:r>
            <a:endParaRPr lang="en-US" sz="920" dirty="0"/>
          </a:p>
        </p:txBody>
      </p:sp>
      <p:sp>
        <p:nvSpPr>
          <p:cNvPr id="17" name="Text 13"/>
          <p:cNvSpPr txBox="1"/>
          <p:nvPr/>
        </p:nvSpPr>
        <p:spPr>
          <a:xfrm>
            <a:off x="923544" y="4791456"/>
            <a:ext cx="289956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80" kern="0" dirty="0">
                <a:solidFill>
                  <a:srgbClr val="A89F9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OPORTUNIDADE PARA O BANCO</a:t>
            </a:r>
            <a:endParaRPr lang="en-US" sz="680" dirty="0"/>
          </a:p>
        </p:txBody>
      </p:sp>
      <p:sp>
        <p:nvSpPr>
          <p:cNvPr id="18" name="Text 14"/>
          <p:cNvSpPr txBox="1"/>
          <p:nvPr/>
        </p:nvSpPr>
        <p:spPr>
          <a:xfrm>
            <a:off x="923544" y="4956048"/>
            <a:ext cx="289956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8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Existências ao revendedor · terminais de pagamento · captação</a:t>
            </a:r>
            <a:endParaRPr lang="en-US" sz="980" dirty="0"/>
          </a:p>
        </p:txBody>
      </p:sp>
      <p:sp>
        <p:nvSpPr>
          <p:cNvPr id="19" name="Shape 15"/>
          <p:cNvSpPr/>
          <p:nvPr/>
        </p:nvSpPr>
        <p:spPr>
          <a:xfrm>
            <a:off x="4408322" y="2249424"/>
            <a:ext cx="3375050" cy="3273552"/>
          </a:xfrm>
          <a:prstGeom prst="roundRect">
            <a:avLst>
              <a:gd name="adj" fmla="val 1676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646066" y="2414016"/>
            <a:ext cx="1078992" cy="237744"/>
          </a:xfrm>
          <a:prstGeom prst="roundRect">
            <a:avLst>
              <a:gd name="adj" fmla="val 50000"/>
            </a:avLst>
          </a:prstGeom>
          <a:solidFill>
            <a:srgbClr val="DC00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646066" y="241401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SEGMENTO 1</a:t>
            </a:r>
            <a:endParaRPr lang="en-US" sz="740" dirty="0"/>
          </a:p>
        </p:txBody>
      </p:sp>
      <p:sp>
        <p:nvSpPr>
          <p:cNvPr id="22" name="Text 18"/>
          <p:cNvSpPr txBox="1"/>
          <p:nvPr/>
        </p:nvSpPr>
        <p:spPr>
          <a:xfrm>
            <a:off x="4646066" y="2688336"/>
            <a:ext cx="289956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Export Trading Group</a:t>
            </a:r>
            <a:endParaRPr lang="en-US" sz="1450" dirty="0"/>
          </a:p>
        </p:txBody>
      </p:sp>
      <p:sp>
        <p:nvSpPr>
          <p:cNvPr id="23" name="Text 19"/>
          <p:cNvSpPr txBox="1"/>
          <p:nvPr/>
        </p:nvSpPr>
        <p:spPr>
          <a:xfrm>
            <a:off x="4646066" y="3218688"/>
            <a:ext cx="28995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Grupo multinacional; domina, com a Olam, o sésamo, o feijão-boer e a castanha de caju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4646066" y="3621024"/>
            <a:ext cx="2899562" cy="10973"/>
          </a:xfrm>
          <a:prstGeom prst="rect">
            <a:avLst/>
          </a:prstGeom>
          <a:solidFill>
            <a:srgbClr val="E6E6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4646066" y="3721608"/>
            <a:ext cx="28995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Beira e Nacala</a:t>
            </a:r>
            <a:endParaRPr lang="en-US" sz="2200" dirty="0"/>
          </a:p>
        </p:txBody>
      </p:sp>
      <p:sp>
        <p:nvSpPr>
          <p:cNvPr id="26" name="Text 22"/>
          <p:cNvSpPr txBox="1"/>
          <p:nvPr/>
        </p:nvSpPr>
        <p:spPr>
          <a:xfrm>
            <a:off x="4646066" y="4087368"/>
            <a:ext cx="28995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portos de saída para a Índia, a China, a Indonésia e o Vietname</a:t>
            </a:r>
            <a:endParaRPr lang="en-US" sz="980" dirty="0"/>
          </a:p>
        </p:txBody>
      </p:sp>
      <p:sp>
        <p:nvSpPr>
          <p:cNvPr id="27" name="Text 23"/>
          <p:cNvSpPr txBox="1"/>
          <p:nvPr/>
        </p:nvSpPr>
        <p:spPr>
          <a:xfrm>
            <a:off x="4646066" y="4572000"/>
            <a:ext cx="289956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i="1" dirty="0">
                <a:solidFill>
                  <a:srgbClr val="8E878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Norte e centro do país</a:t>
            </a:r>
            <a:endParaRPr lang="en-US" sz="920" dirty="0"/>
          </a:p>
        </p:txBody>
      </p:sp>
      <p:sp>
        <p:nvSpPr>
          <p:cNvPr id="28" name="Text 24"/>
          <p:cNvSpPr txBox="1"/>
          <p:nvPr/>
        </p:nvSpPr>
        <p:spPr>
          <a:xfrm>
            <a:off x="4646066" y="4791456"/>
            <a:ext cx="289956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80" kern="0" dirty="0">
                <a:solidFill>
                  <a:srgbClr val="A89F9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OPORTUNIDADE PARA O BANCO</a:t>
            </a:r>
            <a:endParaRPr lang="en-US" sz="680" dirty="0"/>
          </a:p>
        </p:txBody>
      </p:sp>
      <p:sp>
        <p:nvSpPr>
          <p:cNvPr id="29" name="Text 25"/>
          <p:cNvSpPr txBox="1"/>
          <p:nvPr/>
        </p:nvSpPr>
        <p:spPr>
          <a:xfrm>
            <a:off x="4646066" y="4956048"/>
            <a:ext cx="289956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8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Financiamento estruturado de mercadorias · agregação · câmbio</a:t>
            </a:r>
            <a:endParaRPr lang="en-US" sz="980" dirty="0"/>
          </a:p>
        </p:txBody>
      </p:sp>
      <p:sp>
        <p:nvSpPr>
          <p:cNvPr id="30" name="Shape 26"/>
          <p:cNvSpPr/>
          <p:nvPr/>
        </p:nvSpPr>
        <p:spPr>
          <a:xfrm>
            <a:off x="8130845" y="2249424"/>
            <a:ext cx="3375050" cy="3273552"/>
          </a:xfrm>
          <a:prstGeom prst="roundRect">
            <a:avLst>
              <a:gd name="adj" fmla="val 1676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8368589" y="2414016"/>
            <a:ext cx="1078992" cy="237744"/>
          </a:xfrm>
          <a:prstGeom prst="roundRect">
            <a:avLst>
              <a:gd name="adj" fmla="val 50000"/>
            </a:avLst>
          </a:prstGeom>
          <a:solidFill>
            <a:srgbClr val="3A3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8368589" y="241401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SEGMENTO 3</a:t>
            </a:r>
            <a:endParaRPr lang="en-US" sz="740" dirty="0"/>
          </a:p>
        </p:txBody>
      </p:sp>
      <p:sp>
        <p:nvSpPr>
          <p:cNvPr id="33" name="Text 29"/>
          <p:cNvSpPr txBox="1"/>
          <p:nvPr/>
        </p:nvSpPr>
        <p:spPr>
          <a:xfrm>
            <a:off x="8368589" y="2688336"/>
            <a:ext cx="289956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Agrifocus</a:t>
            </a:r>
            <a:endParaRPr lang="en-US" sz="1450" dirty="0"/>
          </a:p>
        </p:txBody>
      </p:sp>
      <p:sp>
        <p:nvSpPr>
          <p:cNvPr id="34" name="Text 30"/>
          <p:cNvSpPr txBox="1"/>
          <p:nvPr/>
        </p:nvSpPr>
        <p:spPr>
          <a:xfrm>
            <a:off x="8368589" y="3218688"/>
            <a:ext cx="28995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Capital privado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8368589" y="3621024"/>
            <a:ext cx="2899562" cy="10973"/>
          </a:xfrm>
          <a:prstGeom prst="rect">
            <a:avLst/>
          </a:prstGeom>
          <a:solidFill>
            <a:srgbClr val="E6E6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8368589" y="3721608"/>
            <a:ext cx="28995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Insumos</a:t>
            </a:r>
            <a:endParaRPr lang="en-US" sz="2200" dirty="0"/>
          </a:p>
        </p:txBody>
      </p:sp>
      <p:sp>
        <p:nvSpPr>
          <p:cNvPr id="37" name="Text 33"/>
          <p:cNvSpPr txBox="1"/>
          <p:nvPr/>
        </p:nvSpPr>
        <p:spPr>
          <a:xfrm>
            <a:off x="8368589" y="4087368"/>
            <a:ext cx="28995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distribuição de insumos e de equipamento agrícola</a:t>
            </a:r>
            <a:endParaRPr lang="en-US" sz="980" dirty="0"/>
          </a:p>
        </p:txBody>
      </p:sp>
      <p:sp>
        <p:nvSpPr>
          <p:cNvPr id="38" name="Text 34"/>
          <p:cNvSpPr txBox="1"/>
          <p:nvPr/>
        </p:nvSpPr>
        <p:spPr>
          <a:xfrm>
            <a:off x="8368589" y="4572000"/>
            <a:ext cx="289956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i="1" dirty="0">
                <a:solidFill>
                  <a:srgbClr val="8E878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Maputo e cobertura nacional</a:t>
            </a:r>
            <a:endParaRPr lang="en-US" sz="920" dirty="0"/>
          </a:p>
        </p:txBody>
      </p:sp>
      <p:sp>
        <p:nvSpPr>
          <p:cNvPr id="39" name="Text 35"/>
          <p:cNvSpPr txBox="1"/>
          <p:nvPr/>
        </p:nvSpPr>
        <p:spPr>
          <a:xfrm>
            <a:off x="8368589" y="4791456"/>
            <a:ext cx="289956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80" kern="0" dirty="0">
                <a:solidFill>
                  <a:srgbClr val="A89F9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OPORTUNIDADE PARA O BANCO</a:t>
            </a:r>
            <a:endParaRPr lang="en-US" sz="680" dirty="0"/>
          </a:p>
        </p:txBody>
      </p:sp>
      <p:sp>
        <p:nvSpPr>
          <p:cNvPr id="40" name="Text 36"/>
          <p:cNvSpPr txBox="1"/>
          <p:nvPr/>
        </p:nvSpPr>
        <p:spPr>
          <a:xfrm>
            <a:off x="8368589" y="4956048"/>
            <a:ext cx="289956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8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Financiamento de existências · locação de equipamento</a:t>
            </a:r>
            <a:endParaRPr lang="en-US" sz="980" dirty="0"/>
          </a:p>
        </p:txBody>
      </p:sp>
      <p:sp>
        <p:nvSpPr>
          <p:cNvPr id="41" name="Shape 37"/>
          <p:cNvSpPr/>
          <p:nvPr/>
        </p:nvSpPr>
        <p:spPr>
          <a:xfrm>
            <a:off x="685800" y="5669280"/>
            <a:ext cx="10820095" cy="530352"/>
          </a:xfrm>
          <a:prstGeom prst="roundRect">
            <a:avLst>
              <a:gd name="adj" fmla="val 10345"/>
            </a:avLst>
          </a:prstGeom>
          <a:solidFill>
            <a:srgbClr val="3A3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960120" y="5669280"/>
            <a:ext cx="102714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b="1" dirty="0">
                <a:solidFill>
                  <a:srgbClr val="FF8FA3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Nota de risco: </a:t>
            </a:r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E4DEDE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Export Trading Group: litígio de 60 milhões de dólares com o Royal Group a respeito de feijão-boer, com apreensão de mercadoria. Qualquer estrutura de financiamento sobre mercadorias desta contraparte exige gestão independente de garantias e verificação de titularidade.</a:t>
            </a:r>
            <a:endParaRPr lang="en-US" sz="960" dirty="0"/>
          </a:p>
        </p:txBody>
      </p:sp>
      <p:sp>
        <p:nvSpPr>
          <p:cNvPr id="43" name="Text 39"/>
          <p:cNvSpPr txBox="1"/>
          <p:nvPr/>
        </p:nvSpPr>
        <p:spPr>
          <a:xfrm>
            <a:off x="1892808" y="6291072"/>
            <a:ext cx="8808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494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Fontes: Club of Mozambique · Export Trading Group · Feed the Future Inova · 360 Mozambique.</a:t>
            </a:r>
            <a:endParaRPr lang="en-US" sz="850" dirty="0"/>
          </a:p>
        </p:txBody>
      </p:sp>
    </p:spTree>
  </p:cSld>
  <p:clrMapOvr>
    <a:masterClrMapping/>
  </p:clrMapOvr>
  <p:transition spd="slow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4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4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" dur="4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4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4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2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4" dur="4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5" dur="4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0" dur="4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1" dur="4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4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6" dur="4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7" dur="4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0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2" dur="4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3" dur="4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6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8" dur="4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9" dur="4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2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4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5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8" presetID="10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46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ntr" presetSubtype="0" fill="hold" grpId="0" nodeType="withEffect">
                                  <p:stCondLst>
                                    <p:cond delay="172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46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grpId="0" nodeType="withEffect">
                                  <p:stCondLst>
                                    <p:cond delay="192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46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DC00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omo/176296df-944e-550c-879f-516f4be80ca0/scratchpad/unpacked/ppt/media/image1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0"/>
            <a:ext cx="615665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675120" cy="6858000"/>
          </a:xfrm>
          <a:prstGeom prst="rect">
            <a:avLst/>
          </a:prstGeom>
          <a:solidFill>
            <a:srgbClr val="DC00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" y="54864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14984" y="54864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344168" y="54864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673352" y="54864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002536" y="548640"/>
            <a:ext cx="182880" cy="182880"/>
          </a:xfrm>
          <a:prstGeom prst="ellipse">
            <a:avLst/>
          </a:prstGeom>
          <a:solidFill>
            <a:srgbClr val="9E1B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331720" y="548640"/>
            <a:ext cx="182880" cy="182880"/>
          </a:xfrm>
          <a:prstGeom prst="ellipse">
            <a:avLst/>
          </a:prstGeom>
          <a:solidFill>
            <a:srgbClr val="9E1B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660904" y="548640"/>
            <a:ext cx="182880" cy="182880"/>
          </a:xfrm>
          <a:prstGeom prst="ellipse">
            <a:avLst/>
          </a:prstGeom>
          <a:solidFill>
            <a:srgbClr val="9E1B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96926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FFF1F3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PERGUNTA 4 DE 7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1316736"/>
            <a:ext cx="5760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Que perfis de clientes queremos priorizar?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3310128"/>
            <a:ext cx="5394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FFF1F3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Três segmentos de cobertura, e a lógica que liga cada empresa âncora a centenas de clientes na sua cadeia.</a:t>
            </a:r>
            <a:endParaRPr lang="en-US" sz="1300" dirty="0"/>
          </a:p>
        </p:txBody>
      </p:sp>
      <p:pic>
        <p:nvPicPr>
          <p:cNvPr id="14" name="Image 1" descr="/tmp/claude-0/-home-user-momo/176296df-944e-550c-879f-516f4be80ca0/scratchpad/unpacked/ppt/media/image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5111" y="6035040"/>
            <a:ext cx="1700784" cy="493776"/>
          </a:xfrm>
          <a:prstGeom prst="rect">
            <a:avLst/>
          </a:prstGeom>
        </p:spPr>
      </p:pic>
    </p:spTree>
  </p:cSld>
  <p:clrMapOvr>
    <a:masterClrMapping/>
  </p:clrMapOvr>
  <p:transition spd="slow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023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ORGANIZAÇÃO DA CARTEIRA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94944"/>
            <a:ext cx="7772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Segmentação de cobertura e lógica de captação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6420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Três segmentos, três equipas, um mesmo mapa de contrapartes.</a:t>
            </a:r>
            <a:endParaRPr lang="en-US" sz="1300" dirty="0"/>
          </a:p>
        </p:txBody>
      </p:sp>
      <p:pic>
        <p:nvPicPr>
          <p:cNvPr id="5" name="Image 0" descr="/tmp/claude-0/-home-user-momo/176296df-944e-550c-879f-516f4be80ca0/scratchpad/unpacked/ppt/media/image1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705088" y="402336"/>
            <a:ext cx="2798064" cy="1572768"/>
          </a:xfrm>
          <a:prstGeom prst="rect">
            <a:avLst/>
          </a:prstGeom>
        </p:spPr>
      </p:pic>
      <p:pic>
        <p:nvPicPr>
          <p:cNvPr id="6" name="Image 1" descr="/tmp/claude-0/-home-user-momo/176296df-944e-550c-879f-516f4be80ca0/scratchpad/unpacked/ppt/media/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272784"/>
            <a:ext cx="1024128" cy="30175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957255" y="634593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94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20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685800" y="2249424"/>
            <a:ext cx="3362858" cy="2962656"/>
          </a:xfrm>
          <a:prstGeom prst="roundRect">
            <a:avLst>
              <a:gd name="adj" fmla="val 1852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941832" y="2414016"/>
            <a:ext cx="1225296" cy="237744"/>
          </a:xfrm>
          <a:prstGeom prst="roundRect">
            <a:avLst>
              <a:gd name="adj" fmla="val 50000"/>
            </a:avLst>
          </a:prstGeom>
          <a:solidFill>
            <a:srgbClr val="DC00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941832" y="2414016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SEGMENTO 1</a:t>
            </a:r>
            <a:endParaRPr lang="en-US" sz="740" dirty="0"/>
          </a:p>
        </p:txBody>
      </p:sp>
      <p:sp>
        <p:nvSpPr>
          <p:cNvPr id="11" name="Text 7"/>
          <p:cNvSpPr txBox="1"/>
          <p:nvPr/>
        </p:nvSpPr>
        <p:spPr>
          <a:xfrm>
            <a:off x="941832" y="2761488"/>
            <a:ext cx="285079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Empresas âncora, na Banca Corporativa e de Investimento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941832" y="3493008"/>
            <a:ext cx="285079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4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Xinavane · Mafambisse · Sena · Maragra · Mozambique Leaf Tobacco · Portucel · Merec · Companhia Industrial da Matola · Olam Agri · Export Trading Group</a:t>
            </a:r>
            <a:endParaRPr lang="en-US" sz="940" dirty="0"/>
          </a:p>
        </p:txBody>
      </p:sp>
      <p:sp>
        <p:nvSpPr>
          <p:cNvPr id="13" name="Text 9"/>
          <p:cNvSpPr txBox="1"/>
          <p:nvPr/>
        </p:nvSpPr>
        <p:spPr>
          <a:xfrm>
            <a:off x="941832" y="4718304"/>
            <a:ext cx="2850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94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Financiamento estruturado · câmbio · comércio internacional · tesouraria de grupo</a:t>
            </a:r>
            <a:endParaRPr lang="en-US" sz="940" dirty="0"/>
          </a:p>
        </p:txBody>
      </p:sp>
      <p:sp>
        <p:nvSpPr>
          <p:cNvPr id="14" name="Shape 10"/>
          <p:cNvSpPr/>
          <p:nvPr/>
        </p:nvSpPr>
        <p:spPr>
          <a:xfrm>
            <a:off x="4414418" y="2249424"/>
            <a:ext cx="3362858" cy="2962656"/>
          </a:xfrm>
          <a:prstGeom prst="roundRect">
            <a:avLst>
              <a:gd name="adj" fmla="val 1852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670450" y="2414016"/>
            <a:ext cx="1225296" cy="237744"/>
          </a:xfrm>
          <a:prstGeom prst="roundRect">
            <a:avLst>
              <a:gd name="adj" fmla="val 50000"/>
            </a:avLst>
          </a:prstGeom>
          <a:solidFill>
            <a:srgbClr val="3A3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670450" y="2414016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SEGMENTO 2</a:t>
            </a:r>
            <a:endParaRPr lang="en-US" sz="740" dirty="0"/>
          </a:p>
        </p:txBody>
      </p:sp>
      <p:sp>
        <p:nvSpPr>
          <p:cNvPr id="17" name="Text 13"/>
          <p:cNvSpPr txBox="1"/>
          <p:nvPr/>
        </p:nvSpPr>
        <p:spPr>
          <a:xfrm>
            <a:off x="4670450" y="2761488"/>
            <a:ext cx="285079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Empresas de média dimensão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4670450" y="3493008"/>
            <a:ext cx="285079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4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JFS · Mozaco · Higest · Abílio Antunes · Novos Horizontes · Bananalândia · Jacaranda · Vanduzi · SANAM · SAM · SAN · Plexus · Condor · Pembe · Wanbao · Green Resources · IFLOMA · Madal · AQI</a:t>
            </a:r>
            <a:endParaRPr lang="en-US" sz="940" dirty="0"/>
          </a:p>
        </p:txBody>
      </p:sp>
      <p:sp>
        <p:nvSpPr>
          <p:cNvPr id="19" name="Text 15"/>
          <p:cNvSpPr txBox="1"/>
          <p:nvPr/>
        </p:nvSpPr>
        <p:spPr>
          <a:xfrm>
            <a:off x="4670450" y="4718304"/>
            <a:ext cx="2850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94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Capital de exploração · financiamento de activos · cobranças · seguro agrícola</a:t>
            </a:r>
            <a:endParaRPr lang="en-US" sz="940" dirty="0"/>
          </a:p>
        </p:txBody>
      </p:sp>
      <p:sp>
        <p:nvSpPr>
          <p:cNvPr id="20" name="Shape 16"/>
          <p:cNvSpPr/>
          <p:nvPr/>
        </p:nvSpPr>
        <p:spPr>
          <a:xfrm>
            <a:off x="8143037" y="2249424"/>
            <a:ext cx="3362858" cy="2962656"/>
          </a:xfrm>
          <a:prstGeom prst="roundRect">
            <a:avLst>
              <a:gd name="adj" fmla="val 1852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399069" y="2414016"/>
            <a:ext cx="1225296" cy="237744"/>
          </a:xfrm>
          <a:prstGeom prst="roundRect">
            <a:avLst>
              <a:gd name="adj" fmla="val 50000"/>
            </a:avLst>
          </a:prstGeom>
          <a:solidFill>
            <a:srgbClr val="3A3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8399069" y="2414016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SEGMENTO 3</a:t>
            </a:r>
            <a:endParaRPr lang="en-US" sz="740" dirty="0"/>
          </a:p>
        </p:txBody>
      </p:sp>
      <p:sp>
        <p:nvSpPr>
          <p:cNvPr id="23" name="Text 19"/>
          <p:cNvSpPr txBox="1"/>
          <p:nvPr/>
        </p:nvSpPr>
        <p:spPr>
          <a:xfrm>
            <a:off x="8399069" y="2761488"/>
            <a:ext cx="285079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Pequenas empresas e cadeia de fornecimento, com FINOVA e garantia norte-americana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8399069" y="3493008"/>
            <a:ext cx="285079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4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Produtores integrados das empresas âncora · os 250 revendedores da AQI · transportadores · prestadores de mecanização · processadoras de caju em reestruturação · as 74.706 explorações de dimensão média</a:t>
            </a:r>
            <a:endParaRPr lang="en-US" sz="940" dirty="0"/>
          </a:p>
        </p:txBody>
      </p:sp>
      <p:sp>
        <p:nvSpPr>
          <p:cNvPr id="25" name="Text 21"/>
          <p:cNvSpPr txBox="1"/>
          <p:nvPr/>
        </p:nvSpPr>
        <p:spPr>
          <a:xfrm>
            <a:off x="8399069" y="4718304"/>
            <a:ext cx="2850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94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Conta bancária · pagamentos digitais · crédito de insumos ao abrigo de contrato</a:t>
            </a:r>
            <a:endParaRPr lang="en-US" sz="940" dirty="0"/>
          </a:p>
        </p:txBody>
      </p:sp>
      <p:sp>
        <p:nvSpPr>
          <p:cNvPr id="26" name="Shape 22"/>
          <p:cNvSpPr/>
          <p:nvPr/>
        </p:nvSpPr>
        <p:spPr>
          <a:xfrm>
            <a:off x="685800" y="5376672"/>
            <a:ext cx="10820095" cy="512064"/>
          </a:xfrm>
          <a:prstGeom prst="roundRect">
            <a:avLst>
              <a:gd name="adj" fmla="val 10714"/>
            </a:avLst>
          </a:prstGeom>
          <a:solidFill>
            <a:srgbClr val="3A3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1014984" y="5376672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Cada empresa do primeiro segmento é uma porta de entrada para centenas de contrapartes do terceiro. Bancarizar a âncora assegura o fluxo; bancarizar a cadeia constrói a carteira.</a:t>
            </a:r>
            <a:endParaRPr lang="en-US" sz="1250" dirty="0"/>
          </a:p>
        </p:txBody>
      </p:sp>
    </p:spTree>
  </p:cSld>
  <p:clrMapOvr>
    <a:masterClrMapping/>
  </p:clrMapOvr>
  <p:transition spd="slow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46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172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46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DC00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omo/176296df-944e-550c-879f-516f4be80ca0/scratchpad/unpacked/ppt/media/image5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0"/>
            <a:ext cx="615665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675120" cy="6858000"/>
          </a:xfrm>
          <a:prstGeom prst="rect">
            <a:avLst/>
          </a:prstGeom>
          <a:solidFill>
            <a:srgbClr val="DC00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" y="54864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14984" y="54864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344168" y="54864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673352" y="54864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002536" y="54864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331720" y="548640"/>
            <a:ext cx="182880" cy="182880"/>
          </a:xfrm>
          <a:prstGeom prst="ellipse">
            <a:avLst/>
          </a:prstGeom>
          <a:solidFill>
            <a:srgbClr val="9E1B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660904" y="548640"/>
            <a:ext cx="182880" cy="182880"/>
          </a:xfrm>
          <a:prstGeom prst="ellipse">
            <a:avLst/>
          </a:prstGeom>
          <a:solidFill>
            <a:srgbClr val="9E1B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96926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FFF1F3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PERGUNTA 5 DE 7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1316736"/>
            <a:ext cx="5760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Quais são as necessidades financeiras e não financeiras destes clientes?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3310128"/>
            <a:ext cx="5394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FFF1F3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Da campanha ao pagamento final: o que cada cliente precisa financiar, e o que precisa que o Banco lhe garanta.</a:t>
            </a:r>
            <a:endParaRPr lang="en-US" sz="1300" dirty="0"/>
          </a:p>
        </p:txBody>
      </p:sp>
      <p:pic>
        <p:nvPicPr>
          <p:cNvPr id="14" name="Image 1" descr="/tmp/claude-0/-home-user-momo/176296df-944e-550c-879f-516f4be80ca0/scratchpad/unpacked/ppt/media/image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5111" y="6035040"/>
            <a:ext cx="1700784" cy="493776"/>
          </a:xfrm>
          <a:prstGeom prst="rect">
            <a:avLst/>
          </a:prstGeom>
        </p:spPr>
      </p:pic>
    </p:spTree>
  </p:cSld>
  <p:clrMapOvr>
    <a:masterClrMapping/>
  </p:clrMapOvr>
  <p:transition spd="slow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023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O CICLO AGRÍCOLA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94944"/>
            <a:ext cx="7772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Um financiamento que acompanha a campanha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6420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Cinco fases do calendário do cliente, a que correspondem cinco conversas comerciais distintas.</a:t>
            </a:r>
            <a:endParaRPr lang="en-US" sz="1300" dirty="0"/>
          </a:p>
        </p:txBody>
      </p:sp>
      <p:pic>
        <p:nvPicPr>
          <p:cNvPr id="5" name="Image 0" descr="/tmp/claude-0/-home-user-momo/176296df-944e-550c-879f-516f4be80ca0/scratchpad/unpacked/ppt/media/image4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705088" y="402336"/>
            <a:ext cx="2798064" cy="1572768"/>
          </a:xfrm>
          <a:prstGeom prst="rect">
            <a:avLst/>
          </a:prstGeom>
        </p:spPr>
      </p:pic>
      <p:pic>
        <p:nvPicPr>
          <p:cNvPr id="6" name="Image 1" descr="/tmp/claude-0/-home-user-momo/176296df-944e-550c-879f-516f4be80ca0/scratchpad/unpacked/ppt/media/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272784"/>
            <a:ext cx="1024128" cy="30175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957255" y="634593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94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22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685800" y="2523744"/>
            <a:ext cx="1973824" cy="2139696"/>
          </a:xfrm>
          <a:prstGeom prst="roundRect">
            <a:avLst>
              <a:gd name="adj" fmla="val 2780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1425824" y="2276856"/>
            <a:ext cx="493776" cy="493776"/>
          </a:xfrm>
          <a:prstGeom prst="ellipse">
            <a:avLst/>
          </a:prstGeom>
          <a:solidFill>
            <a:srgbClr val="DC0037"/>
          </a:solidFill>
          <a:ln w="31750">
            <a:solidFill>
              <a:srgbClr val="DC0037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425824" y="22768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813816" y="2926080"/>
            <a:ext cx="171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Planear</a:t>
            </a:r>
            <a:endParaRPr lang="en-US" sz="1450" dirty="0"/>
          </a:p>
        </p:txBody>
      </p:sp>
      <p:sp>
        <p:nvSpPr>
          <p:cNvPr id="12" name="Text 8"/>
          <p:cNvSpPr txBox="1"/>
          <p:nvPr/>
        </p:nvSpPr>
        <p:spPr>
          <a:xfrm>
            <a:off x="850392" y="3364992"/>
            <a:ext cx="16446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Orçamento da campanha, plano de cultura, contratos de compra e abertura de conta.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897368" y="2523744"/>
            <a:ext cx="1973824" cy="2139696"/>
          </a:xfrm>
          <a:prstGeom prst="roundRect">
            <a:avLst>
              <a:gd name="adj" fmla="val 2780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637392" y="2276856"/>
            <a:ext cx="493776" cy="493776"/>
          </a:xfrm>
          <a:prstGeom prst="ellipse">
            <a:avLst/>
          </a:prstGeom>
          <a:solidFill>
            <a:srgbClr val="DC0037"/>
          </a:solidFill>
          <a:ln w="31750">
            <a:solidFill>
              <a:srgbClr val="DC0037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637392" y="22768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3025384" y="2926080"/>
            <a:ext cx="171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Plantar</a:t>
            </a:r>
            <a:endParaRPr lang="en-US" sz="1450" dirty="0"/>
          </a:p>
        </p:txBody>
      </p:sp>
      <p:sp>
        <p:nvSpPr>
          <p:cNvPr id="17" name="Text 13"/>
          <p:cNvSpPr txBox="1"/>
          <p:nvPr/>
        </p:nvSpPr>
        <p:spPr>
          <a:xfrm>
            <a:off x="3061960" y="3364992"/>
            <a:ext cx="16446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Financiamento de insumos, pagamento a fornecedores e capital de exploração.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108936" y="2523744"/>
            <a:ext cx="1973824" cy="2139696"/>
          </a:xfrm>
          <a:prstGeom prst="roundRect">
            <a:avLst>
              <a:gd name="adj" fmla="val 2780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848960" y="2276856"/>
            <a:ext cx="493776" cy="493776"/>
          </a:xfrm>
          <a:prstGeom prst="ellipse">
            <a:avLst/>
          </a:prstGeom>
          <a:solidFill>
            <a:srgbClr val="DC0037"/>
          </a:solidFill>
          <a:ln w="31750">
            <a:solidFill>
              <a:srgbClr val="DC0037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848960" y="22768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3</a:t>
            </a:r>
            <a:endParaRPr lang="en-US" sz="1700" dirty="0"/>
          </a:p>
        </p:txBody>
      </p:sp>
      <p:sp>
        <p:nvSpPr>
          <p:cNvPr id="21" name="Text 17"/>
          <p:cNvSpPr txBox="1"/>
          <p:nvPr/>
        </p:nvSpPr>
        <p:spPr>
          <a:xfrm>
            <a:off x="5236952" y="2926080"/>
            <a:ext cx="171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Cultivar</a:t>
            </a:r>
            <a:endParaRPr lang="en-US" sz="1450" dirty="0"/>
          </a:p>
        </p:txBody>
      </p:sp>
      <p:sp>
        <p:nvSpPr>
          <p:cNvPr id="22" name="Text 18"/>
          <p:cNvSpPr txBox="1"/>
          <p:nvPr/>
        </p:nvSpPr>
        <p:spPr>
          <a:xfrm>
            <a:off x="5273528" y="3364992"/>
            <a:ext cx="16446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Seguro agrícola, acompanhamento técnico e revisão periódica da tesouraria.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7320504" y="2523744"/>
            <a:ext cx="1973824" cy="2139696"/>
          </a:xfrm>
          <a:prstGeom prst="roundRect">
            <a:avLst>
              <a:gd name="adj" fmla="val 2780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060527" y="2276856"/>
            <a:ext cx="493776" cy="493776"/>
          </a:xfrm>
          <a:prstGeom prst="ellipse">
            <a:avLst/>
          </a:prstGeom>
          <a:solidFill>
            <a:srgbClr val="DC0037"/>
          </a:solidFill>
          <a:ln w="31750">
            <a:solidFill>
              <a:srgbClr val="DC0037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8060527" y="22768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4</a:t>
            </a:r>
            <a:endParaRPr lang="en-US" sz="1700" dirty="0"/>
          </a:p>
        </p:txBody>
      </p:sp>
      <p:sp>
        <p:nvSpPr>
          <p:cNvPr id="26" name="Text 22"/>
          <p:cNvSpPr txBox="1"/>
          <p:nvPr/>
        </p:nvSpPr>
        <p:spPr>
          <a:xfrm>
            <a:off x="7448520" y="2926080"/>
            <a:ext cx="171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Colher</a:t>
            </a:r>
            <a:endParaRPr lang="en-US" sz="1450" dirty="0"/>
          </a:p>
        </p:txBody>
      </p:sp>
      <p:sp>
        <p:nvSpPr>
          <p:cNvPr id="27" name="Text 23"/>
          <p:cNvSpPr txBox="1"/>
          <p:nvPr/>
        </p:nvSpPr>
        <p:spPr>
          <a:xfrm>
            <a:off x="7485096" y="3364992"/>
            <a:ext cx="16446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Pagamento da mão de obra, logística, armazenagem e cobranças.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9532071" y="2523744"/>
            <a:ext cx="1973824" cy="2139696"/>
          </a:xfrm>
          <a:prstGeom prst="roundRect">
            <a:avLst>
              <a:gd name="adj" fmla="val 2780"/>
            </a:avLst>
          </a:prstGeom>
          <a:solidFill>
            <a:srgbClr val="3A353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10272095" y="2276856"/>
            <a:ext cx="493776" cy="49377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DC0037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10272095" y="22768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5</a:t>
            </a:r>
            <a:endParaRPr lang="en-US" sz="1700" dirty="0"/>
          </a:p>
        </p:txBody>
      </p:sp>
      <p:sp>
        <p:nvSpPr>
          <p:cNvPr id="31" name="Text 27"/>
          <p:cNvSpPr txBox="1"/>
          <p:nvPr/>
        </p:nvSpPr>
        <p:spPr>
          <a:xfrm>
            <a:off x="9660087" y="2926080"/>
            <a:ext cx="171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Comercializar</a:t>
            </a:r>
            <a:endParaRPr lang="en-US" sz="1450" dirty="0"/>
          </a:p>
        </p:txBody>
      </p:sp>
      <p:sp>
        <p:nvSpPr>
          <p:cNvPr id="32" name="Text 28"/>
          <p:cNvSpPr txBox="1"/>
          <p:nvPr/>
        </p:nvSpPr>
        <p:spPr>
          <a:xfrm>
            <a:off x="9696663" y="3364992"/>
            <a:ext cx="16446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D8CFC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Financiamento ao comércio internacional, câmbio, poupança e reinvestimento.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685800" y="5175504"/>
            <a:ext cx="10820095" cy="731520"/>
          </a:xfrm>
          <a:prstGeom prst="roundRect">
            <a:avLst>
              <a:gd name="adj" fmla="val 7500"/>
            </a:avLst>
          </a:prstGeom>
          <a:solidFill>
            <a:srgbClr val="3A3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1014984" y="5175504"/>
            <a:ext cx="101617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 mesma facilidade de crédito passa a estruturar-se sobre a produção prevista, os valores a receber e os contratos celebrados, em lugar de impor à agricultura um perfil de reembolso genérico.</a:t>
            </a:r>
            <a:endParaRPr lang="en-US" sz="1300" dirty="0"/>
          </a:p>
        </p:txBody>
      </p:sp>
      <p:sp>
        <p:nvSpPr>
          <p:cNvPr id="35" name="Text 31"/>
          <p:cNvSpPr txBox="1"/>
          <p:nvPr/>
        </p:nvSpPr>
        <p:spPr>
          <a:xfrm>
            <a:off x="1892808" y="6291072"/>
            <a:ext cx="8808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494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As facilidades de crédito encontram-se sujeitas a elegibilidade, avaliação de crédito, documentação e requisitos regulamentares.</a:t>
            </a:r>
            <a:endParaRPr lang="en-US" sz="850" dirty="0"/>
          </a:p>
        </p:txBody>
      </p:sp>
    </p:spTree>
  </p:cSld>
  <p:clrMapOvr>
    <a:masterClrMapping/>
  </p:clrMapOvr>
  <p:transition spd="slow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2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2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2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2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presetID="2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4" presetID="2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174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46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194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46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grpId="0" nodeType="withEffect">
                                  <p:stCondLst>
                                    <p:cond delay="214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46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02336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O QUE O CLIENTE PRECISA, ALÉM DE CRÉDITO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94944"/>
            <a:ext cx="1082009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Duas naturezas de necessidade, uma só relação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64208"/>
            <a:ext cx="108200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O financiamento resolve o custo da campanha. O que protege o cliente do choque seguinte é, em regra, não financeiro.</a:t>
            </a:r>
            <a:endParaRPr lang="en-US" sz="1300" dirty="0"/>
          </a:p>
        </p:txBody>
      </p:sp>
      <p:pic>
        <p:nvPicPr>
          <p:cNvPr id="5" name="Image 0" descr="/tmp/claude-0/-home-user-momo/176296df-944e-550c-879f-516f4be80ca0/scratchpad/unpacked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272784"/>
            <a:ext cx="1024128" cy="3017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57255" y="634593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94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23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85800" y="2231136"/>
            <a:ext cx="5218024" cy="3383280"/>
          </a:xfrm>
          <a:prstGeom prst="roundRect">
            <a:avLst>
              <a:gd name="adj" fmla="val 1622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41832" y="2395728"/>
            <a:ext cx="2377440" cy="237744"/>
          </a:xfrm>
          <a:prstGeom prst="roundRect">
            <a:avLst>
              <a:gd name="adj" fmla="val 50000"/>
            </a:avLst>
          </a:prstGeom>
          <a:solidFill>
            <a:srgbClr val="DC00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41832" y="239572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NECESSIDADES FINANCEIRAS</a:t>
            </a:r>
            <a:endParaRPr lang="en-US" sz="740" dirty="0"/>
          </a:p>
        </p:txBody>
      </p:sp>
      <p:sp>
        <p:nvSpPr>
          <p:cNvPr id="10" name="Shape 7"/>
          <p:cNvSpPr/>
          <p:nvPr/>
        </p:nvSpPr>
        <p:spPr>
          <a:xfrm>
            <a:off x="941832" y="2816352"/>
            <a:ext cx="256032" cy="256032"/>
          </a:xfrm>
          <a:prstGeom prst="ellipse">
            <a:avLst/>
          </a:prstGeom>
          <a:solidFill>
            <a:srgbClr val="DC00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41832" y="2816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307592" y="2770632"/>
            <a:ext cx="434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Capital de exploração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1307592" y="3008376"/>
            <a:ext cx="434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Cobre o custo da campanha, antes da venda da colheita.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941832" y="3383280"/>
            <a:ext cx="256032" cy="256032"/>
          </a:xfrm>
          <a:prstGeom prst="ellipse">
            <a:avLst/>
          </a:prstGeom>
          <a:solidFill>
            <a:srgbClr val="DC00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41832" y="3383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307592" y="3337560"/>
            <a:ext cx="434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Financiamento de activos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307592" y="3575304"/>
            <a:ext cx="434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Equipamento, mecanização e infra-estrutura de rega e frio.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941832" y="3950208"/>
            <a:ext cx="256032" cy="256032"/>
          </a:xfrm>
          <a:prstGeom prst="ellipse">
            <a:avLst/>
          </a:prstGeom>
          <a:solidFill>
            <a:srgbClr val="DC00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41832" y="3950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307592" y="3904488"/>
            <a:ext cx="434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Comércio internacional e câmbio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1307592" y="4142232"/>
            <a:ext cx="434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Liquidação de fluxos de importação e de exportação.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941832" y="4517136"/>
            <a:ext cx="256032" cy="256032"/>
          </a:xfrm>
          <a:prstGeom prst="ellipse">
            <a:avLst/>
          </a:prstGeom>
          <a:solidFill>
            <a:srgbClr val="DC00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41832" y="45171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1307592" y="4471416"/>
            <a:ext cx="434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Crédito sobre mercadoria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307592" y="4709160"/>
            <a:ext cx="434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Garantido pelo produto armazenado, entre a compra e a venda.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941832" y="5084064"/>
            <a:ext cx="256032" cy="256032"/>
          </a:xfrm>
          <a:prstGeom prst="ellipse">
            <a:avLst/>
          </a:prstGeom>
          <a:solidFill>
            <a:srgbClr val="DC00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41832" y="5084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307592" y="5038344"/>
            <a:ext cx="434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Cobranças e pagamentos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1307592" y="5276088"/>
            <a:ext cx="434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Canais digitais que reduzem a circulação de numerário.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6287872" y="2231136"/>
            <a:ext cx="5218024" cy="3383280"/>
          </a:xfrm>
          <a:prstGeom prst="roundRect">
            <a:avLst>
              <a:gd name="adj" fmla="val 1622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543904" y="2395728"/>
            <a:ext cx="2377440" cy="237744"/>
          </a:xfrm>
          <a:prstGeom prst="roundRect">
            <a:avLst>
              <a:gd name="adj" fmla="val 50000"/>
            </a:avLst>
          </a:prstGeom>
          <a:solidFill>
            <a:srgbClr val="3A3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543904" y="239572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NECESSIDADES NÃO FINANCEIRAS</a:t>
            </a:r>
            <a:endParaRPr lang="en-US" sz="740" dirty="0"/>
          </a:p>
        </p:txBody>
      </p:sp>
      <p:sp>
        <p:nvSpPr>
          <p:cNvPr id="33" name="Shape 30"/>
          <p:cNvSpPr/>
          <p:nvPr/>
        </p:nvSpPr>
        <p:spPr>
          <a:xfrm>
            <a:off x="6543904" y="2816352"/>
            <a:ext cx="256032" cy="256032"/>
          </a:xfrm>
          <a:prstGeom prst="ellipse">
            <a:avLst/>
          </a:prstGeom>
          <a:solidFill>
            <a:srgbClr val="3A3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43904" y="2816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1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6909664" y="2770632"/>
            <a:ext cx="434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Aconselhamento técnico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6909664" y="3008376"/>
            <a:ext cx="434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Especialistas agro que apoiam o planeamento da campanha.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6543904" y="3383280"/>
            <a:ext cx="256032" cy="256032"/>
          </a:xfrm>
          <a:prstGeom prst="ellipse">
            <a:avLst/>
          </a:prstGeom>
          <a:solidFill>
            <a:srgbClr val="3A3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543904" y="3383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6909664" y="3337560"/>
            <a:ext cx="434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Gestão de risco climático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6909664" y="3575304"/>
            <a:ext cx="434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Seguro agrícola e monitoria perante choques e pragas.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6543904" y="3950208"/>
            <a:ext cx="256032" cy="256032"/>
          </a:xfrm>
          <a:prstGeom prst="ellipse">
            <a:avLst/>
          </a:prstGeom>
          <a:solidFill>
            <a:srgbClr val="3A3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543904" y="3950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3</a:t>
            </a:r>
            <a:endParaRPr lang="en-US" sz="1000" dirty="0"/>
          </a:p>
        </p:txBody>
      </p:sp>
      <p:sp>
        <p:nvSpPr>
          <p:cNvPr id="43" name="Text 40"/>
          <p:cNvSpPr txBox="1"/>
          <p:nvPr/>
        </p:nvSpPr>
        <p:spPr>
          <a:xfrm>
            <a:off x="6909664" y="3904488"/>
            <a:ext cx="434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Formalização de registos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6909664" y="4142232"/>
            <a:ext cx="434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Historial de cobranças convertido em visibilidade de crédito.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6543904" y="4517136"/>
            <a:ext cx="256032" cy="256032"/>
          </a:xfrm>
          <a:prstGeom prst="ellipse">
            <a:avLst/>
          </a:prstGeom>
          <a:solidFill>
            <a:srgbClr val="3A3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543904" y="45171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4</a:t>
            </a:r>
            <a:endParaRPr lang="en-US" sz="1000" dirty="0"/>
          </a:p>
        </p:txBody>
      </p:sp>
      <p:sp>
        <p:nvSpPr>
          <p:cNvPr id="47" name="Text 44"/>
          <p:cNvSpPr txBox="1"/>
          <p:nvPr/>
        </p:nvSpPr>
        <p:spPr>
          <a:xfrm>
            <a:off x="6909664" y="4471416"/>
            <a:ext cx="434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Acesso a mercado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6909664" y="4709160"/>
            <a:ext cx="434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Contratos de compra e redes de parceiros que garantem escoamento.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6543904" y="5084064"/>
            <a:ext cx="256032" cy="256032"/>
          </a:xfrm>
          <a:prstGeom prst="ellipse">
            <a:avLst/>
          </a:prstGeom>
          <a:solidFill>
            <a:srgbClr val="3A3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6543904" y="5084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5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6909664" y="5038344"/>
            <a:ext cx="434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Acompanhamento em crise</a:t>
            </a: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909664" y="5276088"/>
            <a:ext cx="434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Apoio sustentado nos momentos difíceis, como em Boane.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685800" y="5760720"/>
            <a:ext cx="10820095" cy="475488"/>
          </a:xfrm>
          <a:prstGeom prst="roundRect">
            <a:avLst>
              <a:gd name="adj" fmla="val 11538"/>
            </a:avLst>
          </a:prstGeom>
          <a:solidFill>
            <a:srgbClr val="3A3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014984" y="5760720"/>
            <a:ext cx="101617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8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As duas colunas convergem no mesmo gestor de relação: o crédito sem o acompanhamento técnico não protege a colheita seguinte.</a:t>
            </a:r>
            <a:endParaRPr lang="en-US" sz="1180" dirty="0"/>
          </a:p>
        </p:txBody>
      </p:sp>
    </p:spTree>
  </p:cSld>
  <p:clrMapOvr>
    <a:masterClrMapping/>
  </p:clrMapOvr>
  <p:transition spd="slow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2" presetClass="entr" presetSubtype="0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2" presetClass="entr" presetSubtype="0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4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4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presetID="2" presetClass="entr" presetSubtype="0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4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4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4" presetID="2" presetClass="entr" presetSubtype="0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4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4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" presetID="2" presetClass="entr" presetSubtype="0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4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" dur="4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2" presetClass="entr" presetSubtype="0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4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4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2" presetID="2" presetClass="entr" presetSubtype="0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4" dur="4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5" dur="4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2" presetClass="entr" presetSubtype="0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0" dur="4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1" dur="4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4" presetID="2" presetClass="entr" presetSubtype="0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6" dur="4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7" dur="4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0" presetID="2" presetClass="entr" presetSubtype="0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2" dur="4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3" dur="4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6" presetID="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8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9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2" presetID="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4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5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8" presetID="2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0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1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4" presetID="2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6" dur="4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7" dur="4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2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2" dur="4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3" dur="4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6" presetID="2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8" dur="4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9" dur="4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2" presetID="2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4" dur="4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5" dur="4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8" presetID="2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0" dur="4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1" dur="4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4" presetID="2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6" dur="4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7" dur="4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0" presetID="2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2" dur="4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3" dur="4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6" presetID="2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8" dur="4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9" dur="4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2" presetID="2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4" dur="4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5" dur="4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8" presetID="2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0" dur="4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1" dur="4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4" presetID="2" presetClass="entr" presetSubtype="0" fill="hold" grpId="0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6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7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0" presetID="10" presetClass="entr" presetSubtype="0" fill="hold" grpId="0" nodeType="withEffect">
                                  <p:stCondLst>
                                    <p:cond delay="206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2" dur="46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6" presetID="10" presetClass="entr" presetSubtype="0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8" dur="46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DC00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omo/176296df-944e-550c-879f-516f4be80ca0/scratchpad/unpacked/ppt/media/image1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0"/>
            <a:ext cx="615665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675120" cy="6858000"/>
          </a:xfrm>
          <a:prstGeom prst="rect">
            <a:avLst/>
          </a:prstGeom>
          <a:solidFill>
            <a:srgbClr val="DC00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" y="54864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14984" y="54864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344168" y="54864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673352" y="54864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002536" y="54864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331720" y="54864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660904" y="548640"/>
            <a:ext cx="182880" cy="182880"/>
          </a:xfrm>
          <a:prstGeom prst="ellipse">
            <a:avLst/>
          </a:prstGeom>
          <a:solidFill>
            <a:srgbClr val="9E1B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96926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FFF1F3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PERGUNTA 6 DE 7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1316736"/>
            <a:ext cx="5760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Como o Absa pode criar valor e diferenciar-se neste sector?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3310128"/>
            <a:ext cx="5394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FFF1F3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Três compromissos, a posição do Grupo em África e a actuação do Banco quando a época corre mal.</a:t>
            </a:r>
            <a:endParaRPr lang="en-US" sz="1300" dirty="0"/>
          </a:p>
        </p:txBody>
      </p:sp>
      <p:pic>
        <p:nvPicPr>
          <p:cNvPr id="14" name="Image 1" descr="/tmp/claude-0/-home-user-momo/176296df-944e-550c-879f-516f4be80ca0/scratchpad/unpacked/ppt/media/image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5111" y="6035040"/>
            <a:ext cx="1700784" cy="493776"/>
          </a:xfrm>
          <a:prstGeom prst="rect">
            <a:avLst/>
          </a:prstGeom>
        </p:spPr>
      </p:pic>
    </p:spTree>
  </p:cSld>
  <p:clrMapOvr>
    <a:masterClrMapping/>
  </p:clrMapOvr>
  <p:transition spd="slow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DC00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omo/176296df-944e-550c-879f-516f4be80ca0/scratchpad/unpacked/ppt/media/image6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0" y="0"/>
            <a:ext cx="48764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772400" cy="6858000"/>
          </a:xfrm>
          <a:prstGeom prst="rect">
            <a:avLst/>
          </a:prstGeom>
          <a:solidFill>
            <a:srgbClr val="DC00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685800" y="76809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FFF1F3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 PROPOSTA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078992"/>
            <a:ext cx="65836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Três compromissos que definem</a:t>
            </a:r>
            <a:endParaRPr lang="en-US" sz="27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 actuação do Banco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85800" y="2560320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2560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307592" y="2542032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Estruturamos em função da época agrícola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307592" y="2907792"/>
            <a:ext cx="5943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20" dirty="0">
                <a:solidFill>
                  <a:srgbClr val="FFF1F3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As condições de reembolso acompanham a produção prevista, os valores a receber e os contratos de compra celebrados. Não se impõe à agricultura um perfil de crédito concebido para outros sectores.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685800" y="385876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3858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307592" y="384048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Partilhamos o preço e o risco com terceiros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307592" y="4206240"/>
            <a:ext cx="5943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20" dirty="0">
                <a:solidFill>
                  <a:srgbClr val="FFF1F3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 linha concessional FINOVA e a garantia da instituição financeira de desenvolvimento norte-americana permitem deferir operações que, isoladamente, não reuniriam garantias bastantes.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685800" y="5157216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" y="5157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307592" y="5138928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Financiamos a fileira, e não apenas a conta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307592" y="5504688"/>
            <a:ext cx="5943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20" dirty="0">
                <a:solidFill>
                  <a:srgbClr val="FFF1F3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Do fornecedor de insumos ao comprador final: pagamentos, cobranças e crédito ao longo de toda a cadeia de valor em que o cliente se insere.</a:t>
            </a:r>
            <a:endParaRPr lang="en-US" sz="1120" dirty="0"/>
          </a:p>
        </p:txBody>
      </p:sp>
      <p:pic>
        <p:nvPicPr>
          <p:cNvPr id="18" name="Image 1" descr="/tmp/claude-0/-home-user-momo/176296df-944e-550c-879f-516f4be80ca0/scratchpad/unpacked/ppt/media/image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272784"/>
            <a:ext cx="1024128" cy="301752"/>
          </a:xfrm>
          <a:prstGeom prst="rect">
            <a:avLst/>
          </a:prstGeom>
        </p:spPr>
      </p:pic>
    </p:spTree>
  </p:cSld>
  <p:clrMapOvr>
    <a:masterClrMapping/>
  </p:clrMapOvr>
  <p:transition spd="slow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023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 INSTITUIÇÃO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94944"/>
            <a:ext cx="7772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O Absa em África e em Moçambique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6420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Grupo financeiro pan-africano, com presença própria em doze mercados do continente, e um banco moçambicano de dimensão relevante no sistema nacional.</a:t>
            </a:r>
            <a:endParaRPr lang="en-US" sz="1300" dirty="0"/>
          </a:p>
        </p:txBody>
      </p:sp>
      <p:pic>
        <p:nvPicPr>
          <p:cNvPr id="5" name="Image 0" descr="/tmp/claude-0/-home-user-momo/176296df-944e-550c-879f-516f4be80ca0/scratchpad/unpacked/ppt/media/image6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705088" y="402336"/>
            <a:ext cx="2798064" cy="1572768"/>
          </a:xfrm>
          <a:prstGeom prst="rect">
            <a:avLst/>
          </a:prstGeom>
        </p:spPr>
      </p:pic>
      <p:pic>
        <p:nvPicPr>
          <p:cNvPr id="6" name="Image 1" descr="/tmp/claude-0/-home-user-momo/176296df-944e-550c-879f-516f4be80ca0/scratchpad/unpacked/ppt/media/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272784"/>
            <a:ext cx="1024128" cy="30175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957255" y="634593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94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26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685800" y="2249424"/>
            <a:ext cx="2499284" cy="2157984"/>
          </a:xfrm>
          <a:prstGeom prst="roundRect">
            <a:avLst>
              <a:gd name="adj" fmla="val 2542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923544" y="2414016"/>
            <a:ext cx="1170432" cy="237744"/>
          </a:xfrm>
          <a:prstGeom prst="roundRect">
            <a:avLst>
              <a:gd name="adj" fmla="val 50000"/>
            </a:avLst>
          </a:prstGeom>
          <a:solidFill>
            <a:srgbClr val="3A3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923544" y="2414016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GRUPO ABSA</a:t>
            </a:r>
            <a:endParaRPr lang="en-US" sz="740" dirty="0"/>
          </a:p>
        </p:txBody>
      </p:sp>
      <p:sp>
        <p:nvSpPr>
          <p:cNvPr id="11" name="Text 7"/>
          <p:cNvSpPr txBox="1"/>
          <p:nvPr/>
        </p:nvSpPr>
        <p:spPr>
          <a:xfrm>
            <a:off x="923544" y="2743200"/>
            <a:ext cx="2023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16</a:t>
            </a:r>
            <a:endParaRPr lang="en-US" sz="2800" dirty="0"/>
          </a:p>
        </p:txBody>
      </p:sp>
      <p:sp>
        <p:nvSpPr>
          <p:cNvPr id="12" name="Text 8"/>
          <p:cNvSpPr txBox="1"/>
          <p:nvPr/>
        </p:nvSpPr>
        <p:spPr>
          <a:xfrm>
            <a:off x="923544" y="3291840"/>
            <a:ext cx="20237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países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923544" y="3675888"/>
            <a:ext cx="20237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98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Presença global do Grupo, dos quais doze são mercados africanos com operação bancária própria.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3459404" y="2249424"/>
            <a:ext cx="2499284" cy="2157984"/>
          </a:xfrm>
          <a:prstGeom prst="roundRect">
            <a:avLst>
              <a:gd name="adj" fmla="val 2542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697148" y="2414016"/>
            <a:ext cx="1170432" cy="237744"/>
          </a:xfrm>
          <a:prstGeom prst="roundRect">
            <a:avLst>
              <a:gd name="adj" fmla="val 50000"/>
            </a:avLst>
          </a:prstGeom>
          <a:solidFill>
            <a:srgbClr val="3A3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3697148" y="2414016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GRUPO ABSA</a:t>
            </a:r>
            <a:endParaRPr lang="en-US" sz="740" dirty="0"/>
          </a:p>
        </p:txBody>
      </p:sp>
      <p:sp>
        <p:nvSpPr>
          <p:cNvPr id="17" name="Text 13"/>
          <p:cNvSpPr txBox="1"/>
          <p:nvPr/>
        </p:nvSpPr>
        <p:spPr>
          <a:xfrm>
            <a:off x="3697148" y="2743200"/>
            <a:ext cx="2023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34%</a:t>
            </a:r>
            <a:endParaRPr lang="en-US" sz="2800" dirty="0"/>
          </a:p>
        </p:txBody>
      </p:sp>
      <p:sp>
        <p:nvSpPr>
          <p:cNvPr id="18" name="Text 14"/>
          <p:cNvSpPr txBox="1"/>
          <p:nvPr/>
        </p:nvSpPr>
        <p:spPr>
          <a:xfrm>
            <a:off x="3697148" y="3291840"/>
            <a:ext cx="20237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dos resultados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3697148" y="3675888"/>
            <a:ext cx="20237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98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Proporção dos resultados gerada fora da África do Sul, no conjunto das operações africanas.</a:t>
            </a:r>
            <a:endParaRPr lang="en-US" sz="980" dirty="0"/>
          </a:p>
        </p:txBody>
      </p:sp>
      <p:sp>
        <p:nvSpPr>
          <p:cNvPr id="20" name="Shape 16"/>
          <p:cNvSpPr/>
          <p:nvPr/>
        </p:nvSpPr>
        <p:spPr>
          <a:xfrm>
            <a:off x="6233008" y="2249424"/>
            <a:ext cx="2499284" cy="2157984"/>
          </a:xfrm>
          <a:prstGeom prst="roundRect">
            <a:avLst>
              <a:gd name="adj" fmla="val 2542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470752" y="2414016"/>
            <a:ext cx="1389888" cy="237744"/>
          </a:xfrm>
          <a:prstGeom prst="roundRect">
            <a:avLst>
              <a:gd name="adj" fmla="val 50000"/>
            </a:avLst>
          </a:prstGeom>
          <a:solidFill>
            <a:srgbClr val="DC00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470752" y="2414016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MOÇAMBIQUE</a:t>
            </a:r>
            <a:endParaRPr lang="en-US" sz="740" dirty="0"/>
          </a:p>
        </p:txBody>
      </p:sp>
      <p:sp>
        <p:nvSpPr>
          <p:cNvPr id="23" name="Text 19"/>
          <p:cNvSpPr txBox="1"/>
          <p:nvPr/>
        </p:nvSpPr>
        <p:spPr>
          <a:xfrm>
            <a:off x="6470752" y="2743200"/>
            <a:ext cx="2023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10,6%</a:t>
            </a:r>
            <a:endParaRPr lang="en-US" sz="2800" dirty="0"/>
          </a:p>
        </p:txBody>
      </p:sp>
      <p:sp>
        <p:nvSpPr>
          <p:cNvPr id="24" name="Text 20"/>
          <p:cNvSpPr txBox="1"/>
          <p:nvPr/>
        </p:nvSpPr>
        <p:spPr>
          <a:xfrm>
            <a:off x="6470752" y="3291840"/>
            <a:ext cx="20237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do crédito nacional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6470752" y="3675888"/>
            <a:ext cx="20237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98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Quota de mercado do Absa Bank Moçambique no crédito, no final de 2025.</a:t>
            </a:r>
            <a:endParaRPr lang="en-US" sz="980" dirty="0"/>
          </a:p>
        </p:txBody>
      </p:sp>
      <p:sp>
        <p:nvSpPr>
          <p:cNvPr id="26" name="Shape 22"/>
          <p:cNvSpPr/>
          <p:nvPr/>
        </p:nvSpPr>
        <p:spPr>
          <a:xfrm>
            <a:off x="9006611" y="2249424"/>
            <a:ext cx="2499284" cy="2157984"/>
          </a:xfrm>
          <a:prstGeom prst="roundRect">
            <a:avLst>
              <a:gd name="adj" fmla="val 2542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9244355" y="2414016"/>
            <a:ext cx="1389888" cy="237744"/>
          </a:xfrm>
          <a:prstGeom prst="roundRect">
            <a:avLst>
              <a:gd name="adj" fmla="val 50000"/>
            </a:avLst>
          </a:prstGeom>
          <a:solidFill>
            <a:srgbClr val="DC00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9244355" y="2414016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MOÇAMBIQUE</a:t>
            </a:r>
            <a:endParaRPr lang="en-US" sz="740" dirty="0"/>
          </a:p>
        </p:txBody>
      </p:sp>
      <p:sp>
        <p:nvSpPr>
          <p:cNvPr id="29" name="Text 25"/>
          <p:cNvSpPr txBox="1"/>
          <p:nvPr/>
        </p:nvSpPr>
        <p:spPr>
          <a:xfrm>
            <a:off x="9244355" y="2743200"/>
            <a:ext cx="2023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1,3</a:t>
            </a:r>
            <a:endParaRPr lang="en-US" sz="2800" dirty="0"/>
          </a:p>
        </p:txBody>
      </p:sp>
      <p:sp>
        <p:nvSpPr>
          <p:cNvPr id="30" name="Text 26"/>
          <p:cNvSpPr txBox="1"/>
          <p:nvPr/>
        </p:nvSpPr>
        <p:spPr>
          <a:xfrm>
            <a:off x="9244355" y="3291840"/>
            <a:ext cx="20237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mil milhões de euros de activo</a:t>
            </a:r>
            <a:endParaRPr lang="en-US" sz="1100" dirty="0"/>
          </a:p>
        </p:txBody>
      </p:sp>
      <p:sp>
        <p:nvSpPr>
          <p:cNvPr id="31" name="Text 27"/>
          <p:cNvSpPr txBox="1"/>
          <p:nvPr/>
        </p:nvSpPr>
        <p:spPr>
          <a:xfrm>
            <a:off x="9244355" y="3675888"/>
            <a:ext cx="20237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98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Dimensão do balanço. O Banco de Moçambique classifica a instituição como quase sistémica.</a:t>
            </a:r>
            <a:endParaRPr lang="en-US" sz="980" dirty="0"/>
          </a:p>
        </p:txBody>
      </p:sp>
      <p:sp>
        <p:nvSpPr>
          <p:cNvPr id="32" name="Shape 28"/>
          <p:cNvSpPr/>
          <p:nvPr/>
        </p:nvSpPr>
        <p:spPr>
          <a:xfrm>
            <a:off x="685800" y="4901184"/>
            <a:ext cx="10820095" cy="877824"/>
          </a:xfrm>
          <a:prstGeom prst="roundRect">
            <a:avLst>
              <a:gd name="adj" fmla="val 6250"/>
            </a:avLst>
          </a:prstGeom>
          <a:solidFill>
            <a:srgbClr val="3A3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1014984" y="4901184"/>
            <a:ext cx="10161727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O Grupo Absa é um dos maiores financiadores de projectos agrícolas da África subsariana e mantém investigação sectorial própria, publicada com regularidade sob a designação Absa AgriTrends.</a:t>
            </a:r>
            <a:endParaRPr lang="en-US" sz="1350" dirty="0"/>
          </a:p>
        </p:txBody>
      </p:sp>
      <p:sp>
        <p:nvSpPr>
          <p:cNvPr id="34" name="Text 30"/>
          <p:cNvSpPr txBox="1"/>
          <p:nvPr/>
        </p:nvSpPr>
        <p:spPr>
          <a:xfrm>
            <a:off x="1892808" y="6291072"/>
            <a:ext cx="8808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494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Fontes: Absa Group Limited, resultados de 2025 · Absa Corporate and Investment Banking · Banco de Moçambique · imprensa económica moçambicana.</a:t>
            </a:r>
            <a:endParaRPr lang="en-US" sz="850" dirty="0"/>
          </a:p>
        </p:txBody>
      </p:sp>
    </p:spTree>
  </p:cSld>
  <p:clrMapOvr>
    <a:masterClrMapping/>
  </p:clrMapOvr>
  <p:transition spd="slow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3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5" dur="420" fill="hold"/>
                                        <p:tgtEl>
                                          <p:spTgt spid="11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58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3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1" dur="420" fill="hold"/>
                                        <p:tgtEl>
                                          <p:spTgt spid="1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4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23" presetClass="entr" presetSubtype="0" fill="hold" grpId="0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" dur="420" fill="hold"/>
                                        <p:tgtEl>
                                          <p:spTgt spid="2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0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23" presetClass="entr" presetSubtype="0" fill="hold" grpId="0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3" dur="420" fill="hold"/>
                                        <p:tgtEl>
                                          <p:spTgt spid="29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66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presetID="2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174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46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194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46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214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46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02336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ACTUAÇÃO JUNTO DAS COMUNIDADES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94944"/>
            <a:ext cx="1082009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O compromisso não se esgota no balcão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64208"/>
            <a:ext cx="108200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Entre Outubro de 2025 e Janeiro de 2026 a época chuvosa afectou mais de 1,1 milhões de pessoas. Em Boane, mais de 450 famílias perderam as áreas de cultivo e as habitações.</a:t>
            </a:r>
            <a:endParaRPr lang="en-US" sz="1300" dirty="0"/>
          </a:p>
        </p:txBody>
      </p:sp>
      <p:pic>
        <p:nvPicPr>
          <p:cNvPr id="5" name="Image 0" descr="/tmp/claude-0/-home-user-momo/176296df-944e-550c-879f-516f4be80ca0/scratchpad/unpacked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272784"/>
            <a:ext cx="1024128" cy="3017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57255" y="634593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94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27</a:t>
            </a:r>
            <a:endParaRPr lang="en-US" sz="1000" dirty="0"/>
          </a:p>
        </p:txBody>
      </p:sp>
      <p:pic>
        <p:nvPicPr>
          <p:cNvPr id="7" name="Image 1" descr="/tmp/claude-0/-home-user-momo/176296df-944e-550c-879f-516f4be80ca0/scratchpad/unpacked/ppt/media/image14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85800" y="2322576"/>
            <a:ext cx="4480560" cy="268833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532120" y="2322576"/>
            <a:ext cx="5973775" cy="859536"/>
          </a:xfrm>
          <a:prstGeom prst="roundRect">
            <a:avLst>
              <a:gd name="adj" fmla="val 6383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5769864" y="2414016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190</a:t>
            </a:r>
            <a:endParaRPr lang="en-US" sz="2900" dirty="0"/>
          </a:p>
        </p:txBody>
      </p:sp>
      <p:sp>
        <p:nvSpPr>
          <p:cNvPr id="10" name="Text 6"/>
          <p:cNvSpPr txBox="1"/>
          <p:nvPr/>
        </p:nvSpPr>
        <p:spPr>
          <a:xfrm>
            <a:off x="6830568" y="2432304"/>
            <a:ext cx="44375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kits agrícolas distribuídos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6830568" y="2688336"/>
            <a:ext cx="443758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Semente de ciclo curto e médio, fertilizante e alfaias essenciais, entregues às famílias em situação de maior vulnerabilidade na localidade de Gueguegue.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5532120" y="3273552"/>
            <a:ext cx="5973775" cy="859536"/>
          </a:xfrm>
          <a:prstGeom prst="roundRect">
            <a:avLst>
              <a:gd name="adj" fmla="val 6383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5769864" y="3364992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230</a:t>
            </a:r>
            <a:endParaRPr lang="en-US" sz="2900" dirty="0"/>
          </a:p>
        </p:txBody>
      </p:sp>
      <p:sp>
        <p:nvSpPr>
          <p:cNvPr id="14" name="Text 10"/>
          <p:cNvSpPr txBox="1"/>
          <p:nvPr/>
        </p:nvSpPr>
        <p:spPr>
          <a:xfrm>
            <a:off x="6830568" y="3383280"/>
            <a:ext cx="44375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famílias apoiadas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6830568" y="3639312"/>
            <a:ext cx="443758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Apoio combinado à retoma da produção agrícola e à reconstrução habitacional, prevendo-se a reedificação de quarenta habitações.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532120" y="4224528"/>
            <a:ext cx="5973775" cy="859536"/>
          </a:xfrm>
          <a:prstGeom prst="roundRect">
            <a:avLst>
              <a:gd name="adj" fmla="val 6383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5769864" y="4315968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90</a:t>
            </a:r>
            <a:endParaRPr lang="en-US" sz="2900" dirty="0"/>
          </a:p>
        </p:txBody>
      </p:sp>
      <p:sp>
        <p:nvSpPr>
          <p:cNvPr id="18" name="Text 14"/>
          <p:cNvSpPr txBox="1"/>
          <p:nvPr/>
        </p:nvSpPr>
        <p:spPr>
          <a:xfrm>
            <a:off x="6830568" y="4334256"/>
            <a:ext cx="44375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hectares em recuperação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6830568" y="4590288"/>
            <a:ext cx="443758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Área de produção que as comunidades ficam em condições de recuperar, com efeito directo na segurança alimentar e no rendimento familiar.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85800" y="5230368"/>
            <a:ext cx="10820095" cy="530352"/>
          </a:xfrm>
          <a:prstGeom prst="roundRect">
            <a:avLst>
              <a:gd name="adj" fmla="val 10345"/>
            </a:avLst>
          </a:prstGeom>
          <a:solidFill>
            <a:srgbClr val="3A3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1014984" y="5230368"/>
            <a:ext cx="101617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 capacidade de acompanhar o cliente agrícola no ano difícil, e não apenas no ano favorável, é parte constitutiva desta proposta de valor.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1892808" y="6291072"/>
            <a:ext cx="8808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494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Fontes: Diário Económico · Integrity Magazine · comunicação institucional do Absa Bank Moçambique.</a:t>
            </a:r>
            <a:endParaRPr lang="en-US" sz="850" dirty="0"/>
          </a:p>
        </p:txBody>
      </p:sp>
    </p:spTree>
  </p:cSld>
  <p:clrMapOvr>
    <a:masterClrMapping/>
  </p:clrMapOvr>
  <p:transition spd="slow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3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" dur="420" fill="hold"/>
                                        <p:tgtEl>
                                          <p:spTgt spid="9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23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420" fill="hold"/>
                                        <p:tgtEl>
                                          <p:spTgt spid="1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46" presetID="23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9" dur="420" fill="hold"/>
                                        <p:tgtEl>
                                          <p:spTgt spid="1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52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0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6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6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6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023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MODELO DE RISCO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94944"/>
            <a:ext cx="7772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Ampliar o acesso ao crédito sem afrouxar o critério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6420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Quatro movimentos que deslocam a decisão de crédito da garantia real para a capacidade de gerar tesouraria.</a:t>
            </a:r>
            <a:endParaRPr lang="en-US" sz="1300" dirty="0"/>
          </a:p>
        </p:txBody>
      </p:sp>
      <p:pic>
        <p:nvPicPr>
          <p:cNvPr id="5" name="Image 0" descr="/tmp/claude-0/-home-user-momo/176296df-944e-550c-879f-516f4be80ca0/scratchpad/unpacked/ppt/media/image6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705088" y="402336"/>
            <a:ext cx="2798064" cy="1572768"/>
          </a:xfrm>
          <a:prstGeom prst="rect">
            <a:avLst/>
          </a:prstGeom>
        </p:spPr>
      </p:pic>
      <p:pic>
        <p:nvPicPr>
          <p:cNvPr id="6" name="Image 1" descr="/tmp/claude-0/-home-user-momo/176296df-944e-550c-879f-516f4be80ca0/scratchpad/unpacked/ppt/media/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272784"/>
            <a:ext cx="1024128" cy="30175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957255" y="634593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94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28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685800" y="2249424"/>
            <a:ext cx="2499284" cy="2304288"/>
          </a:xfrm>
          <a:prstGeom prst="roundRect">
            <a:avLst>
              <a:gd name="adj" fmla="val 2381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923544" y="2450592"/>
            <a:ext cx="420624" cy="420624"/>
          </a:xfrm>
          <a:prstGeom prst="ellipse">
            <a:avLst/>
          </a:prstGeom>
          <a:solidFill>
            <a:srgbClr val="DC00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923544" y="24505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923544" y="2999232"/>
            <a:ext cx="20237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Ancorar a procura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923544" y="3566160"/>
            <a:ext cx="202379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Utilizar os contratos de compra das empresas âncora como prova documental de acesso ao mercado.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459404" y="2249424"/>
            <a:ext cx="2499284" cy="2304288"/>
          </a:xfrm>
          <a:prstGeom prst="roundRect">
            <a:avLst>
              <a:gd name="adj" fmla="val 2381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697148" y="2450592"/>
            <a:ext cx="420624" cy="420624"/>
          </a:xfrm>
          <a:prstGeom prst="ellipse">
            <a:avLst/>
          </a:prstGeom>
          <a:solidFill>
            <a:srgbClr val="DC00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697148" y="24505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3697148" y="2999232"/>
            <a:ext cx="20237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Ajustar ao fluxo de caixa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3697148" y="3566160"/>
            <a:ext cx="202379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Estruturar o reembolso em função do ciclo da cultura e do calendário previsto de venda.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233008" y="2249424"/>
            <a:ext cx="2499284" cy="2304288"/>
          </a:xfrm>
          <a:prstGeom prst="roundRect">
            <a:avLst>
              <a:gd name="adj" fmla="val 2381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70752" y="2450592"/>
            <a:ext cx="420624" cy="420624"/>
          </a:xfrm>
          <a:prstGeom prst="ellipse">
            <a:avLst/>
          </a:prstGeom>
          <a:solidFill>
            <a:srgbClr val="DC00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470752" y="24505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6470752" y="2999232"/>
            <a:ext cx="20237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Formalizar o registo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6470752" y="3566160"/>
            <a:ext cx="202379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Converter o historial de cobranças e pagamentos em elementos de avaliação de crédito.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9006611" y="2249424"/>
            <a:ext cx="2499284" cy="2304288"/>
          </a:xfrm>
          <a:prstGeom prst="roundRect">
            <a:avLst>
              <a:gd name="adj" fmla="val 2381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9244355" y="2450592"/>
            <a:ext cx="420624" cy="420624"/>
          </a:xfrm>
          <a:prstGeom prst="ellipse">
            <a:avLst/>
          </a:prstGeom>
          <a:solidFill>
            <a:srgbClr val="DC00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9244355" y="24505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9244355" y="2999232"/>
            <a:ext cx="20237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Mitigar o risco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9244355" y="3566160"/>
            <a:ext cx="202379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Conjugar seguro agrícola, a garantia norte-americana e o acompanhamento de parceiros técnicos.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685800" y="5102352"/>
            <a:ext cx="10820095" cy="768096"/>
          </a:xfrm>
          <a:prstGeom prst="roundRect">
            <a:avLst>
              <a:gd name="adj" fmla="val 7143"/>
            </a:avLst>
          </a:prstGeom>
          <a:solidFill>
            <a:srgbClr val="3A3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1014984" y="5102352"/>
            <a:ext cx="1016172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O resultado é um acesso mais transparente ao financiamento, sustentado por registos empresariais mais sólidos e por protecções efectivas contra os choques próprios da agricultura.</a:t>
            </a:r>
            <a:endParaRPr lang="en-US" sz="1300" dirty="0"/>
          </a:p>
        </p:txBody>
      </p:sp>
      <p:sp>
        <p:nvSpPr>
          <p:cNvPr id="30" name="Text 26"/>
          <p:cNvSpPr txBox="1"/>
          <p:nvPr/>
        </p:nvSpPr>
        <p:spPr>
          <a:xfrm>
            <a:off x="1892808" y="6291072"/>
            <a:ext cx="8808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494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As facilidades de crédito encontram-se sujeitas a elegibilidade, avaliação de crédito, documentação e requisitos regulamentares.</a:t>
            </a:r>
            <a:endParaRPr lang="en-US" sz="850" dirty="0"/>
          </a:p>
        </p:txBody>
      </p:sp>
    </p:spTree>
  </p:cSld>
  <p:clrMapOvr>
    <a:masterClrMapping/>
  </p:clrMapOvr>
  <p:transition spd="slow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2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174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46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194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46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214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46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DC00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omo/176296df-944e-550c-879f-516f4be80ca0/scratchpad/unpacked/ppt/media/image1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0"/>
            <a:ext cx="615665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675120" cy="6858000"/>
          </a:xfrm>
          <a:prstGeom prst="rect">
            <a:avLst/>
          </a:prstGeom>
          <a:solidFill>
            <a:srgbClr val="DC00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" y="54864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14984" y="54864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344168" y="54864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673352" y="54864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002536" y="54864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331720" y="54864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660904" y="54864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96926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FFF1F3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PERGUNTA 7 DE 7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1316736"/>
            <a:ext cx="5760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Que produtos, soluções e parcerias devemos promover?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3310128"/>
            <a:ext cx="5394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FFF1F3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Os instrumentos concessionais de 2026, a suite de produtos e o primeiro passo para os activar.</a:t>
            </a:r>
            <a:endParaRPr lang="en-US" sz="1300" dirty="0"/>
          </a:p>
        </p:txBody>
      </p:sp>
      <p:pic>
        <p:nvPicPr>
          <p:cNvPr id="14" name="Image 1" descr="/tmp/claude-0/-home-user-momo/176296df-944e-550c-879f-516f4be80ca0/scratchpad/unpacked/ppt/media/image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5111" y="6035040"/>
            <a:ext cx="1700784" cy="493776"/>
          </a:xfrm>
          <a:prstGeom prst="rect">
            <a:avLst/>
          </a:prstGeom>
        </p:spPr>
      </p:pic>
    </p:spTree>
  </p:cSld>
  <p:clrMapOvr>
    <a:masterClrMapping/>
  </p:clrMapOvr>
  <p:transition spd="slow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02336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INSTRUMENTOS DISPONÍVEIS EM 2026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94944"/>
            <a:ext cx="1082009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Três instrumentos que alteram os termos da conversa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64208"/>
            <a:ext cx="108200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Nenhum destes mecanismos existia na versão anterior desta proposta. Em conjunto, modificam o que as equipas comerciais podem oferecer.</a:t>
            </a:r>
            <a:endParaRPr lang="en-US" sz="1300" dirty="0"/>
          </a:p>
        </p:txBody>
      </p:sp>
      <p:pic>
        <p:nvPicPr>
          <p:cNvPr id="5" name="Image 0" descr="/tmp/claude-0/-home-user-momo/176296df-944e-550c-879f-516f4be80ca0/scratchpad/unpacked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272784"/>
            <a:ext cx="1024128" cy="3017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57255" y="634593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94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30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85800" y="2249424"/>
            <a:ext cx="3362858" cy="3054096"/>
          </a:xfrm>
          <a:prstGeom prst="roundRect">
            <a:avLst>
              <a:gd name="adj" fmla="val 1796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41832" y="2414016"/>
            <a:ext cx="1463040" cy="237744"/>
          </a:xfrm>
          <a:prstGeom prst="roundRect">
            <a:avLst>
              <a:gd name="adj" fmla="val 50000"/>
            </a:avLst>
          </a:prstGeom>
          <a:solidFill>
            <a:srgbClr val="DC00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41832" y="24140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FINOVA</a:t>
            </a:r>
            <a:endParaRPr lang="en-US" sz="740" dirty="0"/>
          </a:p>
        </p:txBody>
      </p:sp>
      <p:sp>
        <p:nvSpPr>
          <p:cNvPr id="10" name="Text 7"/>
          <p:cNvSpPr txBox="1"/>
          <p:nvPr/>
        </p:nvSpPr>
        <p:spPr>
          <a:xfrm>
            <a:off x="941832" y="2761488"/>
            <a:ext cx="28507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33,5 M€</a:t>
            </a:r>
            <a:endParaRPr lang="en-US" sz="2700" dirty="0"/>
          </a:p>
        </p:txBody>
      </p:sp>
      <p:sp>
        <p:nvSpPr>
          <p:cNvPr id="11" name="Text 8"/>
          <p:cNvSpPr txBox="1"/>
          <p:nvPr/>
        </p:nvSpPr>
        <p:spPr>
          <a:xfrm>
            <a:off x="941832" y="3291840"/>
            <a:ext cx="285079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2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Linha de crédito concessional para o agronegócio</a:t>
            </a:r>
            <a:endParaRPr lang="en-US" sz="1120" dirty="0"/>
          </a:p>
        </p:txBody>
      </p:sp>
      <p:sp>
        <p:nvSpPr>
          <p:cNvPr id="12" name="Text 9"/>
          <p:cNvSpPr txBox="1"/>
          <p:nvPr/>
        </p:nvSpPr>
        <p:spPr>
          <a:xfrm>
            <a:off x="941832" y="3749040"/>
            <a:ext cx="285079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4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Operacionalizada pelo Banco de Moçambique em parceria com o Absa, o Standard Bank, o BCI, a GAPI e o Microbanco Confiança, no quadro de um pacote de 45,5 milhões de euros da cooperação alemã, através do banco de desenvolvimento KfW.</a:t>
            </a:r>
            <a:endParaRPr lang="en-US" sz="940" dirty="0"/>
          </a:p>
        </p:txBody>
      </p:sp>
      <p:sp>
        <p:nvSpPr>
          <p:cNvPr id="13" name="Text 10"/>
          <p:cNvSpPr txBox="1"/>
          <p:nvPr/>
        </p:nvSpPr>
        <p:spPr>
          <a:xfrm>
            <a:off x="941832" y="4846320"/>
            <a:ext cx="285079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94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Taxa até 10% ao ano · períodos de carência · prazos compatíveis com o ciclo agrícola</a:t>
            </a:r>
            <a:endParaRPr lang="en-US" sz="940" dirty="0"/>
          </a:p>
        </p:txBody>
      </p:sp>
      <p:sp>
        <p:nvSpPr>
          <p:cNvPr id="14" name="Shape 11"/>
          <p:cNvSpPr/>
          <p:nvPr/>
        </p:nvSpPr>
        <p:spPr>
          <a:xfrm>
            <a:off x="4414418" y="2249424"/>
            <a:ext cx="3362858" cy="3054096"/>
          </a:xfrm>
          <a:prstGeom prst="roundRect">
            <a:avLst>
              <a:gd name="adj" fmla="val 1796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70450" y="2414016"/>
            <a:ext cx="1463040" cy="237744"/>
          </a:xfrm>
          <a:prstGeom prst="roundRect">
            <a:avLst>
              <a:gd name="adj" fmla="val 50000"/>
            </a:avLst>
          </a:prstGeom>
          <a:solidFill>
            <a:srgbClr val="DC00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670450" y="24140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DFC E USAID</a:t>
            </a:r>
            <a:endParaRPr lang="en-US" sz="740" dirty="0"/>
          </a:p>
        </p:txBody>
      </p:sp>
      <p:sp>
        <p:nvSpPr>
          <p:cNvPr id="17" name="Text 14"/>
          <p:cNvSpPr txBox="1"/>
          <p:nvPr/>
        </p:nvSpPr>
        <p:spPr>
          <a:xfrm>
            <a:off x="4670450" y="2761488"/>
            <a:ext cx="28507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8,25 M US$</a:t>
            </a:r>
            <a:endParaRPr lang="en-US" sz="2700" dirty="0"/>
          </a:p>
        </p:txBody>
      </p:sp>
      <p:sp>
        <p:nvSpPr>
          <p:cNvPr id="18" name="Text 15"/>
          <p:cNvSpPr txBox="1"/>
          <p:nvPr/>
        </p:nvSpPr>
        <p:spPr>
          <a:xfrm>
            <a:off x="4670450" y="3291840"/>
            <a:ext cx="285079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2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Garantia parcial de carteira de crédito</a:t>
            </a:r>
            <a:endParaRPr lang="en-US" sz="1120" dirty="0"/>
          </a:p>
        </p:txBody>
      </p:sp>
      <p:sp>
        <p:nvSpPr>
          <p:cNvPr id="19" name="Text 16"/>
          <p:cNvSpPr txBox="1"/>
          <p:nvPr/>
        </p:nvSpPr>
        <p:spPr>
          <a:xfrm>
            <a:off x="4670450" y="3749040"/>
            <a:ext cx="285079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4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Acordo a dez anos com o Governo dos Estados Unidos, que mobiliza 16,5 milhões de dólares em crédito. Destina-se a 75 a 100 empresas agrícolas moçambicanas, das quais pelo menos 15% detidas por mulheres.</a:t>
            </a:r>
            <a:endParaRPr lang="en-US" sz="940" dirty="0"/>
          </a:p>
        </p:txBody>
      </p:sp>
      <p:sp>
        <p:nvSpPr>
          <p:cNvPr id="20" name="Text 17"/>
          <p:cNvSpPr txBox="1"/>
          <p:nvPr/>
        </p:nvSpPr>
        <p:spPr>
          <a:xfrm>
            <a:off x="4670450" y="4846320"/>
            <a:ext cx="285079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94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Partilha de risco de 50% · operação média próxima de 220 mil dólares</a:t>
            </a:r>
            <a:endParaRPr lang="en-US" sz="940" dirty="0"/>
          </a:p>
        </p:txBody>
      </p:sp>
      <p:sp>
        <p:nvSpPr>
          <p:cNvPr id="21" name="Shape 18"/>
          <p:cNvSpPr/>
          <p:nvPr/>
        </p:nvSpPr>
        <p:spPr>
          <a:xfrm>
            <a:off x="8143037" y="2249424"/>
            <a:ext cx="3362858" cy="3054096"/>
          </a:xfrm>
          <a:prstGeom prst="roundRect">
            <a:avLst>
              <a:gd name="adj" fmla="val 1796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399069" y="2414016"/>
            <a:ext cx="1463040" cy="237744"/>
          </a:xfrm>
          <a:prstGeom prst="roundRect">
            <a:avLst>
              <a:gd name="adj" fmla="val 50000"/>
            </a:avLst>
          </a:prstGeom>
          <a:solidFill>
            <a:srgbClr val="DC00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399069" y="24140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ICM</a:t>
            </a:r>
            <a:endParaRPr lang="en-US" sz="740" dirty="0"/>
          </a:p>
        </p:txBody>
      </p:sp>
      <p:sp>
        <p:nvSpPr>
          <p:cNvPr id="24" name="Text 21"/>
          <p:cNvSpPr txBox="1"/>
          <p:nvPr/>
        </p:nvSpPr>
        <p:spPr>
          <a:xfrm>
            <a:off x="8399069" y="2761488"/>
            <a:ext cx="28507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Protocolo</a:t>
            </a:r>
            <a:endParaRPr lang="en-US" sz="2700" dirty="0"/>
          </a:p>
        </p:txBody>
      </p:sp>
      <p:sp>
        <p:nvSpPr>
          <p:cNvPr id="25" name="Text 22"/>
          <p:cNvSpPr txBox="1"/>
          <p:nvPr/>
        </p:nvSpPr>
        <p:spPr>
          <a:xfrm>
            <a:off x="8399069" y="3291840"/>
            <a:ext cx="285079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2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Cooperação com o Instituto de Cereais de Moçambique</a:t>
            </a:r>
            <a:endParaRPr lang="en-US" sz="1120" dirty="0"/>
          </a:p>
        </p:txBody>
      </p:sp>
      <p:sp>
        <p:nvSpPr>
          <p:cNvPr id="26" name="Text 23"/>
          <p:cNvSpPr txBox="1"/>
          <p:nvPr/>
        </p:nvSpPr>
        <p:spPr>
          <a:xfrm>
            <a:off x="8399069" y="3749040"/>
            <a:ext cx="285079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4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Memorando de entendimento previsto para a FACIM de 2026, entre a Direcção de Banca Corporativa e de Investimento do Absa e a Direcção-Geral do Instituto, dirigido ao apoio a pequenos produtores e às operações de comércio externo.</a:t>
            </a:r>
            <a:endParaRPr lang="en-US" sz="940" dirty="0"/>
          </a:p>
        </p:txBody>
      </p:sp>
      <p:sp>
        <p:nvSpPr>
          <p:cNvPr id="27" name="Text 24"/>
          <p:cNvSpPr txBox="1"/>
          <p:nvPr/>
        </p:nvSpPr>
        <p:spPr>
          <a:xfrm>
            <a:off x="8399069" y="4846320"/>
            <a:ext cx="285079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94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Originação institucional de operações já qualificadas, em alternativa à prospecção directa</a:t>
            </a:r>
            <a:endParaRPr lang="en-US" sz="940" dirty="0"/>
          </a:p>
        </p:txBody>
      </p:sp>
      <p:sp>
        <p:nvSpPr>
          <p:cNvPr id="28" name="Shape 25"/>
          <p:cNvSpPr/>
          <p:nvPr/>
        </p:nvSpPr>
        <p:spPr>
          <a:xfrm>
            <a:off x="685800" y="5468112"/>
            <a:ext cx="10820095" cy="493776"/>
          </a:xfrm>
          <a:prstGeom prst="roundRect">
            <a:avLst>
              <a:gd name="adj" fmla="val 11111"/>
            </a:avLst>
          </a:prstGeom>
          <a:solidFill>
            <a:srgbClr val="3A3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014984" y="5468112"/>
            <a:ext cx="1016172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Preço concessional, partilha de risco e originação institucional: é esta combinação que permite deferir operações anteriormente inviáveis.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1892808" y="6291072"/>
            <a:ext cx="8808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494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Fontes: Banco de Moçambique · U.S. International Development Finance Corporation e USAID · Instituto de Cereais de Moçambique · Embaixada dos Estados Unidos em Maputo.</a:t>
            </a:r>
            <a:endParaRPr lang="en-US" sz="850" dirty="0"/>
          </a:p>
        </p:txBody>
      </p:sp>
    </p:spTree>
  </p:cSld>
  <p:clrMapOvr>
    <a:masterClrMapping/>
  </p:clrMapOvr>
  <p:transition spd="slow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3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9" dur="420" fill="hold"/>
                                        <p:tgtEl>
                                          <p:spTgt spid="10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52" presetID="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3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1" dur="420" fill="hold"/>
                                        <p:tgtEl>
                                          <p:spTgt spid="1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4" presetID="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3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" dur="420" fill="hold"/>
                                        <p:tgtEl>
                                          <p:spTgt spid="2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6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2" presetClass="entr" presetSubtype="0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46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46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46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023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 OFERTA DO BANCO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94944"/>
            <a:ext cx="7772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Do insumo agrícola ao pagamento final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6420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 matriz de produtos, agora sustentada pela linha FINOVA e pela garantia norte-americana em matéria de preço e de risco.</a:t>
            </a:r>
            <a:endParaRPr lang="en-US" sz="1300" dirty="0"/>
          </a:p>
        </p:txBody>
      </p:sp>
      <p:pic>
        <p:nvPicPr>
          <p:cNvPr id="5" name="Image 0" descr="/tmp/claude-0/-home-user-momo/176296df-944e-550c-879f-516f4be80ca0/scratchpad/unpacked/ppt/media/image1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705088" y="402336"/>
            <a:ext cx="2798064" cy="1572768"/>
          </a:xfrm>
          <a:prstGeom prst="rect">
            <a:avLst/>
          </a:prstGeom>
        </p:spPr>
      </p:pic>
      <p:pic>
        <p:nvPicPr>
          <p:cNvPr id="6" name="Image 1" descr="/tmp/claude-0/-home-user-momo/176296df-944e-550c-879f-516f4be80ca0/scratchpad/unpacked/ppt/media/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272784"/>
            <a:ext cx="1024128" cy="30175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957255" y="634593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94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31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685800" y="2249424"/>
            <a:ext cx="10820095" cy="384048"/>
          </a:xfrm>
          <a:prstGeom prst="rect">
            <a:avLst/>
          </a:prstGeom>
          <a:solidFill>
            <a:srgbClr val="3A3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68680" y="2249424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NECESSIDADE DO CLIENTE</a:t>
            </a:r>
            <a:endParaRPr lang="en-US" sz="950" dirty="0"/>
          </a:p>
        </p:txBody>
      </p:sp>
      <p:sp>
        <p:nvSpPr>
          <p:cNvPr id="10" name="Text 6"/>
          <p:cNvSpPr txBox="1"/>
          <p:nvPr/>
        </p:nvSpPr>
        <p:spPr>
          <a:xfrm>
            <a:off x="4114800" y="224942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SOLUÇÃO ABSA</a:t>
            </a:r>
            <a:endParaRPr lang="en-US" sz="950" dirty="0"/>
          </a:p>
        </p:txBody>
      </p:sp>
      <p:sp>
        <p:nvSpPr>
          <p:cNvPr id="11" name="Text 7"/>
          <p:cNvSpPr txBox="1"/>
          <p:nvPr/>
        </p:nvSpPr>
        <p:spPr>
          <a:xfrm>
            <a:off x="8595360" y="2249424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VALOR PARA O NEGÓCIO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85800" y="2633472"/>
            <a:ext cx="1082009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68680" y="2670048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Insumos sazonais e capital de exploração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4114800" y="2670048"/>
            <a:ext cx="4151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Crédito agrícola ajustado à tesouraria, descoberto autorizado e financiamento contra ordem de compra, com recurso à linha FINOVA sempre que elegível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8595360" y="2670048"/>
            <a:ext cx="2761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Financiamento disponível quando os custos precedem as vendas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85800" y="3255264"/>
            <a:ext cx="10820095" cy="621792"/>
          </a:xfrm>
          <a:prstGeom prst="rect">
            <a:avLst/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68680" y="329184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Equipamento e activos de eficiência climática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4114800" y="3291840"/>
            <a:ext cx="4151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Financiamento comercial de activos, financiamento verde e apoio à rega solar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8595360" y="3291840"/>
            <a:ext cx="2761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Maior produtividade e maior resiliência ao choque climático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85800" y="3877056"/>
            <a:ext cx="1082009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68680" y="3913632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Comércio, importação e exportação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4114800" y="3913632"/>
            <a:ext cx="4151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Financiamento ao comércio internacional, câmbio, contas multimoeda e transferências internacionais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8595360" y="3913632"/>
            <a:ext cx="2761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Liquidação de fluxos transfronteiriços com previsibilidade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685800" y="4498848"/>
            <a:ext cx="10820095" cy="621792"/>
          </a:xfrm>
          <a:prstGeom prst="rect">
            <a:avLst/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868680" y="4535424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Cobranças e pagamentos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4114800" y="4535424"/>
            <a:ext cx="4151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Absa Access, banca electrónica, aceitação móvel e banca de agente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8595360" y="4535424"/>
            <a:ext cx="2761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Menor circulação de numerário e reconciliação mais célere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685800" y="5120640"/>
            <a:ext cx="1082009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868680" y="5157216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Risco, aconselhamento e crescimento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4114800" y="5157216"/>
            <a:ext cx="4151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Seguro empresarial, especialistas sectoriais, garantias de parceiros e programas de acompanhamento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8595360" y="5157216"/>
            <a:ext cx="2761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Protecção da margem e melhor decisão no ciclo seguinte</a:t>
            </a:r>
            <a:endParaRPr lang="en-US" sz="1000" dirty="0"/>
          </a:p>
        </p:txBody>
      </p:sp>
      <p:sp>
        <p:nvSpPr>
          <p:cNvPr id="32" name="Text 28"/>
          <p:cNvSpPr txBox="1"/>
          <p:nvPr/>
        </p:nvSpPr>
        <p:spPr>
          <a:xfrm>
            <a:off x="1892808" y="6291072"/>
            <a:ext cx="8808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494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As facilidades de crédito encontram-se sujeitas a elegibilidade, avaliação de crédito, documentação e requisitos regulamentares.</a:t>
            </a:r>
            <a:endParaRPr lang="en-US" sz="850" dirty="0"/>
          </a:p>
        </p:txBody>
      </p:sp>
    </p:spTree>
  </p:cSld>
  <p:clrMapOvr>
    <a:masterClrMapping/>
  </p:clrMapOvr>
  <p:transition spd="slow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4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172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46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192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4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212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46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46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46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272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46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DC00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omo/176296df-944e-550c-879f-516f4be80ca0/scratchpad/unpacked/ppt/media/image5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75120" y="0"/>
            <a:ext cx="551657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rgbClr val="DC00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685800" y="786384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FFF1F3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PASSO SEGUINTE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133856"/>
            <a:ext cx="62179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Financiemos, em conjunto,</a:t>
            </a:r>
            <a:endParaRPr lang="en-US" sz="29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 próxima campanha</a:t>
            </a:r>
            <a:endParaRPr lang="en-US" sz="29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395728"/>
            <a:ext cx="6035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1F3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Uma sessão de trabalho converte o calendário agrícola do cliente num plano de financiamento, pagamentos e protecção de risco.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85800" y="3017520"/>
            <a:ext cx="2990088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68680" y="3200400"/>
            <a:ext cx="365760" cy="365760"/>
          </a:xfrm>
          <a:prstGeom prst="ellipse">
            <a:avLst/>
          </a:prstGeom>
          <a:solidFill>
            <a:srgbClr val="DC00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307592" y="3145536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Levantar o plano de campanha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307592" y="3621024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92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Cultura, insumos, mão de obra, colheita e calendário de compradores.</a:t>
            </a:r>
            <a:endParaRPr lang="en-US" sz="920" dirty="0"/>
          </a:p>
        </p:txBody>
      </p:sp>
      <p:sp>
        <p:nvSpPr>
          <p:cNvPr id="12" name="Shape 9"/>
          <p:cNvSpPr/>
          <p:nvPr/>
        </p:nvSpPr>
        <p:spPr>
          <a:xfrm>
            <a:off x="3913632" y="3017520"/>
            <a:ext cx="2990088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096512" y="3200400"/>
            <a:ext cx="365760" cy="365760"/>
          </a:xfrm>
          <a:prstGeom prst="ellipse">
            <a:avLst/>
          </a:prstGeom>
          <a:solidFill>
            <a:srgbClr val="DC00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096512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535424" y="3145536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Estruturar financiamento e pagamentos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535424" y="3621024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92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Capital de exploração, activos e canais digitais, com FINOVA sempre que elegível.</a:t>
            </a:r>
            <a:endParaRPr lang="en-US" sz="920" dirty="0"/>
          </a:p>
        </p:txBody>
      </p:sp>
      <p:sp>
        <p:nvSpPr>
          <p:cNvPr id="17" name="Shape 14"/>
          <p:cNvSpPr/>
          <p:nvPr/>
        </p:nvSpPr>
        <p:spPr>
          <a:xfrm>
            <a:off x="685800" y="4169664"/>
            <a:ext cx="2990088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68680" y="4352544"/>
            <a:ext cx="365760" cy="365760"/>
          </a:xfrm>
          <a:prstGeom prst="ellipse">
            <a:avLst/>
          </a:prstGeom>
          <a:solidFill>
            <a:srgbClr val="DC00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8680" y="4352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307592" y="429768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Articular as protecções de risco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307592" y="4773168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92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Seguro, garantias, parceiros de acompanhamento e aconselhamento técnico.</a:t>
            </a:r>
            <a:endParaRPr lang="en-US" sz="920" dirty="0"/>
          </a:p>
        </p:txBody>
      </p:sp>
      <p:sp>
        <p:nvSpPr>
          <p:cNvPr id="22" name="Shape 19"/>
          <p:cNvSpPr/>
          <p:nvPr/>
        </p:nvSpPr>
        <p:spPr>
          <a:xfrm>
            <a:off x="3913632" y="4169664"/>
            <a:ext cx="2990088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096512" y="4352544"/>
            <a:ext cx="365760" cy="365760"/>
          </a:xfrm>
          <a:prstGeom prst="ellipse">
            <a:avLst/>
          </a:prstGeom>
          <a:solidFill>
            <a:srgbClr val="DC00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096512" y="4352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4535424" y="429768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Avaliar, reinvestir e crescer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535424" y="4773168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92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Desempenho após a colheita e planeamento do ciclo seguinte.</a:t>
            </a:r>
            <a:endParaRPr lang="en-US" sz="920" dirty="0"/>
          </a:p>
        </p:txBody>
      </p:sp>
      <p:sp>
        <p:nvSpPr>
          <p:cNvPr id="27" name="Text 24"/>
          <p:cNvSpPr txBox="1"/>
          <p:nvPr/>
        </p:nvSpPr>
        <p:spPr>
          <a:xfrm>
            <a:off x="685800" y="5376672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Absa Bank Moçambique, S.A.  ·  Banca de Negócios e Banca Corporativa e de Investimento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685800" y="577900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1F3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Linha de cliente 1443  ·  +258 21 344 400  ·  linhacliente@absa.africa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685800" y="6071616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3B9C4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Sujeito a aprovação de crédito e às condições contratuais aplicáveis.</a:t>
            </a:r>
            <a:endParaRPr lang="en-US" sz="900" dirty="0"/>
          </a:p>
        </p:txBody>
      </p:sp>
      <p:pic>
        <p:nvPicPr>
          <p:cNvPr id="30" name="Image 1" descr="/tmp/claude-0/-home-user-momo/176296df-944e-550c-879f-516f4be80ca0/scratchpad/unpacked/ppt/media/image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5111" y="5998464"/>
            <a:ext cx="1700784" cy="493776"/>
          </a:xfrm>
          <a:prstGeom prst="rect">
            <a:avLst/>
          </a:prstGeom>
        </p:spPr>
      </p:pic>
    </p:spTree>
  </p:cSld>
  <p:clrMapOvr>
    <a:masterClrMapping/>
  </p:clrMapOvr>
  <p:transition spd="slow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2" presetClass="entr" presetSubtype="0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2" presetClass="entr" presetSubtype="0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2" presetClass="entr" presetSubtype="0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2" presetClass="entr" presetSubtype="0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2" presetClass="entr" presetSubtype="0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2" presetClass="entr" presetSubtype="0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02336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METODOLOGIA E ADVERTÊNCIAS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94944"/>
            <a:ext cx="1082009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3A3535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Fontes consultadas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64208"/>
            <a:ext cx="108200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 totalidade dos dados relativos a empresas e a mercado provém de fontes públicas, consultadas em 2026.</a:t>
            </a:r>
            <a:endParaRPr lang="en-US" sz="1300" dirty="0"/>
          </a:p>
        </p:txBody>
      </p:sp>
      <p:pic>
        <p:nvPicPr>
          <p:cNvPr id="5" name="Image 0" descr="/tmp/claude-0/-home-user-momo/176296df-944e-550c-879f-516f4be80ca0/scratchpad/unpacked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272784"/>
            <a:ext cx="1024128" cy="3017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57255" y="634593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94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85800" y="2249424"/>
            <a:ext cx="3362858" cy="2615184"/>
          </a:xfrm>
          <a:prstGeom prst="roundRect">
            <a:avLst>
              <a:gd name="adj" fmla="val 2098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941832" y="2432304"/>
            <a:ext cx="285079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Fontes oficiais e estatísticas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941832" y="2889504"/>
            <a:ext cx="285079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Banco de Moçambique: crédito por finalidade, Relatório de Inclusão Financeira de 2025 e projecto FINOVA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Instituto Nacional de Estatística e Ministério da Agricultura, Ambiente e Pescas: Inquérito Agrário Integrado de 2023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Instituto do Algodão e Oleaginosas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Instituto de Cereais de Moçambique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IGEPE e Autoridade Reguladora da Concorrência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414418" y="2249424"/>
            <a:ext cx="3362858" cy="2615184"/>
          </a:xfrm>
          <a:prstGeom prst="roundRect">
            <a:avLst>
              <a:gd name="adj" fmla="val 2098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670450" y="2432304"/>
            <a:ext cx="285079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Investigação e cooperação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4670450" y="2889504"/>
            <a:ext cx="285079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UNU-WIDER e Inclusive Growth in Mozambique: Desenvolvimento Agrário em Moçambique, 2025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Observatório do Meio Rural: Crédito Interno ao Sector Agrário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International Growth Centre e Ministério da Economia e Finanças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Banco Mundial: The Plantation Forestry Sector in Mozambique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U.S. International Development Finance Corporation, USAID e Feed the Future Inova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8143037" y="2249424"/>
            <a:ext cx="3362858" cy="2615184"/>
          </a:xfrm>
          <a:prstGeom prst="roundRect">
            <a:avLst>
              <a:gd name="adj" fmla="val 2098"/>
            </a:avLst>
          </a:prstGeom>
          <a:solidFill>
            <a:srgbClr val="F4F1F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399069" y="2432304"/>
            <a:ext cx="285079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DC003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Absa, imprensa e empresas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8399069" y="2889504"/>
            <a:ext cx="285079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Absa Group Limited, resultados de 2025 · Absa Corporate and Investment Banking · Absa AgriTrends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Agência de Informação de Moçambique · Club of Mozambique · Diário Económico · Integrity Magazine · Sugaronline · Rádio Moçambique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D5757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Sítios institucionais das empresas citadas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85800" y="5047488"/>
            <a:ext cx="10820095" cy="859536"/>
          </a:xfrm>
          <a:prstGeom prst="roundRect">
            <a:avLst>
              <a:gd name="adj" fmla="val 6383"/>
            </a:avLst>
          </a:prstGeom>
          <a:solidFill>
            <a:srgbClr val="3A3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78408" y="5047488"/>
            <a:ext cx="10234879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40" b="1" dirty="0">
                <a:solidFill>
                  <a:srgbClr val="FF8FA3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Advertência: </a:t>
            </a:r>
            <a:pPr indent="0" marL="0">
              <a:lnSpc>
                <a:spcPct val="118000"/>
              </a:lnSpc>
              <a:buNone/>
            </a:pPr>
            <a:r>
              <a:rPr lang="en-US" sz="940" dirty="0">
                <a:solidFill>
                  <a:srgbClr val="E4DEDE"/>
                </a:solidFill>
                <a:latin typeface="Brave Sans" pitchFamily="34" charset="0"/>
                <a:ea typeface="Brave Sans" pitchFamily="34" charset="-122"/>
                <a:cs typeface="Brave Sans" pitchFamily="34" charset="-120"/>
              </a:rPr>
              <a:t>As dimensões e volumes indicados reportam-se ao exercício mais recente publicado por cada fonte e podem divergir do desempenho corrente. As facilidades de crédito encontram-se sujeitas a elegibilidade, avaliação de crédito, documentação e requisitos regulamentares. O presente material destina-se a orientação comercial e não constitui aconselhamento de investimento nem recomendação relativa a qualquer das contrapartes identificadas.</a:t>
            </a:r>
            <a:endParaRPr lang="en-US" sz="940" dirty="0"/>
          </a:p>
        </p:txBody>
      </p:sp>
    </p:spTree>
  </p:cSld>
  <p:clrMapOvr>
    <a:masterClrMapping/>
  </p:clrMapOvr>
  <p:transition spd="slow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0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6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Absa Bank Moçambique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Proposta de Valor para o Agronegócio · Moçambique 2026</dc:title>
  <dc:subject>PptxGenJS Presentation</dc:subject>
  <dc:creator>Absa Bank Moçambique</dc:creator>
  <cp:lastModifiedBy>Absa Bank Moçambique</cp:lastModifiedBy>
  <cp:revision>1</cp:revision>
  <dcterms:created xsi:type="dcterms:W3CDTF">2026-09-08T11:53:46Z</dcterms:created>
  <dcterms:modified xsi:type="dcterms:W3CDTF">2026-09-08T11:53:46Z</dcterms:modified>
</cp:coreProperties>
</file>